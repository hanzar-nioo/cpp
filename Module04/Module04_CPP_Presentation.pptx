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71255" y="96012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1879" y="96012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12503" y="96012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33127" y="96012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53751" y="96012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4375" y="96012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94999" y="96012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71255" y="134416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1879" y="134416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12503" y="134416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33127" y="134416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53751" y="134416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74375" y="134416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94999" y="134416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71255" y="1728216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91879" y="1728216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12503" y="1728216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33127" y="1728216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53751" y="1728216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74375" y="1728216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194999" y="1728216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71255" y="21122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91879" y="21122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12503" y="21122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33127" y="21122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53751" y="21122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74375" y="21122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94999" y="21122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71255" y="24963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91879" y="24963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512503" y="24963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33127" y="24963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353751" y="24963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4375" y="24963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194999" y="24963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78847" y="4800600"/>
            <a:ext cx="768096" cy="384048"/>
          </a:xfrm>
          <a:prstGeom prst="roundRect">
            <a:avLst>
              <a:gd name="adj" fmla="val 18000"/>
            </a:avLst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10167" y="5669280"/>
            <a:ext cx="768096" cy="384048"/>
          </a:xfrm>
          <a:prstGeom prst="roundRect">
            <a:avLst>
              <a:gd name="adj" fmla="val 18000"/>
            </a:avLst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847527" y="5669280"/>
            <a:ext cx="768096" cy="384048"/>
          </a:xfrm>
          <a:prstGeom prst="roundRect">
            <a:avLst>
              <a:gd name="adj" fmla="val 18000"/>
            </a:avLst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200" i="0">
                <a:solidFill>
                  <a:srgbClr val="E8871A"/>
                </a:solidFill>
                <a:latin typeface="Segoe UI Semibold"/>
              </a:rPr>
              <a:t>42 SCHOOL  ·  C++ MODULE 04  ·  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1664208"/>
            <a:ext cx="7498079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4000" i="0">
                <a:solidFill>
                  <a:srgbClr val="FFFFFF"/>
                </a:solidFill>
                <a:latin typeface="Segoe UI Semibold"/>
              </a:rPr>
              <a:t>Subtype Polymorphism,</a:t>
            </a:r>
            <a:br/>
            <a:r>
              <a:rPr b="1" sz="4000" i="0">
                <a:solidFill>
                  <a:srgbClr val="FFFFFF"/>
                </a:solidFill>
                <a:latin typeface="Segoe UI Semibold"/>
              </a:rPr>
              <a:t>Abstract Classes</a:t>
            </a:r>
            <a:br/>
            <a:r>
              <a:rPr b="1" sz="4000" i="0">
                <a:solidFill>
                  <a:srgbClr val="FFFFFF"/>
                </a:solidFill>
                <a:latin typeface="Segoe UI Semibold"/>
              </a:rPr>
              <a:t>&amp; Interfaces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" y="3950208"/>
            <a:ext cx="1188720" cy="54864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41879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1500" i="0">
                <a:solidFill>
                  <a:srgbClr val="9FB3CC"/>
                </a:solidFill>
                <a:latin typeface="Consolas"/>
              </a:rPr>
              <a:t>Animal → Dog, Cat      AMateria → Ice, Cure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4736592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0" sz="1250" i="0">
                <a:solidFill>
                  <a:srgbClr val="768BA6"/>
                </a:solidFill>
                <a:latin typeface="Segoe UI"/>
              </a:rPr>
              <a:t>Step-by-step implementation, design decisions and runtime proof</a:t>
            </a:r>
            <a:br/>
            <a:r>
              <a:rPr b="0" sz="1250" i="0">
                <a:solidFill>
                  <a:srgbClr val="768BA6"/>
                </a:solidFill>
                <a:latin typeface="Segoe UI"/>
              </a:rPr>
              <a:t>of exercises ex00 – ex03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" y="5760720"/>
            <a:ext cx="5669280" cy="9525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5943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1100" i="0">
                <a:solidFill>
                  <a:srgbClr val="5E738C"/>
                </a:solidFill>
                <a:latin typeface="Segoe UI"/>
              </a:rPr>
              <a:t>Name: ____________     Promotion: ____________     Date: 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WHAT THIS PRESENTATION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99949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400" i="0">
                <a:solidFill>
                  <a:srgbClr val="1C2738"/>
                </a:solidFill>
                <a:latin typeface="Segoe UI"/>
              </a:rPr>
              <a:t>Part 1 — The subject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30324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What Module 04 asks, in one slide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15896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The two class hierarchies we are going to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01468"/>
            <a:ext cx="499949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400" i="0">
                <a:solidFill>
                  <a:srgbClr val="1C2738"/>
                </a:solidFill>
                <a:latin typeface="Segoe UI"/>
              </a:rPr>
              <a:t>Part 2 — The knowledge you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87040"/>
            <a:ext cx="4725171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Subtype polymorphism, virtual functions, dynamic binding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39312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Abstract classes, pure virtual functions, interfaces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24884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Ownership, the Rule of Three, deep vs. shallow copy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963" y="1444752"/>
            <a:ext cx="499949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400" i="0">
                <a:solidFill>
                  <a:srgbClr val="1C2738"/>
                </a:solidFill>
                <a:latin typeface="Segoe UI"/>
              </a:rPr>
              <a:t>Part 3 — Implementation, step by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9283" y="1830324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ex00 — Polymorphism: Animal, Dog, Cat, WrongCat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9283" y="2215896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ex01 — Brain: an owned resource and the deep copy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9283" y="2601468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ex02 — Abstract class: </a:t>
            </a:r>
            <a:r>
              <a:rPr b="0" sz="1316" i="0">
                <a:solidFill>
                  <a:srgbClr val="1F8A7A"/>
                </a:solidFill>
                <a:latin typeface="Consolas"/>
              </a:rPr>
              <a:t>makeSound()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9283" y="2987040"/>
            <a:ext cx="4725171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ex03 — Interface &amp; recap: Materia, Character, MateriaSource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963" y="3639312"/>
            <a:ext cx="499949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400" i="0">
                <a:solidFill>
                  <a:srgbClr val="1C2738"/>
                </a:solidFill>
                <a:latin typeface="Segoe UI"/>
              </a:rPr>
              <a:t>Part 4 — Proof and 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9283" y="4024884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Runtime output, norms, pitfalls, conclusion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074920"/>
            <a:ext cx="10637215" cy="91440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074920"/>
            <a:ext cx="50292" cy="91440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" y="5193792"/>
            <a:ext cx="102348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250" i="0">
                <a:solidFill>
                  <a:srgbClr val="1F8A7A"/>
                </a:solidFill>
                <a:latin typeface="Segoe UI Semibold"/>
              </a:rPr>
              <a:t>The one-sentence version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200" i="0">
                <a:solidFill>
                  <a:srgbClr val="1C2738"/>
                </a:solidFill>
                <a:latin typeface="Segoe UI"/>
              </a:rPr>
              <a:t>This module is about </a:t>
            </a:r>
            <a:r>
              <a:rPr b="1" sz="1200" i="0">
                <a:solidFill>
                  <a:srgbClr val="1C2738"/>
                </a:solidFill>
                <a:latin typeface="Segoe UI"/>
              </a:rPr>
              <a:t>behaving according to the real type of the object</a:t>
            </a:r>
            <a:r>
              <a:rPr b="0" sz="1200" i="0">
                <a:solidFill>
                  <a:srgbClr val="1C2738"/>
                </a:solidFill>
                <a:latin typeface="Segoe UI"/>
              </a:rPr>
              <a:t> even when we only know the base type (</a:t>
            </a:r>
            <a:r>
              <a:rPr b="1" sz="1200" i="0">
                <a:solidFill>
                  <a:srgbClr val="1C2738"/>
                </a:solidFill>
                <a:latin typeface="Segoe UI"/>
              </a:rPr>
              <a:t>subtype polymorphism</a:t>
            </a:r>
            <a:r>
              <a:rPr b="0" sz="1200" i="0">
                <a:solidFill>
                  <a:srgbClr val="1C2738"/>
                </a:solidFill>
                <a:latin typeface="Segoe UI"/>
              </a:rPr>
              <a:t>), and about writing </a:t>
            </a:r>
            <a:r>
              <a:rPr b="1" sz="1200" i="0">
                <a:solidFill>
                  <a:srgbClr val="1C2738"/>
                </a:solidFill>
                <a:latin typeface="Segoe UI"/>
              </a:rPr>
              <a:t>contracts</a:t>
            </a:r>
            <a:r>
              <a:rPr b="0" sz="1200" i="0">
                <a:solidFill>
                  <a:srgbClr val="1C2738"/>
                </a:solidFill>
                <a:latin typeface="Segoe UI"/>
              </a:rPr>
              <a:t> — abstract classes and interfaces — that the concrete classes must honour.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PART 1 · THE SUBJECT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The Module 04 subject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44752"/>
          <a:ext cx="10637214" cy="32186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76913"/>
                <a:gridCol w="1934039"/>
                <a:gridCol w="6382329"/>
                <a:gridCol w="1643933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FFFFFF"/>
                          </a:solidFill>
                          <a:latin typeface="Segoe UI Semibold"/>
                        </a:rPr>
                        <a:t>Ex.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FFFFFF"/>
                          </a:solidFill>
                          <a:latin typeface="Segoe UI Semibold"/>
                        </a:rPr>
                        <a:t>Subject name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FFFFFF"/>
                          </a:solidFill>
                          <a:latin typeface="Segoe UI Semibold"/>
                        </a:rPr>
                        <a:t>What it asks for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FFFFFF"/>
                          </a:solidFill>
                          <a:latin typeface="Segoe UI Semibold"/>
                        </a:rPr>
                        <a:t>New concept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ex00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Polymorphism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An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Animal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with a virtual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makeSound()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;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Dog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and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Cat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</a:t>
                      </a: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override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it;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WrongCat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does </a:t>
                      </a: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not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— and shows what happens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Subtype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polymorphism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ex01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I don't want to set the world on fire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A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Brain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(100 ideas) </a:t>
                      </a: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owned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by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Dog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and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Cat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with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new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; the copy ctor and the assignment must be </a:t>
                      </a: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deep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; an array of 10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Animal *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Ownership,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deep copy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ex02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Abstract class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Animal::makeSound()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becomes </a:t>
                      </a: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pure virtual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(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= 0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): the class cannot be instantiated anymore, everything else works the same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Abstract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class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ex03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Interface &amp; recap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AMateria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(abstract) +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Ice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/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Cure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; the interfaces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ICharacter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and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IMateriaSource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;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Character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(4 slots) and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MateriaSource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(a factory)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Interfaces,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polymorphic</a:t>
                      </a:r>
                    </a:p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copy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4828032"/>
            <a:ext cx="5159049" cy="1298448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828032"/>
            <a:ext cx="50292" cy="1298448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4946904"/>
            <a:ext cx="475671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1F8A7A"/>
                </a:solidFill>
                <a:latin typeface="Segoe UI Semibold"/>
              </a:rPr>
              <a:t>What the module title means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1" sz="1100" i="0">
                <a:solidFill>
                  <a:srgbClr val="1C2738"/>
                </a:solidFill>
                <a:latin typeface="Segoe UI"/>
              </a:rPr>
              <a:t>Subtype polymorphism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= a base-class pointer that may hold a derived object, and the call resolves on the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real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type.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Abstract class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= a class that cannot be instantiated.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Interface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= a class made only of pure virtual methods.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405" y="4828032"/>
            <a:ext cx="5159049" cy="1298448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5405" y="4828032"/>
            <a:ext cx="50292" cy="1298448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4861" y="4946904"/>
            <a:ext cx="475671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E8871A"/>
                </a:solidFill>
                <a:latin typeface="Segoe UI Semibold"/>
              </a:rPr>
              <a:t>Mandatory build flags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034" i="0">
                <a:solidFill>
                  <a:srgbClr val="1F8A7A"/>
                </a:solidFill>
                <a:latin typeface="Consolas"/>
              </a:rPr>
              <a:t>c++ -Wall -Wextra -Werror -std=c++98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— every warning is an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error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. C++98 means: no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nullptr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no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override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no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auto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no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unique_ptr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no range-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for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PART 1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The hierarchy of ex00 – ex02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160020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77440" y="1600200"/>
            <a:ext cx="2651760" cy="365760"/>
          </a:xfrm>
          <a:prstGeom prst="roundRect">
            <a:avLst>
              <a:gd name="adj" fmla="val 30000"/>
            </a:avLst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1783080"/>
            <a:ext cx="2651760" cy="18288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1600200"/>
            <a:ext cx="45720" cy="9144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168249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400" i="0">
                <a:solidFill>
                  <a:srgbClr val="FFFFFF"/>
                </a:solidFill>
                <a:latin typeface="Segoe UI Semibold"/>
              </a:rPr>
              <a:t>Animal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057400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950" i="0">
                <a:solidFill>
                  <a:srgbClr val="1C2738"/>
                </a:solidFill>
                <a:latin typeface="Consolas"/>
              </a:rPr>
              <a:t>std::string type;</a:t>
            </a:r>
          </a:p>
          <a:p>
            <a:pPr>
              <a:lnSpc>
                <a:spcPct val="114000"/>
              </a:lnSpc>
            </a:pPr>
            <a:r>
              <a:rPr b="0" sz="950" i="0">
                <a:solidFill>
                  <a:srgbClr val="1C2738"/>
                </a:solidFill>
                <a:latin typeface="Consolas"/>
              </a:rPr>
              <a:t>virtual void makeSound() const;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2103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2103120" cy="365760"/>
          </a:xfrm>
          <a:prstGeom prst="roundRect">
            <a:avLst>
              <a:gd name="adj" fmla="val 30000"/>
            </a:avLst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29000"/>
            <a:ext cx="2103120" cy="18288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246120"/>
            <a:ext cx="45720" cy="82296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32841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400" i="0">
                <a:solidFill>
                  <a:srgbClr val="FFFFFF"/>
                </a:solidFill>
                <a:latin typeface="Segoe UI Semibold"/>
              </a:rPr>
              <a:t>Dog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70332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950" i="0">
                <a:solidFill>
                  <a:srgbClr val="1C2738"/>
                </a:solidFill>
                <a:latin typeface="Consolas"/>
              </a:rPr>
              <a:t>void makeSound() const;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246120"/>
            <a:ext cx="21031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3246120"/>
            <a:ext cx="2103120" cy="365760"/>
          </a:xfrm>
          <a:prstGeom prst="roundRect">
            <a:avLst>
              <a:gd name="adj" fmla="val 30000"/>
            </a:avLst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3429000"/>
            <a:ext cx="2103120" cy="18288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246120"/>
            <a:ext cx="45720" cy="82296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6592" y="332841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400" i="0">
                <a:solidFill>
                  <a:srgbClr val="FFFFFF"/>
                </a:solidFill>
                <a:latin typeface="Segoe UI Semibold"/>
              </a:rPr>
              <a:t>Cat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6592" y="370332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950" i="0">
                <a:solidFill>
                  <a:srgbClr val="1C2738"/>
                </a:solidFill>
                <a:latin typeface="Consolas"/>
              </a:rPr>
              <a:t>void makeSound() const;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681728"/>
            <a:ext cx="21031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4681728"/>
            <a:ext cx="2103120" cy="365760"/>
          </a:xfrm>
          <a:prstGeom prst="roundRect">
            <a:avLst>
              <a:gd name="adj" fmla="val 30000"/>
            </a:avLst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864608"/>
            <a:ext cx="2103120" cy="182880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681728"/>
            <a:ext cx="45720" cy="77724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76402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400" i="0">
                <a:solidFill>
                  <a:srgbClr val="FFFFFF"/>
                </a:solidFill>
                <a:latin typeface="Segoe UI Semibold"/>
              </a:rPr>
              <a:t>WrongAnimal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138928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950" i="0">
                <a:solidFill>
                  <a:srgbClr val="1C2738"/>
                </a:solidFill>
                <a:latin typeface="Consolas"/>
              </a:rPr>
              <a:t>virtual void makeSound() const;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4681728"/>
            <a:ext cx="21031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0" y="4681728"/>
            <a:ext cx="2103120" cy="365760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0" y="4864608"/>
            <a:ext cx="2103120" cy="1828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4681728"/>
            <a:ext cx="45720" cy="77724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36592" y="476402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400" i="0">
                <a:solidFill>
                  <a:srgbClr val="FFFFFF"/>
                </a:solidFill>
                <a:latin typeface="Segoe UI Semibold"/>
              </a:rPr>
              <a:t>WrongCat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36592" y="5138928"/>
            <a:ext cx="18288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950" i="0">
                <a:solidFill>
                  <a:srgbClr val="1C2738"/>
                </a:solidFill>
                <a:latin typeface="Consolas"/>
              </a:rPr>
              <a:t>(no override!)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1783080" y="2514600"/>
            <a:ext cx="1280160" cy="731520"/>
          </a:xfrm>
          <a:prstGeom prst="line">
            <a:avLst/>
          </a:prstGeom>
          <a:ln w="19050">
            <a:solidFill>
              <a:srgbClr val="18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3615307">
            <a:off x="2892407" y="2468526"/>
            <a:ext cx="182880" cy="182880"/>
          </a:xfrm>
          <a:prstGeom prst="triangle">
            <a:avLst/>
          </a:prstGeom>
          <a:noFill/>
          <a:ln w="19050">
            <a:solidFill>
              <a:srgbClr val="18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H="1" flipV="1">
            <a:off x="4343400" y="2514600"/>
            <a:ext cx="1280160" cy="731520"/>
          </a:xfrm>
          <a:prstGeom prst="line">
            <a:avLst/>
          </a:prstGeom>
          <a:ln w="19050">
            <a:solidFill>
              <a:srgbClr val="18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17984693">
            <a:off x="4331352" y="2468526"/>
            <a:ext cx="182880" cy="182880"/>
          </a:xfrm>
          <a:prstGeom prst="triangle">
            <a:avLst/>
          </a:prstGeom>
          <a:noFill/>
          <a:ln w="19050">
            <a:solidFill>
              <a:srgbClr val="18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1783080" y="4069080"/>
            <a:ext cx="0" cy="612648"/>
          </a:xfrm>
          <a:prstGeom prst="line">
            <a:avLst/>
          </a:prstGeom>
          <a:ln w="19050">
            <a:solidFill>
              <a:srgbClr val="253D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>
            <a:off x="1691640" y="4069080"/>
            <a:ext cx="182880" cy="182880"/>
          </a:xfrm>
          <a:prstGeom prst="triangle">
            <a:avLst/>
          </a:prstGeom>
          <a:noFill/>
          <a:ln w="19050">
            <a:solidFill>
              <a:srgbClr val="253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5623560" y="4069080"/>
            <a:ext cx="0" cy="612648"/>
          </a:xfrm>
          <a:prstGeom prst="line">
            <a:avLst/>
          </a:prstGeom>
          <a:ln w="19050">
            <a:solidFill>
              <a:srgbClr val="253D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>
            <a:off x="5532120" y="4069080"/>
            <a:ext cx="182880" cy="182880"/>
          </a:xfrm>
          <a:prstGeom prst="triangle">
            <a:avLst/>
          </a:prstGeom>
          <a:noFill/>
          <a:ln w="19050">
            <a:solidFill>
              <a:srgbClr val="253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59612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red box is the point of ex00:</a:t>
            </a:r>
            <a:br/>
            <a:r>
              <a:rPr b="0" sz="1200" i="0">
                <a:solidFill>
                  <a:srgbClr val="5E6E84"/>
                </a:solidFill>
                <a:latin typeface="Segoe UI"/>
              </a:rPr>
              <a:t>not overriding is a silent bug.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7708" y="1444752"/>
            <a:ext cx="4786746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300" i="0">
                <a:solidFill>
                  <a:srgbClr val="1C2738"/>
                </a:solidFill>
                <a:latin typeface="Segoe UI"/>
              </a:rPr>
              <a:t>The exercise in one picture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2028" y="1802130"/>
            <a:ext cx="4512426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Animal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is the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base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: it owns the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type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and a virtual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makeSound()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2028" y="2407158"/>
            <a:ext cx="4512426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Dog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Cat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are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subtypes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: they override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makeSound()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2028" y="2764536"/>
            <a:ext cx="4512426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WrongCat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inherits from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WrongAnimal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and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forgets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to override → it produces the wrong sound.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2028" y="3369564"/>
            <a:ext cx="4512426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300" i="0">
                <a:solidFill>
                  <a:srgbClr val="5E6E84"/>
                </a:solidFill>
                <a:latin typeface="Segoe UI"/>
              </a:rPr>
              <a:t>That is why the subject asks for a *wrong* class: to make the default behaviour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visible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PART 2 · THE KNOWLEDGE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Concept 1 — Subtype polymorphism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786746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00" i="0">
                <a:solidFill>
                  <a:srgbClr val="1C2738"/>
                </a:solidFill>
                <a:latin typeface="Segoe UI"/>
              </a:rPr>
              <a:t>Subtype polymorphism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= a pointer or reference to a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base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class that may actually hold a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derived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object.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27860"/>
            <a:ext cx="451242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The call is resolved on the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real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type of the object, at run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01418"/>
            <a:ext cx="451242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The relation is *“is-a”*: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Dog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is-an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Animal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74976"/>
            <a:ext cx="478674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00" i="0">
                <a:solidFill>
                  <a:srgbClr val="1C2738"/>
                </a:solidFill>
                <a:latin typeface="Segoe UI"/>
              </a:rPr>
              <a:t>What it buys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48534"/>
            <a:ext cx="4512426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One piece of code can handle a family of objects: an array of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Animal *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works with dogs and cats alike.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31642"/>
            <a:ext cx="4512426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New subclasses can be added later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without touching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the code that uses the base — that is the *open/closed* principle.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14750"/>
            <a:ext cx="478674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00" i="0">
                <a:solidFill>
                  <a:srgbClr val="1C2738"/>
                </a:solidFill>
                <a:latin typeface="Segoe UI"/>
              </a:rPr>
              <a:t>The price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988308"/>
            <a:ext cx="4512426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The call becomes an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indirection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through the vtable → slightly slower.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71416"/>
            <a:ext cx="4512426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The base class must expose a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virtual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destructor, or the polymorphic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delete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leaks.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83103" y="1444752"/>
            <a:ext cx="5531351" cy="3263010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83103" y="1444752"/>
            <a:ext cx="553135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1119" y="1485900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one interface, many behaviours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0263" y="1874520"/>
            <a:ext cx="5257031" cy="26960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150" i="1">
                <a:solidFill>
                  <a:srgbClr val="62738A"/>
                </a:solidFill>
                <a:latin typeface="Consolas"/>
              </a:rPr>
              <a:t>//  one piece of code, any animal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82AAFF"/>
                </a:solidFill>
                <a:latin typeface="Consolas"/>
              </a:rPr>
              <a:t>Animal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*</a:t>
            </a:r>
            <a:r>
              <a:rPr sz="1150">
                <a:solidFill>
                  <a:srgbClr val="D6DEEA"/>
                </a:solidFill>
                <a:latin typeface="Consolas"/>
              </a:rPr>
              <a:t>animals</a:t>
            </a:r>
            <a:r>
              <a:rPr sz="1150">
                <a:solidFill>
                  <a:srgbClr val="D6DEEA"/>
                </a:solidFill>
                <a:latin typeface="Consolas"/>
              </a:rPr>
              <a:t>[</a:t>
            </a:r>
            <a:r>
              <a:rPr sz="1150">
                <a:solidFill>
                  <a:srgbClr val="F78C6C"/>
                </a:solidFill>
                <a:latin typeface="Consolas"/>
              </a:rPr>
              <a:t>10</a:t>
            </a:r>
            <a:r>
              <a:rPr sz="1150">
                <a:solidFill>
                  <a:srgbClr val="D6DEEA"/>
                </a:solidFill>
                <a:latin typeface="Consolas"/>
              </a:rPr>
              <a:t>]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for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C792EA"/>
                </a:solidFill>
                <a:latin typeface="Consolas"/>
              </a:rPr>
              <a:t>int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i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=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F78C6C"/>
                </a:solidFill>
                <a:latin typeface="Consolas"/>
              </a:rPr>
              <a:t>0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i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&lt;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F78C6C"/>
                </a:solidFill>
                <a:latin typeface="Consolas"/>
              </a:rPr>
              <a:t>10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i</a:t>
            </a:r>
            <a:r>
              <a:rPr sz="1150">
                <a:solidFill>
                  <a:srgbClr val="D6DEEA"/>
                </a:solidFill>
                <a:latin typeface="Consolas"/>
              </a:rPr>
              <a:t>+</a:t>
            </a:r>
            <a:r>
              <a:rPr sz="1150">
                <a:solidFill>
                  <a:srgbClr val="D6DEEA"/>
                </a:solidFill>
                <a:latin typeface="Consolas"/>
              </a:rPr>
              <a:t>+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D6DEEA"/>
                </a:solidFill>
                <a:latin typeface="Consolas"/>
              </a:rPr>
              <a:t>animals</a:t>
            </a:r>
            <a:r>
              <a:rPr sz="1150">
                <a:solidFill>
                  <a:srgbClr val="D6DEEA"/>
                </a:solidFill>
                <a:latin typeface="Consolas"/>
              </a:rPr>
              <a:t>[</a:t>
            </a:r>
            <a:r>
              <a:rPr sz="1150">
                <a:solidFill>
                  <a:srgbClr val="D6DEEA"/>
                </a:solidFill>
                <a:latin typeface="Consolas"/>
              </a:rPr>
              <a:t>i</a:t>
            </a:r>
            <a:r>
              <a:rPr sz="1150">
                <a:solidFill>
                  <a:srgbClr val="D6DEEA"/>
                </a:solidFill>
                <a:latin typeface="Consolas"/>
              </a:rPr>
              <a:t>]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=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D6DEEA"/>
                </a:solidFill>
                <a:latin typeface="Consolas"/>
              </a:rPr>
              <a:t>i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%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F78C6C"/>
                </a:solidFill>
                <a:latin typeface="Consolas"/>
              </a:rPr>
              <a:t>2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=</a:t>
            </a:r>
            <a:r>
              <a:rPr sz="1150">
                <a:solidFill>
                  <a:srgbClr val="D6DEEA"/>
                </a:solidFill>
                <a:latin typeface="Consolas"/>
              </a:rPr>
              <a:t>=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F78C6C"/>
                </a:solidFill>
                <a:latin typeface="Consolas"/>
              </a:rPr>
              <a:t>0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?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82AAFF"/>
                </a:solidFill>
                <a:latin typeface="Consolas"/>
              </a:rPr>
              <a:t>Animal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*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C792EA"/>
                </a:solidFill>
                <a:latin typeface="Consolas"/>
              </a:rPr>
              <a:t>new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Dog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                         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82AAFF"/>
                </a:solidFill>
                <a:latin typeface="Consolas"/>
              </a:rPr>
              <a:t>Animal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*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C792EA"/>
                </a:solidFill>
                <a:latin typeface="Consolas"/>
              </a:rPr>
              <a:t>new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Cat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for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C792EA"/>
                </a:solidFill>
                <a:latin typeface="Consolas"/>
              </a:rPr>
              <a:t>int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i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=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F78C6C"/>
                </a:solidFill>
                <a:latin typeface="Consolas"/>
              </a:rPr>
              <a:t>0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i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&lt;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F78C6C"/>
                </a:solidFill>
                <a:latin typeface="Consolas"/>
              </a:rPr>
              <a:t>10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i</a:t>
            </a:r>
            <a:r>
              <a:rPr sz="1150">
                <a:solidFill>
                  <a:srgbClr val="D6DEEA"/>
                </a:solidFill>
                <a:latin typeface="Consolas"/>
              </a:rPr>
              <a:t>+</a:t>
            </a:r>
            <a:r>
              <a:rPr sz="1150">
                <a:solidFill>
                  <a:srgbClr val="D6DEEA"/>
                </a:solidFill>
                <a:latin typeface="Consolas"/>
              </a:rPr>
              <a:t>+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the REAL type decides: "Woof woof!"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or "Meow meow!"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D6DEEA"/>
                </a:solidFill>
                <a:latin typeface="Consolas"/>
              </a:rPr>
              <a:t>animals</a:t>
            </a:r>
            <a:r>
              <a:rPr sz="1150">
                <a:solidFill>
                  <a:srgbClr val="D6DEEA"/>
                </a:solidFill>
                <a:latin typeface="Consolas"/>
              </a:rPr>
              <a:t>[</a:t>
            </a:r>
            <a:r>
              <a:rPr sz="1150">
                <a:solidFill>
                  <a:srgbClr val="D6DEEA"/>
                </a:solidFill>
                <a:latin typeface="Consolas"/>
              </a:rPr>
              <a:t>i</a:t>
            </a:r>
            <a:r>
              <a:rPr sz="1150">
                <a:solidFill>
                  <a:srgbClr val="D6DEEA"/>
                </a:solidFill>
                <a:latin typeface="Consolas"/>
              </a:rPr>
              <a:t>]</a:t>
            </a:r>
            <a:r>
              <a:rPr sz="1150">
                <a:solidFill>
                  <a:srgbClr val="D6DEEA"/>
                </a:solidFill>
                <a:latin typeface="Consolas"/>
              </a:rPr>
              <a:t>-</a:t>
            </a:r>
            <a:r>
              <a:rPr sz="1150">
                <a:solidFill>
                  <a:srgbClr val="D6DEEA"/>
                </a:solidFill>
                <a:latin typeface="Consolas"/>
              </a:rPr>
              <a:t>&gt;</a:t>
            </a:r>
            <a:r>
              <a:rPr sz="1150">
                <a:solidFill>
                  <a:srgbClr val="D6DEEA"/>
                </a:solidFill>
                <a:latin typeface="Consolas"/>
              </a:rPr>
              <a:t>makeSound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std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cout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&lt;</a:t>
            </a:r>
            <a:r>
              <a:rPr sz="1150">
                <a:solidFill>
                  <a:srgbClr val="D6DEEA"/>
                </a:solidFill>
                <a:latin typeface="Consolas"/>
              </a:rPr>
              <a:t>&lt;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animals</a:t>
            </a:r>
            <a:r>
              <a:rPr sz="1150">
                <a:solidFill>
                  <a:srgbClr val="D6DEEA"/>
                </a:solidFill>
                <a:latin typeface="Consolas"/>
              </a:rPr>
              <a:t>[</a:t>
            </a:r>
            <a:r>
              <a:rPr sz="1150">
                <a:solidFill>
                  <a:srgbClr val="D6DEEA"/>
                </a:solidFill>
                <a:latin typeface="Consolas"/>
              </a:rPr>
              <a:t>i</a:t>
            </a:r>
            <a:r>
              <a:rPr sz="1150">
                <a:solidFill>
                  <a:srgbClr val="D6DEEA"/>
                </a:solidFill>
                <a:latin typeface="Consolas"/>
              </a:rPr>
              <a:t>]</a:t>
            </a:r>
            <a:r>
              <a:rPr sz="1150">
                <a:solidFill>
                  <a:srgbClr val="D6DEEA"/>
                </a:solidFill>
                <a:latin typeface="Consolas"/>
              </a:rPr>
              <a:t>-</a:t>
            </a:r>
            <a:r>
              <a:rPr sz="1150">
                <a:solidFill>
                  <a:srgbClr val="D6DEEA"/>
                </a:solidFill>
                <a:latin typeface="Consolas"/>
              </a:rPr>
              <a:t>&gt;</a:t>
            </a:r>
            <a:r>
              <a:rPr sz="1150">
                <a:solidFill>
                  <a:srgbClr val="D6DEEA"/>
                </a:solidFill>
                <a:latin typeface="Consolas"/>
              </a:rPr>
              <a:t>getType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&lt;</a:t>
            </a:r>
            <a:r>
              <a:rPr sz="1150">
                <a:solidFill>
                  <a:srgbClr val="D6DEEA"/>
                </a:solidFill>
                <a:latin typeface="Consolas"/>
              </a:rPr>
              <a:t>&lt;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std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endl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230368"/>
            <a:ext cx="4786746" cy="868680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0368"/>
            <a:ext cx="50292" cy="86868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5349240"/>
            <a:ext cx="438441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E8871A"/>
                </a:solidFill>
                <a:latin typeface="Segoe UI Semibold"/>
              </a:rPr>
              <a:t>The key sentence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The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static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type of the pointer says *what* can be called; the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dynamic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type says *which* implementation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PART 2 · THE KNOWLEDGE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Concept 2 — Virtual functions &amp; dynamic binding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0" sz="1050" i="0">
                <a:solidFill>
                  <a:srgbClr val="1C2738"/>
                </a:solidFill>
                <a:latin typeface="Segoe UI"/>
              </a:rPr>
              <a:t>A </a:t>
            </a:r>
            <a:r>
              <a:rPr b="1" sz="1050" i="0">
                <a:solidFill>
                  <a:srgbClr val="1C2738"/>
                </a:solidFill>
                <a:latin typeface="Segoe UI"/>
              </a:rPr>
              <a:t>`virtual`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method can be </a:t>
            </a:r>
            <a:r>
              <a:rPr b="1" sz="1050" i="0">
                <a:solidFill>
                  <a:srgbClr val="1C2738"/>
                </a:solidFill>
                <a:latin typeface="Segoe UI"/>
              </a:rPr>
              <a:t>overridden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by a derived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08785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base declares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virtual void makeSound() const;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and the derived class redeclares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same signature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72843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Static binding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(compile time)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36876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Without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the function is chosen from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type of the pointer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→ the base version always runs.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0934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Dynamic binding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(run time)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64967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With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the function is chosen from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real type of the object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→ the derived version runs.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29025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Under the hood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93058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compiler adds a hidden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vtable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(virtual function table) and a pointer to it inside every object with virtual methods.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57116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The rule I must never forget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621149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050" i="0">
                <a:solidFill>
                  <a:srgbClr val="5E6E84"/>
                </a:solidFill>
                <a:latin typeface="Segoe UI"/>
              </a:rPr>
              <a:t>The destructor must be `virtual`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as soon as the class is used polymorphically, otherwise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delete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on a base pointer leaks.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83103" y="1444752"/>
            <a:ext cx="5531351" cy="4299965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83103" y="1444752"/>
            <a:ext cx="553135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1119" y="1485900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virtual in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0263" y="1874520"/>
            <a:ext cx="5257031" cy="37330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class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Animal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public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virtual -&gt; the derived classes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may replace this behaviour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virtual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void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makeSound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const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virtual -&gt; delete through an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Animal* destroys everything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virtual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~</a:t>
            </a:r>
            <a:r>
              <a:rPr sz="1150">
                <a:solidFill>
                  <a:srgbClr val="82AAFF"/>
                </a:solidFill>
                <a:latin typeface="Consolas"/>
              </a:rPr>
              <a:t>Animal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}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class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Dog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public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Animal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public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same signature -&gt; an OVERRIDE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virtual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void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makeSound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const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}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PART 2 · THE KNOWLEDGE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Concept 3 — Abstract classes &amp; pure virtual functions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0" sz="1050" i="0">
                <a:solidFill>
                  <a:srgbClr val="1C2738"/>
                </a:solidFill>
                <a:latin typeface="Segoe UI"/>
              </a:rPr>
              <a:t>A class that declares at least one </a:t>
            </a:r>
            <a:r>
              <a:rPr b="1" sz="1050" i="0">
                <a:solidFill>
                  <a:srgbClr val="1C2738"/>
                </a:solidFill>
                <a:latin typeface="Segoe UI"/>
              </a:rPr>
              <a:t>pure virtual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function is </a:t>
            </a:r>
            <a:r>
              <a:rPr b="1" sz="1050" i="0">
                <a:solidFill>
                  <a:srgbClr val="1C2738"/>
                </a:solidFill>
                <a:latin typeface="Segoe UI"/>
              </a:rPr>
              <a:t>abstract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08785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Syntax: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virtual void f() = 0;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— the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= 0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is the marker, *not* an initialisation.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72843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An abstract class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cannot be instantiated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: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Animal a;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is a compile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36876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It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can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be inherited, and used through a pointer or a reference.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00909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A pure virtual function has no 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64942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definition disappears from the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.cpp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— the class only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promises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the behaviour.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29000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compiler then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checks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that every concrete child implements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93033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Abstract class vs.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957066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An abstract class can have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data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and a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shared implementation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(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AMateria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has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type_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and a generic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use()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421124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An interface has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only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pure virtual methods — it is a pure contract (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ICharacter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83103" y="1444752"/>
            <a:ext cx="5531351" cy="4489322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83103" y="1444752"/>
            <a:ext cx="553135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1119" y="1485900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pure virtual vs. virtual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0263" y="1874520"/>
            <a:ext cx="5257031" cy="39223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750" i="1">
                <a:solidFill>
                  <a:srgbClr val="62738A"/>
                </a:solidFill>
                <a:latin typeface="Consolas"/>
              </a:rPr>
              <a:t>//  an ABSTRACT class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class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AMateria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public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virtual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~</a:t>
            </a:r>
            <a:r>
              <a:rPr sz="750">
                <a:solidFill>
                  <a:srgbClr val="82AAFF"/>
                </a:solidFill>
                <a:latin typeface="Consolas"/>
              </a:rPr>
              <a:t>AMateria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std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C792EA"/>
                </a:solidFill>
                <a:latin typeface="Consolas"/>
              </a:rPr>
              <a:t>string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const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&amp;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getType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const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 i="1">
                <a:solidFill>
                  <a:srgbClr val="62738A"/>
                </a:solidFill>
                <a:latin typeface="Consolas"/>
              </a:rPr>
              <a:t>//  pure virtual: no body, the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 i="1">
                <a:solidFill>
                  <a:srgbClr val="62738A"/>
                </a:solidFill>
                <a:latin typeface="Consolas"/>
              </a:rPr>
              <a:t>//  children MUST implement it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virtual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AMateria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*</a:t>
            </a:r>
            <a:r>
              <a:rPr sz="750">
                <a:solidFill>
                  <a:srgbClr val="D6DEEA"/>
                </a:solidFill>
                <a:latin typeface="Consolas"/>
              </a:rPr>
              <a:t>clone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const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=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F78C6C"/>
                </a:solidFill>
                <a:latin typeface="Consolas"/>
              </a:rPr>
              <a:t>0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 i="1">
                <a:solidFill>
                  <a:srgbClr val="62738A"/>
                </a:solidFill>
                <a:latin typeface="Consolas"/>
              </a:rPr>
              <a:t>//  a shared implementation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virtual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void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use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82AAFF"/>
                </a:solidFill>
                <a:latin typeface="Consolas"/>
              </a:rPr>
              <a:t>ICharacter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&amp;</a:t>
            </a:r>
            <a:r>
              <a:rPr sz="750">
                <a:solidFill>
                  <a:srgbClr val="D6DEEA"/>
                </a:solidFill>
                <a:latin typeface="Consolas"/>
              </a:rPr>
              <a:t>target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protected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std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C792EA"/>
                </a:solidFill>
                <a:latin typeface="Consolas"/>
              </a:rPr>
              <a:t>string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type_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}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 i="1">
                <a:solidFill>
                  <a:srgbClr val="62738A"/>
                </a:solidFill>
                <a:latin typeface="Consolas"/>
              </a:rPr>
              <a:t>//  AMateria a;   &lt;-- ERROR: cannot declare</a:t>
            </a:r>
          </a:p>
          <a:p>
            <a:pPr>
              <a:lnSpc>
                <a:spcPct val="118000"/>
              </a:lnSpc>
              <a:buNone/>
            </a:pPr>
            <a:r>
              <a:rPr sz="750" i="1">
                <a:solidFill>
                  <a:srgbClr val="62738A"/>
                </a:solidFill>
                <a:latin typeface="Consolas"/>
              </a:rPr>
              <a:t>//                   variable to be of abstract type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 i="1">
                <a:solidFill>
                  <a:srgbClr val="62738A"/>
                </a:solidFill>
                <a:latin typeface="Consolas"/>
              </a:rPr>
              <a:t>//  a CONCRETE class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class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Ice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public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AMateria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public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virtual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AMateria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*</a:t>
            </a:r>
            <a:r>
              <a:rPr sz="750">
                <a:solidFill>
                  <a:srgbClr val="D6DEEA"/>
                </a:solidFill>
                <a:latin typeface="Consolas"/>
              </a:rPr>
              <a:t>clone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const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  <a:r>
              <a:rPr sz="750">
                <a:solidFill>
                  <a:srgbClr val="D6DEEA"/>
                </a:solidFill>
                <a:latin typeface="Consolas"/>
              </a:rPr>
              <a:t>   </a:t>
            </a:r>
            <a:r>
              <a:rPr sz="750" i="1">
                <a:solidFill>
                  <a:srgbClr val="62738A"/>
                </a:solidFill>
                <a:latin typeface="Consolas"/>
              </a:rPr>
              <a:t>// implemented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virtual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void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use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82AAFF"/>
                </a:solidFill>
                <a:latin typeface="Consolas"/>
              </a:rPr>
              <a:t>ICharacter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&amp;</a:t>
            </a:r>
            <a:r>
              <a:rPr sz="750">
                <a:solidFill>
                  <a:srgbClr val="D6DEEA"/>
                </a:solidFill>
                <a:latin typeface="Consolas"/>
              </a:rPr>
              <a:t>target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}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PART 2 · THE KNOWLEDGE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Concept 4 — Interfaces: a class of pure promises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78674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0" sz="1100" i="0">
                <a:solidFill>
                  <a:srgbClr val="1C2738"/>
                </a:solidFill>
                <a:latin typeface="Segoe UI"/>
              </a:rPr>
              <a:t>An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interface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is a class whose methods are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all pure virtual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18310"/>
            <a:ext cx="451242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It has no data and no implementation — only a contract.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91868"/>
            <a:ext cx="451242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The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I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prefix is the 42 convention: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ICharacter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IMateriaSource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65426"/>
            <a:ext cx="478674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00" i="0">
                <a:solidFill>
                  <a:srgbClr val="1C2738"/>
                </a:solidFill>
                <a:latin typeface="Segoe UI"/>
              </a:rPr>
              <a:t>Why it is useful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38984"/>
            <a:ext cx="4512426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The client code depends on the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interface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, not on the implementation: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ICharacter *me = new Character("me");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22092"/>
            <a:ext cx="451242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A new implementation can be written without touching the client.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95650"/>
            <a:ext cx="478674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00" i="0">
                <a:solidFill>
                  <a:srgbClr val="1C2738"/>
                </a:solidFill>
                <a:latin typeface="Segoe UI"/>
              </a:rPr>
              <a:t>The destructor of an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569208"/>
            <a:ext cx="4512426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It is declared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but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defined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in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.cpp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file, because the 42 Norms forbid any implementation inside a header.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052316"/>
            <a:ext cx="451242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It must be virtual, otherwise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delete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through the interface leaks.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25874"/>
            <a:ext cx="478674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00" i="0">
                <a:solidFill>
                  <a:srgbClr val="1C2738"/>
                </a:solidFill>
                <a:latin typeface="Segoe UI"/>
              </a:rPr>
              <a:t>The forward declaration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599432"/>
            <a:ext cx="4512426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34" i="0">
                <a:solidFill>
                  <a:srgbClr val="1F8A7A"/>
                </a:solidFill>
                <a:latin typeface="Consolas"/>
              </a:rPr>
              <a:t>class AMateria;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— the interface only handles Materias through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pointers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, so the full definition is never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83103" y="1444752"/>
            <a:ext cx="5531351" cy="4507357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83103" y="1444752"/>
            <a:ext cx="553135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11119" y="1485900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the contract and its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0263" y="1874520"/>
            <a:ext cx="5257031" cy="39404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C792EA"/>
                </a:solidFill>
                <a:latin typeface="Consolas"/>
              </a:rPr>
              <a:t>class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82AAFF"/>
                </a:solidFill>
                <a:latin typeface="Consolas"/>
              </a:rPr>
              <a:t>AMateria</a:t>
            </a:r>
            <a:r>
              <a:rPr sz="950">
                <a:solidFill>
                  <a:srgbClr val="D6DEEA"/>
                </a:solidFill>
                <a:latin typeface="Consolas"/>
              </a:rPr>
              <a:t>;</a:t>
            </a:r>
            <a:r>
              <a:rPr sz="950">
                <a:solidFill>
                  <a:srgbClr val="D6DEEA"/>
                </a:solidFill>
                <a:latin typeface="Consolas"/>
              </a:rPr>
              <a:t>   </a:t>
            </a:r>
            <a:r>
              <a:rPr sz="950" i="1">
                <a:solidFill>
                  <a:srgbClr val="62738A"/>
                </a:solidFill>
                <a:latin typeface="Consolas"/>
              </a:rPr>
              <a:t>//  forward declaration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C792EA"/>
                </a:solidFill>
                <a:latin typeface="Consolas"/>
              </a:rPr>
              <a:t>class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82AAFF"/>
                </a:solidFill>
                <a:latin typeface="Consolas"/>
              </a:rPr>
              <a:t>ICharacter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C792EA"/>
                </a:solidFill>
                <a:latin typeface="Consolas"/>
              </a:rPr>
              <a:t>public</a:t>
            </a:r>
            <a:r>
              <a:rPr sz="9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	</a:t>
            </a:r>
            <a:r>
              <a:rPr sz="950" i="1">
                <a:solidFill>
                  <a:srgbClr val="62738A"/>
                </a:solidFill>
                <a:latin typeface="Consolas"/>
              </a:rPr>
              <a:t>//  defined in ICharacter.cpp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	</a:t>
            </a:r>
            <a:r>
              <a:rPr sz="950">
                <a:solidFill>
                  <a:srgbClr val="C792EA"/>
                </a:solidFill>
                <a:latin typeface="Consolas"/>
              </a:rPr>
              <a:t>virtual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~</a:t>
            </a:r>
            <a:r>
              <a:rPr sz="950">
                <a:solidFill>
                  <a:srgbClr val="82AAFF"/>
                </a:solidFill>
                <a:latin typeface="Consolas"/>
              </a:rPr>
              <a:t>ICharacter</a:t>
            </a:r>
            <a:r>
              <a:rPr sz="950">
                <a:solidFill>
                  <a:srgbClr val="D6DEEA"/>
                </a:solidFill>
                <a:latin typeface="Consolas"/>
              </a:rPr>
              <a:t>(</a:t>
            </a:r>
            <a:r>
              <a:rPr sz="950">
                <a:solidFill>
                  <a:srgbClr val="D6DEEA"/>
                </a:solidFill>
                <a:latin typeface="Consolas"/>
              </a:rPr>
              <a:t>)</a:t>
            </a:r>
            <a:r>
              <a:rPr sz="9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	</a:t>
            </a:r>
            <a:r>
              <a:rPr sz="950" i="1">
                <a:solidFill>
                  <a:srgbClr val="62738A"/>
                </a:solidFill>
                <a:latin typeface="Consolas"/>
              </a:rPr>
              <a:t>//  the contract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	</a:t>
            </a:r>
            <a:r>
              <a:rPr sz="950">
                <a:solidFill>
                  <a:srgbClr val="C792EA"/>
                </a:solidFill>
                <a:latin typeface="Consolas"/>
              </a:rPr>
              <a:t>virtual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C792EA"/>
                </a:solidFill>
                <a:latin typeface="Consolas"/>
              </a:rPr>
              <a:t>std</a:t>
            </a:r>
            <a:r>
              <a:rPr sz="950">
                <a:solidFill>
                  <a:srgbClr val="D6DEEA"/>
                </a:solidFill>
                <a:latin typeface="Consolas"/>
              </a:rPr>
              <a:t>:</a:t>
            </a:r>
            <a:r>
              <a:rPr sz="950">
                <a:solidFill>
                  <a:srgbClr val="D6DEEA"/>
                </a:solidFill>
                <a:latin typeface="Consolas"/>
              </a:rPr>
              <a:t>:</a:t>
            </a:r>
            <a:r>
              <a:rPr sz="950">
                <a:solidFill>
                  <a:srgbClr val="C792EA"/>
                </a:solidFill>
                <a:latin typeface="Consolas"/>
              </a:rPr>
              <a:t>string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C792EA"/>
                </a:solidFill>
                <a:latin typeface="Consolas"/>
              </a:rPr>
              <a:t>const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&amp;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getName</a:t>
            </a:r>
            <a:r>
              <a:rPr sz="950">
                <a:solidFill>
                  <a:srgbClr val="D6DEEA"/>
                </a:solidFill>
                <a:latin typeface="Consolas"/>
              </a:rPr>
              <a:t>(</a:t>
            </a:r>
            <a:r>
              <a:rPr sz="950">
                <a:solidFill>
                  <a:srgbClr val="D6DEEA"/>
                </a:solidFill>
                <a:latin typeface="Consolas"/>
              </a:rPr>
              <a:t>)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C792EA"/>
                </a:solidFill>
                <a:latin typeface="Consolas"/>
              </a:rPr>
              <a:t>const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=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F78C6C"/>
                </a:solidFill>
                <a:latin typeface="Consolas"/>
              </a:rPr>
              <a:t>0</a:t>
            </a:r>
            <a:r>
              <a:rPr sz="9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	</a:t>
            </a:r>
            <a:r>
              <a:rPr sz="950">
                <a:solidFill>
                  <a:srgbClr val="C792EA"/>
                </a:solidFill>
                <a:latin typeface="Consolas"/>
              </a:rPr>
              <a:t>virtual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C792EA"/>
                </a:solidFill>
                <a:latin typeface="Consolas"/>
              </a:rPr>
              <a:t>void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equip</a:t>
            </a:r>
            <a:r>
              <a:rPr sz="950">
                <a:solidFill>
                  <a:srgbClr val="D6DEEA"/>
                </a:solidFill>
                <a:latin typeface="Consolas"/>
              </a:rPr>
              <a:t>(</a:t>
            </a:r>
            <a:r>
              <a:rPr sz="950">
                <a:solidFill>
                  <a:srgbClr val="82AAFF"/>
                </a:solidFill>
                <a:latin typeface="Consolas"/>
              </a:rPr>
              <a:t>AMateria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*</a:t>
            </a:r>
            <a:r>
              <a:rPr sz="950">
                <a:solidFill>
                  <a:srgbClr val="D6DEEA"/>
                </a:solidFill>
                <a:latin typeface="Consolas"/>
              </a:rPr>
              <a:t>m</a:t>
            </a:r>
            <a:r>
              <a:rPr sz="950">
                <a:solidFill>
                  <a:srgbClr val="D6DEEA"/>
                </a:solidFill>
                <a:latin typeface="Consolas"/>
              </a:rPr>
              <a:t>)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=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F78C6C"/>
                </a:solidFill>
                <a:latin typeface="Consolas"/>
              </a:rPr>
              <a:t>0</a:t>
            </a:r>
            <a:r>
              <a:rPr sz="9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	</a:t>
            </a:r>
            <a:r>
              <a:rPr sz="950">
                <a:solidFill>
                  <a:srgbClr val="C792EA"/>
                </a:solidFill>
                <a:latin typeface="Consolas"/>
              </a:rPr>
              <a:t>virtual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C792EA"/>
                </a:solidFill>
                <a:latin typeface="Consolas"/>
              </a:rPr>
              <a:t>void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unequip</a:t>
            </a:r>
            <a:r>
              <a:rPr sz="950">
                <a:solidFill>
                  <a:srgbClr val="D6DEEA"/>
                </a:solidFill>
                <a:latin typeface="Consolas"/>
              </a:rPr>
              <a:t>(</a:t>
            </a:r>
            <a:r>
              <a:rPr sz="950">
                <a:solidFill>
                  <a:srgbClr val="C792EA"/>
                </a:solidFill>
                <a:latin typeface="Consolas"/>
              </a:rPr>
              <a:t>int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idx</a:t>
            </a:r>
            <a:r>
              <a:rPr sz="950">
                <a:solidFill>
                  <a:srgbClr val="D6DEEA"/>
                </a:solidFill>
                <a:latin typeface="Consolas"/>
              </a:rPr>
              <a:t>)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=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F78C6C"/>
                </a:solidFill>
                <a:latin typeface="Consolas"/>
              </a:rPr>
              <a:t>0</a:t>
            </a:r>
            <a:r>
              <a:rPr sz="9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	</a:t>
            </a:r>
            <a:r>
              <a:rPr sz="950">
                <a:solidFill>
                  <a:srgbClr val="C792EA"/>
                </a:solidFill>
                <a:latin typeface="Consolas"/>
              </a:rPr>
              <a:t>virtual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C792EA"/>
                </a:solidFill>
                <a:latin typeface="Consolas"/>
              </a:rPr>
              <a:t>void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use</a:t>
            </a:r>
            <a:r>
              <a:rPr sz="950">
                <a:solidFill>
                  <a:srgbClr val="D6DEEA"/>
                </a:solidFill>
                <a:latin typeface="Consolas"/>
              </a:rPr>
              <a:t>(</a:t>
            </a:r>
            <a:r>
              <a:rPr sz="950">
                <a:solidFill>
                  <a:srgbClr val="C792EA"/>
                </a:solidFill>
                <a:latin typeface="Consolas"/>
              </a:rPr>
              <a:t>int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idx</a:t>
            </a:r>
            <a:r>
              <a:rPr sz="950">
                <a:solidFill>
                  <a:srgbClr val="D6DEEA"/>
                </a:solidFill>
                <a:latin typeface="Consolas"/>
              </a:rPr>
              <a:t>,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82AAFF"/>
                </a:solidFill>
                <a:latin typeface="Consolas"/>
              </a:rPr>
              <a:t>ICharacter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&amp;</a:t>
            </a:r>
            <a:r>
              <a:rPr sz="950">
                <a:solidFill>
                  <a:srgbClr val="D6DEEA"/>
                </a:solidFill>
                <a:latin typeface="Consolas"/>
              </a:rPr>
              <a:t>target</a:t>
            </a:r>
            <a:r>
              <a:rPr sz="950">
                <a:solidFill>
                  <a:srgbClr val="D6DEEA"/>
                </a:solidFill>
                <a:latin typeface="Consolas"/>
              </a:rPr>
              <a:t>)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=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F78C6C"/>
                </a:solidFill>
                <a:latin typeface="Consolas"/>
              </a:rPr>
              <a:t>0</a:t>
            </a:r>
            <a:r>
              <a:rPr sz="9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}</a:t>
            </a:r>
            <a:r>
              <a:rPr sz="9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950" i="1">
                <a:solidFill>
                  <a:srgbClr val="62738A"/>
                </a:solidFill>
                <a:latin typeface="Consolas"/>
              </a:rPr>
              <a:t>//  the implementation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C792EA"/>
                </a:solidFill>
                <a:latin typeface="Consolas"/>
              </a:rPr>
              <a:t>class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82AAFF"/>
                </a:solidFill>
                <a:latin typeface="Consolas"/>
              </a:rPr>
              <a:t>Character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: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C792EA"/>
                </a:solidFill>
                <a:latin typeface="Consolas"/>
              </a:rPr>
              <a:t>public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82AAFF"/>
                </a:solidFill>
                <a:latin typeface="Consolas"/>
              </a:rPr>
              <a:t>ICharacter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C792EA"/>
                </a:solidFill>
                <a:latin typeface="Consolas"/>
              </a:rPr>
              <a:t>public</a:t>
            </a:r>
            <a:r>
              <a:rPr sz="9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	</a:t>
            </a:r>
            <a:r>
              <a:rPr sz="950">
                <a:solidFill>
                  <a:srgbClr val="C792EA"/>
                </a:solidFill>
                <a:latin typeface="Consolas"/>
              </a:rPr>
              <a:t>virtual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C792EA"/>
                </a:solidFill>
                <a:latin typeface="Consolas"/>
              </a:rPr>
              <a:t>std</a:t>
            </a:r>
            <a:r>
              <a:rPr sz="950">
                <a:solidFill>
                  <a:srgbClr val="D6DEEA"/>
                </a:solidFill>
                <a:latin typeface="Consolas"/>
              </a:rPr>
              <a:t>:</a:t>
            </a:r>
            <a:r>
              <a:rPr sz="950">
                <a:solidFill>
                  <a:srgbClr val="D6DEEA"/>
                </a:solidFill>
                <a:latin typeface="Consolas"/>
              </a:rPr>
              <a:t>:</a:t>
            </a:r>
            <a:r>
              <a:rPr sz="950">
                <a:solidFill>
                  <a:srgbClr val="C792EA"/>
                </a:solidFill>
                <a:latin typeface="Consolas"/>
              </a:rPr>
              <a:t>string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C792EA"/>
                </a:solidFill>
                <a:latin typeface="Consolas"/>
              </a:rPr>
              <a:t>const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&amp;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getName</a:t>
            </a:r>
            <a:r>
              <a:rPr sz="950">
                <a:solidFill>
                  <a:srgbClr val="D6DEEA"/>
                </a:solidFill>
                <a:latin typeface="Consolas"/>
              </a:rPr>
              <a:t>(</a:t>
            </a:r>
            <a:r>
              <a:rPr sz="950">
                <a:solidFill>
                  <a:srgbClr val="D6DEEA"/>
                </a:solidFill>
                <a:latin typeface="Consolas"/>
              </a:rPr>
              <a:t>)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C792EA"/>
                </a:solidFill>
                <a:latin typeface="Consolas"/>
              </a:rPr>
              <a:t>const</a:t>
            </a:r>
            <a:r>
              <a:rPr sz="9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	</a:t>
            </a:r>
            <a:r>
              <a:rPr sz="950">
                <a:solidFill>
                  <a:srgbClr val="C792EA"/>
                </a:solidFill>
                <a:latin typeface="Consolas"/>
              </a:rPr>
              <a:t>virtual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C792EA"/>
                </a:solidFill>
                <a:latin typeface="Consolas"/>
              </a:rPr>
              <a:t>void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equip</a:t>
            </a:r>
            <a:r>
              <a:rPr sz="950">
                <a:solidFill>
                  <a:srgbClr val="D6DEEA"/>
                </a:solidFill>
                <a:latin typeface="Consolas"/>
              </a:rPr>
              <a:t>(</a:t>
            </a:r>
            <a:r>
              <a:rPr sz="950">
                <a:solidFill>
                  <a:srgbClr val="82AAFF"/>
                </a:solidFill>
                <a:latin typeface="Consolas"/>
              </a:rPr>
              <a:t>AMateria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*</a:t>
            </a:r>
            <a:r>
              <a:rPr sz="950">
                <a:solidFill>
                  <a:srgbClr val="D6DEEA"/>
                </a:solidFill>
                <a:latin typeface="Consolas"/>
              </a:rPr>
              <a:t>m</a:t>
            </a:r>
            <a:r>
              <a:rPr sz="950">
                <a:solidFill>
                  <a:srgbClr val="D6DEEA"/>
                </a:solidFill>
                <a:latin typeface="Consolas"/>
              </a:rPr>
              <a:t>)</a:t>
            </a:r>
            <a:r>
              <a:rPr sz="9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	</a:t>
            </a:r>
            <a:r>
              <a:rPr sz="950" i="1">
                <a:solidFill>
                  <a:srgbClr val="62738A"/>
                </a:solidFill>
                <a:latin typeface="Consolas"/>
              </a:rPr>
              <a:t>//  ...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}</a:t>
            </a:r>
            <a:r>
              <a:rPr sz="950">
                <a:solidFill>
                  <a:srgbClr val="D6DEEA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PART 2 · THE KNOWLEDGE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Concept 5 — Ownership, deep copy &amp; the Rule of Three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78674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0" sz="1150" i="0">
                <a:solidFill>
                  <a:srgbClr val="1C2738"/>
                </a:solidFill>
                <a:latin typeface="Segoe UI"/>
              </a:rPr>
              <a:t>A class that </a:t>
            </a:r>
            <a:r>
              <a:rPr b="1" sz="1150" i="0">
                <a:solidFill>
                  <a:srgbClr val="1C2738"/>
                </a:solidFill>
                <a:latin typeface="Segoe UI"/>
              </a:rPr>
              <a:t>owns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a raw pointer must manage it in </a:t>
            </a:r>
            <a:r>
              <a:rPr b="1" sz="1150" i="0">
                <a:solidFill>
                  <a:srgbClr val="1C2738"/>
                </a:solidFill>
                <a:latin typeface="Segoe UI"/>
              </a:rPr>
              <a:t>three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places: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38807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destructor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—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delete brain;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32862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copy constructor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—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brain(new Brain(*other.brain));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26917"/>
            <a:ext cx="4512426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copy assignment operator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—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delete brain;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then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brain = new Brain(*other.brain);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40047"/>
            <a:ext cx="478674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Why a *deep* copy?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34102"/>
            <a:ext cx="4512426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A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shallow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copy copies the *pointer*: the two objects share the same data → it is deleted twice →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double free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47232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A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deep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copy copies the *data*: the two objects are independent.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41287"/>
            <a:ext cx="478674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The polymorphic 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35342"/>
            <a:ext cx="4512426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When the owned object is polymorphic, the base class cannot know how to copy it → the child provides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clone()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48472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That is the C++98 answer to *“give me a copy of myself”*.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83103" y="1444752"/>
            <a:ext cx="5531351" cy="4570475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83103" y="1444752"/>
            <a:ext cx="553135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1119" y="1485900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the copy semantics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0263" y="1874520"/>
            <a:ext cx="5257031" cy="40035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25" i="1">
                <a:solidFill>
                  <a:srgbClr val="62738A"/>
                </a:solidFill>
                <a:latin typeface="Consolas"/>
              </a:rPr>
              <a:t>//  deep copy: a NEW brain is created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82AAFF"/>
                </a:solidFill>
                <a:latin typeface="Consolas"/>
              </a:rPr>
              <a:t>Dog</a:t>
            </a:r>
            <a:r>
              <a:rPr sz="925">
                <a:solidFill>
                  <a:srgbClr val="D6DEEA"/>
                </a:solidFill>
                <a:latin typeface="Consolas"/>
              </a:rPr>
              <a:t>:</a:t>
            </a:r>
            <a:r>
              <a:rPr sz="925">
                <a:solidFill>
                  <a:srgbClr val="D6DEEA"/>
                </a:solidFill>
                <a:latin typeface="Consolas"/>
              </a:rPr>
              <a:t>:</a:t>
            </a:r>
            <a:r>
              <a:rPr sz="925">
                <a:solidFill>
                  <a:srgbClr val="82AAFF"/>
                </a:solidFill>
                <a:latin typeface="Consolas"/>
              </a:rPr>
              <a:t>Dog</a:t>
            </a:r>
            <a:r>
              <a:rPr sz="925">
                <a:solidFill>
                  <a:srgbClr val="D6DEEA"/>
                </a:solidFill>
                <a:latin typeface="Consolas"/>
              </a:rPr>
              <a:t>(</a:t>
            </a:r>
            <a:r>
              <a:rPr sz="925">
                <a:solidFill>
                  <a:srgbClr val="82AAFF"/>
                </a:solidFill>
                <a:latin typeface="Consolas"/>
              </a:rPr>
              <a:t>Dog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C792EA"/>
                </a:solidFill>
                <a:latin typeface="Consolas"/>
              </a:rPr>
              <a:t>const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D6DEEA"/>
                </a:solidFill>
                <a:latin typeface="Consolas"/>
              </a:rPr>
              <a:t>&amp;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D6DEEA"/>
                </a:solidFill>
                <a:latin typeface="Consolas"/>
              </a:rPr>
              <a:t>other</a:t>
            </a:r>
            <a:r>
              <a:rPr sz="92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	</a:t>
            </a:r>
            <a:r>
              <a:rPr sz="925">
                <a:solidFill>
                  <a:srgbClr val="D6DEEA"/>
                </a:solidFill>
                <a:latin typeface="Consolas"/>
              </a:rPr>
              <a:t>: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82AAFF"/>
                </a:solidFill>
                <a:latin typeface="Consolas"/>
              </a:rPr>
              <a:t>Animal</a:t>
            </a:r>
            <a:r>
              <a:rPr sz="925">
                <a:solidFill>
                  <a:srgbClr val="D6DEEA"/>
                </a:solidFill>
                <a:latin typeface="Consolas"/>
              </a:rPr>
              <a:t>(</a:t>
            </a:r>
            <a:r>
              <a:rPr sz="925">
                <a:solidFill>
                  <a:srgbClr val="D6DEEA"/>
                </a:solidFill>
                <a:latin typeface="Consolas"/>
              </a:rPr>
              <a:t>other</a:t>
            </a:r>
            <a:r>
              <a:rPr sz="925">
                <a:solidFill>
                  <a:srgbClr val="D6DEEA"/>
                </a:solidFill>
                <a:latin typeface="Consolas"/>
              </a:rPr>
              <a:t>)</a:t>
            </a:r>
            <a:r>
              <a:rPr sz="925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	  </a:t>
            </a:r>
            <a:r>
              <a:rPr sz="925">
                <a:solidFill>
                  <a:srgbClr val="D6DEEA"/>
                </a:solidFill>
                <a:latin typeface="Consolas"/>
              </a:rPr>
              <a:t>brain</a:t>
            </a:r>
            <a:r>
              <a:rPr sz="925">
                <a:solidFill>
                  <a:srgbClr val="D6DEEA"/>
                </a:solidFill>
                <a:latin typeface="Consolas"/>
              </a:rPr>
              <a:t>(</a:t>
            </a:r>
            <a:r>
              <a:rPr sz="925">
                <a:solidFill>
                  <a:srgbClr val="C792EA"/>
                </a:solidFill>
                <a:latin typeface="Consolas"/>
              </a:rPr>
              <a:t>new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82AAFF"/>
                </a:solidFill>
                <a:latin typeface="Consolas"/>
              </a:rPr>
              <a:t>Brain</a:t>
            </a:r>
            <a:r>
              <a:rPr sz="925">
                <a:solidFill>
                  <a:srgbClr val="D6DEEA"/>
                </a:solidFill>
                <a:latin typeface="Consolas"/>
              </a:rPr>
              <a:t>(</a:t>
            </a:r>
            <a:r>
              <a:rPr sz="925">
                <a:solidFill>
                  <a:srgbClr val="D6DEEA"/>
                </a:solidFill>
                <a:latin typeface="Consolas"/>
              </a:rPr>
              <a:t>*</a:t>
            </a:r>
            <a:r>
              <a:rPr sz="925">
                <a:solidFill>
                  <a:srgbClr val="D6DEEA"/>
                </a:solidFill>
                <a:latin typeface="Consolas"/>
              </a:rPr>
              <a:t>other</a:t>
            </a:r>
            <a:r>
              <a:rPr sz="925">
                <a:solidFill>
                  <a:srgbClr val="D6DEEA"/>
                </a:solidFill>
                <a:latin typeface="Consolas"/>
              </a:rPr>
              <a:t>.</a:t>
            </a:r>
            <a:r>
              <a:rPr sz="925">
                <a:solidFill>
                  <a:srgbClr val="D6DEEA"/>
                </a:solidFill>
                <a:latin typeface="Consolas"/>
              </a:rPr>
              <a:t>brain</a:t>
            </a:r>
            <a:r>
              <a:rPr sz="925">
                <a:solidFill>
                  <a:srgbClr val="D6DEEA"/>
                </a:solidFill>
                <a:latin typeface="Consolas"/>
              </a:rPr>
              <a:t>)</a:t>
            </a:r>
            <a:r>
              <a:rPr sz="92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925" i="1">
                <a:solidFill>
                  <a:srgbClr val="62738A"/>
                </a:solidFill>
                <a:latin typeface="Consolas"/>
              </a:rPr>
              <a:t>//  assignment: the old brain is deleted first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82AAFF"/>
                </a:solidFill>
                <a:latin typeface="Consolas"/>
              </a:rPr>
              <a:t>Dog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D6DEEA"/>
                </a:solidFill>
                <a:latin typeface="Consolas"/>
              </a:rPr>
              <a:t>&amp;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82AAFF"/>
                </a:solidFill>
                <a:latin typeface="Consolas"/>
              </a:rPr>
              <a:t>Dog</a:t>
            </a:r>
            <a:r>
              <a:rPr sz="925">
                <a:solidFill>
                  <a:srgbClr val="D6DEEA"/>
                </a:solidFill>
                <a:latin typeface="Consolas"/>
              </a:rPr>
              <a:t>:</a:t>
            </a:r>
            <a:r>
              <a:rPr sz="925">
                <a:solidFill>
                  <a:srgbClr val="D6DEEA"/>
                </a:solidFill>
                <a:latin typeface="Consolas"/>
              </a:rPr>
              <a:t>:</a:t>
            </a:r>
            <a:r>
              <a:rPr sz="925">
                <a:solidFill>
                  <a:srgbClr val="C792EA"/>
                </a:solidFill>
                <a:latin typeface="Consolas"/>
              </a:rPr>
              <a:t>operator</a:t>
            </a:r>
            <a:r>
              <a:rPr sz="925">
                <a:solidFill>
                  <a:srgbClr val="D6DEEA"/>
                </a:solidFill>
                <a:latin typeface="Consolas"/>
              </a:rPr>
              <a:t>=</a:t>
            </a:r>
            <a:r>
              <a:rPr sz="925">
                <a:solidFill>
                  <a:srgbClr val="D6DEEA"/>
                </a:solidFill>
                <a:latin typeface="Consolas"/>
              </a:rPr>
              <a:t>(</a:t>
            </a:r>
            <a:r>
              <a:rPr sz="925">
                <a:solidFill>
                  <a:srgbClr val="82AAFF"/>
                </a:solidFill>
                <a:latin typeface="Consolas"/>
              </a:rPr>
              <a:t>Dog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C792EA"/>
                </a:solidFill>
                <a:latin typeface="Consolas"/>
              </a:rPr>
              <a:t>const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D6DEEA"/>
                </a:solidFill>
                <a:latin typeface="Consolas"/>
              </a:rPr>
              <a:t>&amp;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D6DEEA"/>
                </a:solidFill>
                <a:latin typeface="Consolas"/>
              </a:rPr>
              <a:t>other</a:t>
            </a:r>
            <a:r>
              <a:rPr sz="92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	</a:t>
            </a:r>
            <a:r>
              <a:rPr sz="925">
                <a:solidFill>
                  <a:srgbClr val="C792EA"/>
                </a:solidFill>
                <a:latin typeface="Consolas"/>
              </a:rPr>
              <a:t>if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D6DEEA"/>
                </a:solidFill>
                <a:latin typeface="Consolas"/>
              </a:rPr>
              <a:t>(</a:t>
            </a:r>
            <a:r>
              <a:rPr sz="925">
                <a:solidFill>
                  <a:srgbClr val="C792EA"/>
                </a:solidFill>
                <a:latin typeface="Consolas"/>
              </a:rPr>
              <a:t>this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D6DEEA"/>
                </a:solidFill>
                <a:latin typeface="Consolas"/>
              </a:rPr>
              <a:t>!</a:t>
            </a:r>
            <a:r>
              <a:rPr sz="925">
                <a:solidFill>
                  <a:srgbClr val="D6DEEA"/>
                </a:solidFill>
                <a:latin typeface="Consolas"/>
              </a:rPr>
              <a:t>=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D6DEEA"/>
                </a:solidFill>
                <a:latin typeface="Consolas"/>
              </a:rPr>
              <a:t>&amp;</a:t>
            </a:r>
            <a:r>
              <a:rPr sz="925">
                <a:solidFill>
                  <a:srgbClr val="D6DEEA"/>
                </a:solidFill>
                <a:latin typeface="Consolas"/>
              </a:rPr>
              <a:t>other</a:t>
            </a:r>
            <a:r>
              <a:rPr sz="92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	</a:t>
            </a:r>
            <a:r>
              <a:rPr sz="925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		</a:t>
            </a:r>
            <a:r>
              <a:rPr sz="925">
                <a:solidFill>
                  <a:srgbClr val="82AAFF"/>
                </a:solidFill>
                <a:latin typeface="Consolas"/>
              </a:rPr>
              <a:t>Animal</a:t>
            </a:r>
            <a:r>
              <a:rPr sz="925">
                <a:solidFill>
                  <a:srgbClr val="D6DEEA"/>
                </a:solidFill>
                <a:latin typeface="Consolas"/>
              </a:rPr>
              <a:t>:</a:t>
            </a:r>
            <a:r>
              <a:rPr sz="925">
                <a:solidFill>
                  <a:srgbClr val="D6DEEA"/>
                </a:solidFill>
                <a:latin typeface="Consolas"/>
              </a:rPr>
              <a:t>:</a:t>
            </a:r>
            <a:r>
              <a:rPr sz="925">
                <a:solidFill>
                  <a:srgbClr val="C792EA"/>
                </a:solidFill>
                <a:latin typeface="Consolas"/>
              </a:rPr>
              <a:t>operator</a:t>
            </a:r>
            <a:r>
              <a:rPr sz="925">
                <a:solidFill>
                  <a:srgbClr val="D6DEEA"/>
                </a:solidFill>
                <a:latin typeface="Consolas"/>
              </a:rPr>
              <a:t>=</a:t>
            </a:r>
            <a:r>
              <a:rPr sz="925">
                <a:solidFill>
                  <a:srgbClr val="D6DEEA"/>
                </a:solidFill>
                <a:latin typeface="Consolas"/>
              </a:rPr>
              <a:t>(</a:t>
            </a:r>
            <a:r>
              <a:rPr sz="925">
                <a:solidFill>
                  <a:srgbClr val="D6DEEA"/>
                </a:solidFill>
                <a:latin typeface="Consolas"/>
              </a:rPr>
              <a:t>other</a:t>
            </a:r>
            <a:r>
              <a:rPr sz="925">
                <a:solidFill>
                  <a:srgbClr val="D6DEEA"/>
                </a:solidFill>
                <a:latin typeface="Consolas"/>
              </a:rPr>
              <a:t>)</a:t>
            </a:r>
            <a:r>
              <a:rPr sz="92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		</a:t>
            </a:r>
            <a:r>
              <a:rPr sz="925">
                <a:solidFill>
                  <a:srgbClr val="C792EA"/>
                </a:solidFill>
                <a:latin typeface="Consolas"/>
              </a:rPr>
              <a:t>delete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D6DEEA"/>
                </a:solidFill>
                <a:latin typeface="Consolas"/>
              </a:rPr>
              <a:t>brain</a:t>
            </a:r>
            <a:r>
              <a:rPr sz="92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		</a:t>
            </a:r>
            <a:r>
              <a:rPr sz="925">
                <a:solidFill>
                  <a:srgbClr val="D6DEEA"/>
                </a:solidFill>
                <a:latin typeface="Consolas"/>
              </a:rPr>
              <a:t>brain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D6DEEA"/>
                </a:solidFill>
                <a:latin typeface="Consolas"/>
              </a:rPr>
              <a:t>=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C792EA"/>
                </a:solidFill>
                <a:latin typeface="Consolas"/>
              </a:rPr>
              <a:t>new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82AAFF"/>
                </a:solidFill>
                <a:latin typeface="Consolas"/>
              </a:rPr>
              <a:t>Brain</a:t>
            </a:r>
            <a:r>
              <a:rPr sz="925">
                <a:solidFill>
                  <a:srgbClr val="D6DEEA"/>
                </a:solidFill>
                <a:latin typeface="Consolas"/>
              </a:rPr>
              <a:t>(</a:t>
            </a:r>
            <a:r>
              <a:rPr sz="925">
                <a:solidFill>
                  <a:srgbClr val="D6DEEA"/>
                </a:solidFill>
                <a:latin typeface="Consolas"/>
              </a:rPr>
              <a:t>*</a:t>
            </a:r>
            <a:r>
              <a:rPr sz="925">
                <a:solidFill>
                  <a:srgbClr val="D6DEEA"/>
                </a:solidFill>
                <a:latin typeface="Consolas"/>
              </a:rPr>
              <a:t>other</a:t>
            </a:r>
            <a:r>
              <a:rPr sz="925">
                <a:solidFill>
                  <a:srgbClr val="D6DEEA"/>
                </a:solidFill>
                <a:latin typeface="Consolas"/>
              </a:rPr>
              <a:t>.</a:t>
            </a:r>
            <a:r>
              <a:rPr sz="925">
                <a:solidFill>
                  <a:srgbClr val="D6DEEA"/>
                </a:solidFill>
                <a:latin typeface="Consolas"/>
              </a:rPr>
              <a:t>brain</a:t>
            </a:r>
            <a:r>
              <a:rPr sz="925">
                <a:solidFill>
                  <a:srgbClr val="D6DEEA"/>
                </a:solidFill>
                <a:latin typeface="Consolas"/>
              </a:rPr>
              <a:t>)</a:t>
            </a:r>
            <a:r>
              <a:rPr sz="92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	</a:t>
            </a:r>
            <a:r>
              <a:rPr sz="925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	</a:t>
            </a:r>
            <a:r>
              <a:rPr sz="925">
                <a:solidFill>
                  <a:srgbClr val="C792EA"/>
                </a:solidFill>
                <a:latin typeface="Consolas"/>
              </a:rPr>
              <a:t>return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D6DEEA"/>
                </a:solidFill>
                <a:latin typeface="Consolas"/>
              </a:rPr>
              <a:t>(</a:t>
            </a:r>
            <a:r>
              <a:rPr sz="925">
                <a:solidFill>
                  <a:srgbClr val="D6DEEA"/>
                </a:solidFill>
                <a:latin typeface="Consolas"/>
              </a:rPr>
              <a:t>*</a:t>
            </a:r>
            <a:r>
              <a:rPr sz="925">
                <a:solidFill>
                  <a:srgbClr val="C792EA"/>
                </a:solidFill>
                <a:latin typeface="Consolas"/>
              </a:rPr>
              <a:t>this</a:t>
            </a:r>
            <a:r>
              <a:rPr sz="925">
                <a:solidFill>
                  <a:srgbClr val="D6DEEA"/>
                </a:solidFill>
                <a:latin typeface="Consolas"/>
              </a:rPr>
              <a:t>)</a:t>
            </a:r>
            <a:r>
              <a:rPr sz="92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925" i="1">
                <a:solidFill>
                  <a:srgbClr val="62738A"/>
                </a:solidFill>
                <a:latin typeface="Consolas"/>
              </a:rPr>
              <a:t>//  the polymorphic copy constructor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82AAFF"/>
                </a:solidFill>
                <a:latin typeface="Consolas"/>
              </a:rPr>
              <a:t>AMateria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D6DEEA"/>
                </a:solidFill>
                <a:latin typeface="Consolas"/>
              </a:rPr>
              <a:t>*</a:t>
            </a:r>
            <a:r>
              <a:rPr sz="925">
                <a:solidFill>
                  <a:srgbClr val="82AAFF"/>
                </a:solidFill>
                <a:latin typeface="Consolas"/>
              </a:rPr>
              <a:t>Ice</a:t>
            </a:r>
            <a:r>
              <a:rPr sz="925">
                <a:solidFill>
                  <a:srgbClr val="D6DEEA"/>
                </a:solidFill>
                <a:latin typeface="Consolas"/>
              </a:rPr>
              <a:t>:</a:t>
            </a:r>
            <a:r>
              <a:rPr sz="925">
                <a:solidFill>
                  <a:srgbClr val="D6DEEA"/>
                </a:solidFill>
                <a:latin typeface="Consolas"/>
              </a:rPr>
              <a:t>:</a:t>
            </a:r>
            <a:r>
              <a:rPr sz="925">
                <a:solidFill>
                  <a:srgbClr val="D6DEEA"/>
                </a:solidFill>
                <a:latin typeface="Consolas"/>
              </a:rPr>
              <a:t>clone</a:t>
            </a:r>
            <a:r>
              <a:rPr sz="925">
                <a:solidFill>
                  <a:srgbClr val="D6DEEA"/>
                </a:solidFill>
                <a:latin typeface="Consolas"/>
              </a:rPr>
              <a:t>(</a:t>
            </a:r>
            <a:r>
              <a:rPr sz="925">
                <a:solidFill>
                  <a:srgbClr val="D6DEEA"/>
                </a:solidFill>
                <a:latin typeface="Consolas"/>
              </a:rPr>
              <a:t>)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C792EA"/>
                </a:solidFill>
                <a:latin typeface="Consolas"/>
              </a:rPr>
              <a:t>const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	</a:t>
            </a:r>
            <a:r>
              <a:rPr sz="925">
                <a:solidFill>
                  <a:srgbClr val="C792EA"/>
                </a:solidFill>
                <a:latin typeface="Consolas"/>
              </a:rPr>
              <a:t>return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D6DEEA"/>
                </a:solidFill>
                <a:latin typeface="Consolas"/>
              </a:rPr>
              <a:t>(</a:t>
            </a:r>
            <a:r>
              <a:rPr sz="925">
                <a:solidFill>
                  <a:srgbClr val="C792EA"/>
                </a:solidFill>
                <a:latin typeface="Consolas"/>
              </a:rPr>
              <a:t>new</a:t>
            </a:r>
            <a:r>
              <a:rPr sz="925">
                <a:solidFill>
                  <a:srgbClr val="D6DEEA"/>
                </a:solidFill>
                <a:latin typeface="Consolas"/>
              </a:rPr>
              <a:t> </a:t>
            </a:r>
            <a:r>
              <a:rPr sz="925">
                <a:solidFill>
                  <a:srgbClr val="82AAFF"/>
                </a:solidFill>
                <a:latin typeface="Consolas"/>
              </a:rPr>
              <a:t>Ice</a:t>
            </a:r>
            <a:r>
              <a:rPr sz="925">
                <a:solidFill>
                  <a:srgbClr val="D6DEEA"/>
                </a:solidFill>
                <a:latin typeface="Consolas"/>
              </a:rPr>
              <a:t>(</a:t>
            </a:r>
            <a:r>
              <a:rPr sz="925">
                <a:solidFill>
                  <a:srgbClr val="D6DEEA"/>
                </a:solidFill>
                <a:latin typeface="Consolas"/>
              </a:rPr>
              <a:t>)</a:t>
            </a:r>
            <a:r>
              <a:rPr sz="925">
                <a:solidFill>
                  <a:srgbClr val="D6DEEA"/>
                </a:solidFill>
                <a:latin typeface="Consolas"/>
              </a:rPr>
              <a:t>)</a:t>
            </a:r>
            <a:r>
              <a:rPr sz="92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25">
                <a:solidFill>
                  <a:srgbClr val="D6DEE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PART 3 · EX00 · THE BASE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ex00 — Polymorphism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99949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The subject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08785"/>
            <a:ext cx="472517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An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Animal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class with a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type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a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virtual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makeSound()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and a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virtual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destructor.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72818"/>
            <a:ext cx="472517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986" i="0">
                <a:solidFill>
                  <a:srgbClr val="1F8A7A"/>
                </a:solidFill>
                <a:latin typeface="Consolas"/>
              </a:rPr>
              <a:t>Dog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Cat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inherit from it, set their own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type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and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override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makeSound()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6851"/>
            <a:ext cx="472517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A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WrongCat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that inherits from a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WrongAnimal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without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overriding — to show what the default behaviour looks like.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00909"/>
            <a:ext cx="472517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Calling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makeSound()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through an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Animal *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must print the sound of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real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animal.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64967"/>
            <a:ext cx="499949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What I add on 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29000"/>
            <a:ext cx="472517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copy constructor, the assignment operator and the destructor all print a message, and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getType()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exposes the type.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93058"/>
            <a:ext cx="472517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Everything is in a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protected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type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attribute: the subclasses set it in their constructor, the outside world only reads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7" y="1444752"/>
            <a:ext cx="5318607" cy="3154807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5847" y="1444752"/>
            <a:ext cx="5318607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3863" y="1485900"/>
            <a:ext cx="50625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include/Animal.hpp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1874520"/>
            <a:ext cx="5044287" cy="2587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025">
                <a:solidFill>
                  <a:srgbClr val="C792EA"/>
                </a:solidFill>
                <a:latin typeface="Consolas"/>
              </a:rPr>
              <a:t>class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82AAFF"/>
                </a:solidFill>
                <a:latin typeface="Consolas"/>
              </a:rPr>
              <a:t>Animal</a:t>
            </a:r>
          </a:p>
          <a:p>
            <a:pPr>
              <a:lnSpc>
                <a:spcPct val="118000"/>
              </a:lnSpc>
              <a:buNone/>
            </a:pPr>
            <a:r>
              <a:rPr sz="1025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025">
                <a:solidFill>
                  <a:srgbClr val="C792EA"/>
                </a:solidFill>
                <a:latin typeface="Consolas"/>
              </a:rPr>
              <a:t>public</a:t>
            </a:r>
            <a:r>
              <a:rPr sz="1025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025">
                <a:solidFill>
                  <a:srgbClr val="D6DEEA"/>
                </a:solidFill>
                <a:latin typeface="Consolas"/>
              </a:rPr>
              <a:t>	</a:t>
            </a:r>
            <a:r>
              <a:rPr sz="1025">
                <a:solidFill>
                  <a:srgbClr val="82AAFF"/>
                </a:solidFill>
                <a:latin typeface="Consolas"/>
              </a:rPr>
              <a:t>Animal</a:t>
            </a:r>
            <a:r>
              <a:rPr sz="1025">
                <a:solidFill>
                  <a:srgbClr val="D6DEEA"/>
                </a:solidFill>
                <a:latin typeface="Consolas"/>
              </a:rPr>
              <a:t>(</a:t>
            </a:r>
            <a:r>
              <a:rPr sz="1025">
                <a:solidFill>
                  <a:srgbClr val="D6DEEA"/>
                </a:solidFill>
                <a:latin typeface="Consolas"/>
              </a:rPr>
              <a:t>)</a:t>
            </a:r>
            <a:r>
              <a:rPr sz="102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25">
                <a:solidFill>
                  <a:srgbClr val="D6DEEA"/>
                </a:solidFill>
                <a:latin typeface="Consolas"/>
              </a:rPr>
              <a:t>	</a:t>
            </a:r>
            <a:r>
              <a:rPr sz="1025">
                <a:solidFill>
                  <a:srgbClr val="82AAFF"/>
                </a:solidFill>
                <a:latin typeface="Consolas"/>
              </a:rPr>
              <a:t>Animal</a:t>
            </a:r>
            <a:r>
              <a:rPr sz="1025">
                <a:solidFill>
                  <a:srgbClr val="D6DEEA"/>
                </a:solidFill>
                <a:latin typeface="Consolas"/>
              </a:rPr>
              <a:t>(</a:t>
            </a:r>
            <a:r>
              <a:rPr sz="1025">
                <a:solidFill>
                  <a:srgbClr val="82AAFF"/>
                </a:solidFill>
                <a:latin typeface="Consolas"/>
              </a:rPr>
              <a:t>Animal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C792EA"/>
                </a:solidFill>
                <a:latin typeface="Consolas"/>
              </a:rPr>
              <a:t>const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D6DEEA"/>
                </a:solidFill>
                <a:latin typeface="Consolas"/>
              </a:rPr>
              <a:t>&amp;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D6DEEA"/>
                </a:solidFill>
                <a:latin typeface="Consolas"/>
              </a:rPr>
              <a:t>other</a:t>
            </a:r>
            <a:r>
              <a:rPr sz="1025">
                <a:solidFill>
                  <a:srgbClr val="D6DEEA"/>
                </a:solidFill>
                <a:latin typeface="Consolas"/>
              </a:rPr>
              <a:t>)</a:t>
            </a:r>
            <a:r>
              <a:rPr sz="102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25">
                <a:solidFill>
                  <a:srgbClr val="D6DEEA"/>
                </a:solidFill>
                <a:latin typeface="Consolas"/>
              </a:rPr>
              <a:t>	</a:t>
            </a:r>
            <a:r>
              <a:rPr sz="1025">
                <a:solidFill>
                  <a:srgbClr val="82AAFF"/>
                </a:solidFill>
                <a:latin typeface="Consolas"/>
              </a:rPr>
              <a:t>Animal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D6DEEA"/>
                </a:solidFill>
                <a:latin typeface="Consolas"/>
              </a:rPr>
              <a:t>&amp;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C792EA"/>
                </a:solidFill>
                <a:latin typeface="Consolas"/>
              </a:rPr>
              <a:t>operator</a:t>
            </a:r>
            <a:r>
              <a:rPr sz="1025">
                <a:solidFill>
                  <a:srgbClr val="D6DEEA"/>
                </a:solidFill>
                <a:latin typeface="Consolas"/>
              </a:rPr>
              <a:t>=</a:t>
            </a:r>
            <a:r>
              <a:rPr sz="1025">
                <a:solidFill>
                  <a:srgbClr val="D6DEEA"/>
                </a:solidFill>
                <a:latin typeface="Consolas"/>
              </a:rPr>
              <a:t>(</a:t>
            </a:r>
            <a:r>
              <a:rPr sz="1025">
                <a:solidFill>
                  <a:srgbClr val="82AAFF"/>
                </a:solidFill>
                <a:latin typeface="Consolas"/>
              </a:rPr>
              <a:t>Animal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C792EA"/>
                </a:solidFill>
                <a:latin typeface="Consolas"/>
              </a:rPr>
              <a:t>const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D6DEEA"/>
                </a:solidFill>
                <a:latin typeface="Consolas"/>
              </a:rPr>
              <a:t>&amp;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D6DEEA"/>
                </a:solidFill>
                <a:latin typeface="Consolas"/>
              </a:rPr>
              <a:t>other</a:t>
            </a:r>
            <a:r>
              <a:rPr sz="1025">
                <a:solidFill>
                  <a:srgbClr val="D6DEEA"/>
                </a:solidFill>
                <a:latin typeface="Consolas"/>
              </a:rPr>
              <a:t>)</a:t>
            </a:r>
            <a:r>
              <a:rPr sz="102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25">
                <a:solidFill>
                  <a:srgbClr val="D6DEEA"/>
                </a:solidFill>
                <a:latin typeface="Consolas"/>
              </a:rPr>
              <a:t>	</a:t>
            </a:r>
            <a:r>
              <a:rPr sz="1025">
                <a:solidFill>
                  <a:srgbClr val="C792EA"/>
                </a:solidFill>
                <a:latin typeface="Consolas"/>
              </a:rPr>
              <a:t>virtual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D6DEEA"/>
                </a:solidFill>
                <a:latin typeface="Consolas"/>
              </a:rPr>
              <a:t>~</a:t>
            </a:r>
            <a:r>
              <a:rPr sz="1025">
                <a:solidFill>
                  <a:srgbClr val="82AAFF"/>
                </a:solidFill>
                <a:latin typeface="Consolas"/>
              </a:rPr>
              <a:t>Animal</a:t>
            </a:r>
            <a:r>
              <a:rPr sz="1025">
                <a:solidFill>
                  <a:srgbClr val="D6DEEA"/>
                </a:solidFill>
                <a:latin typeface="Consolas"/>
              </a:rPr>
              <a:t>(</a:t>
            </a:r>
            <a:r>
              <a:rPr sz="1025">
                <a:solidFill>
                  <a:srgbClr val="D6DEEA"/>
                </a:solidFill>
                <a:latin typeface="Consolas"/>
              </a:rPr>
              <a:t>)</a:t>
            </a:r>
            <a:r>
              <a:rPr sz="102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25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025">
                <a:solidFill>
                  <a:srgbClr val="D6DEEA"/>
                </a:solidFill>
                <a:latin typeface="Consolas"/>
              </a:rPr>
              <a:t>	</a:t>
            </a:r>
            <a:r>
              <a:rPr sz="1025">
                <a:solidFill>
                  <a:srgbClr val="C792EA"/>
                </a:solidFill>
                <a:latin typeface="Consolas"/>
              </a:rPr>
              <a:t>virtual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C792EA"/>
                </a:solidFill>
                <a:latin typeface="Consolas"/>
              </a:rPr>
              <a:t>void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D6DEEA"/>
                </a:solidFill>
                <a:latin typeface="Consolas"/>
              </a:rPr>
              <a:t>makeSound</a:t>
            </a:r>
            <a:r>
              <a:rPr sz="1025">
                <a:solidFill>
                  <a:srgbClr val="D6DEEA"/>
                </a:solidFill>
                <a:latin typeface="Consolas"/>
              </a:rPr>
              <a:t>(</a:t>
            </a:r>
            <a:r>
              <a:rPr sz="1025">
                <a:solidFill>
                  <a:srgbClr val="D6DEEA"/>
                </a:solidFill>
                <a:latin typeface="Consolas"/>
              </a:rPr>
              <a:t>)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C792EA"/>
                </a:solidFill>
                <a:latin typeface="Consolas"/>
              </a:rPr>
              <a:t>const</a:t>
            </a:r>
            <a:r>
              <a:rPr sz="102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25">
                <a:solidFill>
                  <a:srgbClr val="D6DEEA"/>
                </a:solidFill>
                <a:latin typeface="Consolas"/>
              </a:rPr>
              <a:t>	</a:t>
            </a:r>
            <a:r>
              <a:rPr sz="1025">
                <a:solidFill>
                  <a:srgbClr val="C792EA"/>
                </a:solidFill>
                <a:latin typeface="Consolas"/>
              </a:rPr>
              <a:t>std</a:t>
            </a:r>
            <a:r>
              <a:rPr sz="1025">
                <a:solidFill>
                  <a:srgbClr val="D6DEEA"/>
                </a:solidFill>
                <a:latin typeface="Consolas"/>
              </a:rPr>
              <a:t>:</a:t>
            </a:r>
            <a:r>
              <a:rPr sz="1025">
                <a:solidFill>
                  <a:srgbClr val="D6DEEA"/>
                </a:solidFill>
                <a:latin typeface="Consolas"/>
              </a:rPr>
              <a:t>:</a:t>
            </a:r>
            <a:r>
              <a:rPr sz="1025">
                <a:solidFill>
                  <a:srgbClr val="C792EA"/>
                </a:solidFill>
                <a:latin typeface="Consolas"/>
              </a:rPr>
              <a:t>string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C792EA"/>
                </a:solidFill>
                <a:latin typeface="Consolas"/>
              </a:rPr>
              <a:t>const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D6DEEA"/>
                </a:solidFill>
                <a:latin typeface="Consolas"/>
              </a:rPr>
              <a:t>&amp;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D6DEEA"/>
                </a:solidFill>
                <a:latin typeface="Consolas"/>
              </a:rPr>
              <a:t>getType</a:t>
            </a:r>
            <a:r>
              <a:rPr sz="1025">
                <a:solidFill>
                  <a:srgbClr val="D6DEEA"/>
                </a:solidFill>
                <a:latin typeface="Consolas"/>
              </a:rPr>
              <a:t>(</a:t>
            </a:r>
            <a:r>
              <a:rPr sz="1025">
                <a:solidFill>
                  <a:srgbClr val="D6DEEA"/>
                </a:solidFill>
                <a:latin typeface="Consolas"/>
              </a:rPr>
              <a:t>)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C792EA"/>
                </a:solidFill>
                <a:latin typeface="Consolas"/>
              </a:rPr>
              <a:t>const</a:t>
            </a:r>
            <a:r>
              <a:rPr sz="102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25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025">
                <a:solidFill>
                  <a:srgbClr val="C792EA"/>
                </a:solidFill>
                <a:latin typeface="Consolas"/>
              </a:rPr>
              <a:t>protected</a:t>
            </a:r>
            <a:r>
              <a:rPr sz="1025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025">
                <a:solidFill>
                  <a:srgbClr val="D6DEEA"/>
                </a:solidFill>
                <a:latin typeface="Consolas"/>
              </a:rPr>
              <a:t>	</a:t>
            </a:r>
            <a:r>
              <a:rPr sz="1025">
                <a:solidFill>
                  <a:srgbClr val="C792EA"/>
                </a:solidFill>
                <a:latin typeface="Consolas"/>
              </a:rPr>
              <a:t>std</a:t>
            </a:r>
            <a:r>
              <a:rPr sz="1025">
                <a:solidFill>
                  <a:srgbClr val="D6DEEA"/>
                </a:solidFill>
                <a:latin typeface="Consolas"/>
              </a:rPr>
              <a:t>:</a:t>
            </a:r>
            <a:r>
              <a:rPr sz="1025">
                <a:solidFill>
                  <a:srgbClr val="D6DEEA"/>
                </a:solidFill>
                <a:latin typeface="Consolas"/>
              </a:rPr>
              <a:t>:</a:t>
            </a:r>
            <a:r>
              <a:rPr sz="1025">
                <a:solidFill>
                  <a:srgbClr val="C792EA"/>
                </a:solidFill>
                <a:latin typeface="Consolas"/>
              </a:rPr>
              <a:t>string</a:t>
            </a:r>
            <a:r>
              <a:rPr sz="1025">
                <a:solidFill>
                  <a:srgbClr val="D6DEEA"/>
                </a:solidFill>
                <a:latin typeface="Consolas"/>
              </a:rPr>
              <a:t> </a:t>
            </a:r>
            <a:r>
              <a:rPr sz="1025">
                <a:solidFill>
                  <a:srgbClr val="D6DEEA"/>
                </a:solidFill>
                <a:latin typeface="Consolas"/>
              </a:rPr>
              <a:t>type</a:t>
            </a:r>
            <a:r>
              <a:rPr sz="102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25">
                <a:solidFill>
                  <a:srgbClr val="D6DEEA"/>
                </a:solidFill>
                <a:latin typeface="Consolas"/>
              </a:rPr>
              <a:t>}</a:t>
            </a:r>
            <a:r>
              <a:rPr sz="1025">
                <a:solidFill>
                  <a:srgbClr val="D6DEEA"/>
                </a:solidFill>
                <a:latin typeface="Consolas"/>
              </a:rPr>
              <a:t>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46320"/>
            <a:ext cx="10637215" cy="82296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6320"/>
            <a:ext cx="50292" cy="82296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" y="4965192"/>
            <a:ext cx="1023487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200" i="0">
                <a:solidFill>
                  <a:srgbClr val="1F8A7A"/>
                </a:solidFill>
                <a:latin typeface="Segoe UI Semibold"/>
              </a:rPr>
              <a:t>The two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virtual</a:t>
            </a:r>
            <a:r>
              <a:rPr b="1" sz="1200" i="0">
                <a:solidFill>
                  <a:srgbClr val="1F8A7A"/>
                </a:solidFill>
                <a:latin typeface="Segoe UI Semibold"/>
              </a:rPr>
              <a:t> keywords that matter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080" i="0">
                <a:solidFill>
                  <a:srgbClr val="1F8A7A"/>
                </a:solidFill>
                <a:latin typeface="Consolas"/>
              </a:rPr>
              <a:t>virtual void makeSound() const;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→ the call will be resolved on the </a:t>
            </a:r>
            <a:r>
              <a:rPr b="1" sz="1150" i="0">
                <a:solidFill>
                  <a:srgbClr val="1C2738"/>
                </a:solidFill>
                <a:latin typeface="Segoe UI"/>
              </a:rPr>
              <a:t>real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type (polymorphism).  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virtual ~Animal();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→ deleting through an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Animal *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destroys the </a:t>
            </a:r>
            <a:r>
              <a:rPr b="1" sz="1150" i="0">
                <a:solidFill>
                  <a:srgbClr val="1C2738"/>
                </a:solidFill>
                <a:latin typeface="Segoe UI"/>
              </a:rPr>
              <a:t>whole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object, derived part included.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EX00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ex00 — Dog and Cat: the override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318607" cy="3542537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318607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0625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include/Dog.hpp  +  src/Dog.cpp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044287" cy="2975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class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Dog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public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Animal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public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82AAFF"/>
                </a:solidFill>
                <a:latin typeface="Consolas"/>
              </a:rPr>
              <a:t>Dog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82AAFF"/>
                </a:solidFill>
                <a:latin typeface="Consolas"/>
              </a:rPr>
              <a:t>Dog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82AAFF"/>
                </a:solidFill>
                <a:latin typeface="Consolas"/>
              </a:rPr>
              <a:t>Dog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const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&amp;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other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82AAFF"/>
                </a:solidFill>
                <a:latin typeface="Consolas"/>
              </a:rPr>
              <a:t>Dog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&amp;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operator</a:t>
            </a:r>
            <a:r>
              <a:rPr sz="750">
                <a:solidFill>
                  <a:srgbClr val="D6DEEA"/>
                </a:solidFill>
                <a:latin typeface="Consolas"/>
              </a:rPr>
              <a:t>=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82AAFF"/>
                </a:solidFill>
                <a:latin typeface="Consolas"/>
              </a:rPr>
              <a:t>Dog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const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&amp;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other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virtual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~</a:t>
            </a:r>
            <a:r>
              <a:rPr sz="750">
                <a:solidFill>
                  <a:srgbClr val="82AAFF"/>
                </a:solidFill>
                <a:latin typeface="Consolas"/>
              </a:rPr>
              <a:t>Dog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virtual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void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makeSound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const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}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82AAFF"/>
                </a:solidFill>
                <a:latin typeface="Consolas"/>
              </a:rPr>
              <a:t>Dog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82AAFF"/>
                </a:solidFill>
                <a:latin typeface="Consolas"/>
              </a:rPr>
              <a:t>Dog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Animal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D6DEEA"/>
                </a:solidFill>
                <a:latin typeface="Consolas"/>
              </a:rPr>
              <a:t>type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=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ECC48D"/>
                </a:solidFill>
                <a:latin typeface="Consolas"/>
              </a:rPr>
              <a:t>"Dog"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std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cout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&lt;</a:t>
            </a:r>
            <a:r>
              <a:rPr sz="750">
                <a:solidFill>
                  <a:srgbClr val="D6DEEA"/>
                </a:solidFill>
                <a:latin typeface="Consolas"/>
              </a:rPr>
              <a:t>&lt;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ECC48D"/>
                </a:solidFill>
                <a:latin typeface="Consolas"/>
              </a:rPr>
              <a:t>"Dog: a dog has been created."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&lt;</a:t>
            </a:r>
            <a:r>
              <a:rPr sz="750">
                <a:solidFill>
                  <a:srgbClr val="D6DEEA"/>
                </a:solidFill>
                <a:latin typeface="Consolas"/>
              </a:rPr>
              <a:t>&lt;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std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endl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void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Dog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makeSound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const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std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cout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&lt;</a:t>
            </a:r>
            <a:r>
              <a:rPr sz="750">
                <a:solidFill>
                  <a:srgbClr val="D6DEEA"/>
                </a:solidFill>
                <a:latin typeface="Consolas"/>
              </a:rPr>
              <a:t>&lt;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ECC48D"/>
                </a:solidFill>
                <a:latin typeface="Consolas"/>
              </a:rPr>
              <a:t>"Woof woof!"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&lt;</a:t>
            </a:r>
            <a:r>
              <a:rPr sz="750">
                <a:solidFill>
                  <a:srgbClr val="D6DEEA"/>
                </a:solidFill>
                <a:latin typeface="Consolas"/>
              </a:rPr>
              <a:t>&lt;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std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endl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963" y="1444752"/>
            <a:ext cx="499949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What an override is (recap)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9283" y="1761134"/>
            <a:ext cx="47251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derived class declares a method with the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exact same signature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as a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base method.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9283" y="2306116"/>
            <a:ext cx="47251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base method must be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otherwise the base version always runs (I show the proof on the next slide).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963" y="2851098"/>
            <a:ext cx="499949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3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9283" y="3167480"/>
            <a:ext cx="472517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Same name, same parameters, same return type.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9283" y="3483862"/>
            <a:ext cx="472517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base method is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9283" y="3800244"/>
            <a:ext cx="472517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access level may differ — mine stays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public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963" y="4116626"/>
            <a:ext cx="499949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constructor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9283" y="4433008"/>
            <a:ext cx="47251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: Animal()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calls the base constructor first, then the body sets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type = "Dog"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the base's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type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is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so the subclass can write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C0392B"/>
                </a:solidFill>
                <a:latin typeface="Segoe UI Semibold"/>
              </a:rPr>
              <a:t>EX00 · STEP 2 · THE BUG MADE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ex00 — WrongCat: the point of the exercise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105863" cy="2460497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105863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8498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include/WrongCat.hpp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831543" cy="18935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class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WrongAnimal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public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virtual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void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makeSound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const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}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class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WrongCat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public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WrongAnimal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public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 i="1">
                <a:solidFill>
                  <a:srgbClr val="62738A"/>
                </a:solidFill>
                <a:latin typeface="Consolas"/>
              </a:rPr>
              <a:t>//  NO "virtual void makeSound() const;" here !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}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const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WrongAnimal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*</a:t>
            </a:r>
            <a:r>
              <a:rPr sz="750">
                <a:solidFill>
                  <a:srgbClr val="D6DEEA"/>
                </a:solidFill>
                <a:latin typeface="Consolas"/>
              </a:rPr>
              <a:t>wcat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=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new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WrongCat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wcat</a:t>
            </a:r>
            <a:r>
              <a:rPr sz="750">
                <a:solidFill>
                  <a:srgbClr val="D6DEEA"/>
                </a:solidFill>
                <a:latin typeface="Consolas"/>
              </a:rPr>
              <a:t>-</a:t>
            </a:r>
            <a:r>
              <a:rPr sz="750">
                <a:solidFill>
                  <a:srgbClr val="D6DEEA"/>
                </a:solidFill>
                <a:latin typeface="Consolas"/>
              </a:rPr>
              <a:t>&gt;</a:t>
            </a:r>
            <a:r>
              <a:rPr sz="750">
                <a:solidFill>
                  <a:srgbClr val="D6DEEA"/>
                </a:solidFill>
                <a:latin typeface="Consolas"/>
              </a:rPr>
              <a:t>makeSound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  <a:r>
              <a:rPr sz="750">
                <a:solidFill>
                  <a:srgbClr val="D6DEEA"/>
                </a:solidFill>
                <a:latin typeface="Consolas"/>
              </a:rPr>
              <a:t>   </a:t>
            </a:r>
            <a:r>
              <a:rPr sz="750" i="1">
                <a:solidFill>
                  <a:srgbClr val="62738A"/>
                </a:solidFill>
                <a:latin typeface="Consolas"/>
              </a:rPr>
              <a:t>//  -&gt;  "Wrong animal sound: grrrooo..." 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8591" y="1444752"/>
            <a:ext cx="510586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What the subject wants to show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2911" y="1708785"/>
            <a:ext cx="4831543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If a subclass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does not override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 virtual method,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base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implementation is used.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2911" y="2172843"/>
            <a:ext cx="483154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986" i="0">
                <a:solidFill>
                  <a:srgbClr val="1F8A7A"/>
                </a:solidFill>
                <a:latin typeface="Consolas"/>
              </a:rPr>
              <a:t>WrongCat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is therefore a cat that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grrrooo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2911" y="2436876"/>
            <a:ext cx="483154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It is a *silent* bug: the code compiles, it runs, it just does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wrong thing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8591" y="2700909"/>
            <a:ext cx="510586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Why the subject asks for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2911" y="2964942"/>
            <a:ext cx="4831543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It is the counterpart of the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Dog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/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Cat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example: together they show that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polymorphic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behaviour comes from the *override*, not from the inheritance.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2911" y="3429000"/>
            <a:ext cx="4831543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And it shows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default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behaviour of a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method, which is the base's 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251960"/>
            <a:ext cx="5105863" cy="1360424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251960"/>
            <a:ext cx="5105863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4293108"/>
            <a:ext cx="48498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real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81728"/>
            <a:ext cx="4831543" cy="793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testWrongCat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82AAFF"/>
                </a:solidFill>
                <a:latin typeface="Consolas"/>
              </a:rPr>
              <a:t>WrongCat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82AAFF"/>
                </a:solidFill>
                <a:latin typeface="Consolas"/>
              </a:rPr>
              <a:t>Wrong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animal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sound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grrrooo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    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the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82AAFF"/>
                </a:solidFill>
                <a:latin typeface="Consolas"/>
              </a:rPr>
              <a:t>WRONG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sound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82AAFF"/>
                </a:solidFill>
                <a:latin typeface="Consolas"/>
              </a:rPr>
              <a:t>Wrong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animal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sound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grrrooo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    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the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base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one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latin typeface="Consolas"/>
              </a:rPr>
              <a:t>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8591" y="4617720"/>
            <a:ext cx="5105863" cy="1097280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8591" y="4617720"/>
            <a:ext cx="50292" cy="109728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047" y="4736592"/>
            <a:ext cx="470352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E8871A"/>
                </a:solidFill>
                <a:latin typeface="Segoe UI Semibold"/>
              </a:rPr>
              <a:t>The lesson to remember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1" sz="1100" i="0">
                <a:solidFill>
                  <a:srgbClr val="1C2738"/>
                </a:solidFill>
                <a:latin typeface="Segoe UI"/>
              </a:rPr>
              <a:t>Inheritance is not overriding.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As long as the derived class does not redeclare the method, the base's behaviour is inherited as it is — the object is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WrongCat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but it behaves like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WrongAnimal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EX00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ex00 — What </a:t>
            </a:r>
            <a:r>
              <a:rPr b="0" sz="2538" i="0">
                <a:solidFill>
                  <a:srgbClr val="1F8A7A"/>
                </a:solidFill>
                <a:latin typeface="Consolas"/>
              </a:rPr>
              <a:t>virtual</a:t>
            </a:r>
            <a:r>
              <a:rPr b="1" sz="2700" i="0">
                <a:solidFill>
                  <a:srgbClr val="0E1B2E"/>
                </a:solidFill>
                <a:latin typeface="Segoe UI Semibold"/>
              </a:rPr>
              <a:t> really buys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1444752"/>
            <a:ext cx="5318607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The experiment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710613"/>
            <a:ext cx="5044287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I removed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from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makeSound()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and kept everything else (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docs/evidence/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1976474"/>
            <a:ext cx="5044287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object is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really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Dog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—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getType()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prints *“Dog”*.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242335"/>
            <a:ext cx="5044287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But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makeSound()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prints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Animal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version: the call was bound at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compile time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2508196"/>
            <a:ext cx="5318607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The two bindings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774057"/>
            <a:ext cx="5044287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050" i="0">
                <a:solidFill>
                  <a:srgbClr val="5E6E84"/>
                </a:solidFill>
                <a:latin typeface="Segoe UI"/>
              </a:rPr>
              <a:t>Static binding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— the compiler picks the function from the *type of the expression*.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3239943"/>
            <a:ext cx="5044287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050" i="0">
                <a:solidFill>
                  <a:srgbClr val="5E6E84"/>
                </a:solidFill>
                <a:latin typeface="Segoe UI"/>
              </a:rPr>
              <a:t>Dynamic binding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— with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a hidden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vtable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decides at run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3505804"/>
            <a:ext cx="5318607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Consequence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3771665"/>
            <a:ext cx="5044287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Without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Dog::makeSound()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is merely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hidden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not overridden.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1444752"/>
            <a:ext cx="4999491" cy="4624578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1444752"/>
            <a:ext cx="499949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1485900"/>
            <a:ext cx="47434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the experiment  (the </a:t>
            </a:r>
            <a:r>
              <a:rPr b="0" sz="893" i="0">
                <a:solidFill>
                  <a:srgbClr val="1F8A7A"/>
                </a:solidFill>
                <a:latin typeface="Consolas"/>
              </a:rPr>
              <a:t>virtual</a:t>
            </a:r>
            <a:r>
              <a:rPr b="1" sz="950" i="0">
                <a:solidFill>
                  <a:srgbClr val="A8BCD6"/>
                </a:solidFill>
                <a:latin typeface="Consolas"/>
              </a:rPr>
              <a:t> keyword removed)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874520"/>
            <a:ext cx="4725171" cy="405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00" i="1">
                <a:solidFill>
                  <a:srgbClr val="62738A"/>
                </a:solidFill>
                <a:latin typeface="Consolas"/>
              </a:rPr>
              <a:t>//  the same classes, but WITHOUT "virtual"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C792EA"/>
                </a:solidFill>
                <a:latin typeface="Consolas"/>
              </a:rPr>
              <a:t>class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Animal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C792EA"/>
                </a:solidFill>
                <a:latin typeface="Consolas"/>
              </a:rPr>
              <a:t>public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	</a:t>
            </a:r>
            <a:r>
              <a:rPr sz="900">
                <a:solidFill>
                  <a:srgbClr val="C792EA"/>
                </a:solidFill>
                <a:latin typeface="Consolas"/>
              </a:rPr>
              <a:t>void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makeSound</a:t>
            </a:r>
            <a:r>
              <a:rPr sz="900">
                <a:solidFill>
                  <a:srgbClr val="D6DEEA"/>
                </a:solidFill>
                <a:latin typeface="Consolas"/>
              </a:rPr>
              <a:t>(</a:t>
            </a:r>
            <a:r>
              <a:rPr sz="900">
                <a:solidFill>
                  <a:srgbClr val="D6DEEA"/>
                </a:solidFill>
                <a:latin typeface="Consolas"/>
              </a:rPr>
              <a:t>)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C792EA"/>
                </a:solidFill>
                <a:latin typeface="Consolas"/>
              </a:rPr>
              <a:t>const</a:t>
            </a:r>
            <a:r>
              <a:rPr sz="900">
                <a:solidFill>
                  <a:srgbClr val="D6DEEA"/>
                </a:solidFill>
                <a:latin typeface="Consolas"/>
              </a:rPr>
              <a:t>     </a:t>
            </a:r>
            <a:r>
              <a:rPr sz="900" i="1">
                <a:solidFill>
                  <a:srgbClr val="62738A"/>
                </a:solidFill>
                <a:latin typeface="Consolas"/>
              </a:rPr>
              <a:t>//  &lt;-- NOT virtual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	</a:t>
            </a:r>
            <a:r>
              <a:rPr sz="90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		</a:t>
            </a:r>
            <a:r>
              <a:rPr sz="900">
                <a:solidFill>
                  <a:srgbClr val="C792EA"/>
                </a:solidFill>
                <a:latin typeface="Consolas"/>
              </a:rPr>
              <a:t>std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cout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&lt;</a:t>
            </a:r>
            <a:r>
              <a:rPr sz="900">
                <a:solidFill>
                  <a:srgbClr val="D6DEEA"/>
                </a:solidFill>
                <a:latin typeface="Consolas"/>
              </a:rPr>
              <a:t>&lt;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ECC48D"/>
                </a:solidFill>
                <a:latin typeface="Consolas"/>
              </a:rPr>
              <a:t>"Animal: generic sound..."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&lt;</a:t>
            </a:r>
            <a:r>
              <a:rPr sz="900">
                <a:solidFill>
                  <a:srgbClr val="D6DEEA"/>
                </a:solidFill>
                <a:latin typeface="Consolas"/>
              </a:rPr>
              <a:t>&lt;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C792EA"/>
                </a:solidFill>
                <a:latin typeface="Consolas"/>
              </a:rPr>
              <a:t>std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endl</a:t>
            </a:r>
            <a:r>
              <a:rPr sz="9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	</a:t>
            </a:r>
            <a:r>
              <a:rPr sz="90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}</a:t>
            </a:r>
            <a:r>
              <a:rPr sz="9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C792EA"/>
                </a:solidFill>
                <a:latin typeface="Consolas"/>
              </a:rPr>
              <a:t>class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Dog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C792EA"/>
                </a:solidFill>
                <a:latin typeface="Consolas"/>
              </a:rPr>
              <a:t>public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Animal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C792EA"/>
                </a:solidFill>
                <a:latin typeface="Consolas"/>
              </a:rPr>
              <a:t>public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	</a:t>
            </a:r>
            <a:r>
              <a:rPr sz="900">
                <a:solidFill>
                  <a:srgbClr val="C792EA"/>
                </a:solidFill>
                <a:latin typeface="Consolas"/>
              </a:rPr>
              <a:t>void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makeSound</a:t>
            </a:r>
            <a:r>
              <a:rPr sz="900">
                <a:solidFill>
                  <a:srgbClr val="D6DEEA"/>
                </a:solidFill>
                <a:latin typeface="Consolas"/>
              </a:rPr>
              <a:t>(</a:t>
            </a:r>
            <a:r>
              <a:rPr sz="900">
                <a:solidFill>
                  <a:srgbClr val="D6DEEA"/>
                </a:solidFill>
                <a:latin typeface="Consolas"/>
              </a:rPr>
              <a:t>)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C792EA"/>
                </a:solidFill>
                <a:latin typeface="Consolas"/>
              </a:rPr>
              <a:t>const</a:t>
            </a:r>
            <a:r>
              <a:rPr sz="900">
                <a:solidFill>
                  <a:srgbClr val="D6DEEA"/>
                </a:solidFill>
                <a:latin typeface="Consolas"/>
              </a:rPr>
              <a:t>     </a:t>
            </a:r>
            <a:r>
              <a:rPr sz="900" i="1">
                <a:solidFill>
                  <a:srgbClr val="62738A"/>
                </a:solidFill>
                <a:latin typeface="Consolas"/>
              </a:rPr>
              <a:t>//  &lt;-- hidden, not overridden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	</a:t>
            </a:r>
            <a:r>
              <a:rPr sz="90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		</a:t>
            </a:r>
            <a:r>
              <a:rPr sz="900">
                <a:solidFill>
                  <a:srgbClr val="C792EA"/>
                </a:solidFill>
                <a:latin typeface="Consolas"/>
              </a:rPr>
              <a:t>std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cout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&lt;</a:t>
            </a:r>
            <a:r>
              <a:rPr sz="900">
                <a:solidFill>
                  <a:srgbClr val="D6DEEA"/>
                </a:solidFill>
                <a:latin typeface="Consolas"/>
              </a:rPr>
              <a:t>&lt;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ECC48D"/>
                </a:solidFill>
                <a:latin typeface="Consolas"/>
              </a:rPr>
              <a:t>"Woof woof!"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&lt;</a:t>
            </a:r>
            <a:r>
              <a:rPr sz="900">
                <a:solidFill>
                  <a:srgbClr val="D6DEEA"/>
                </a:solidFill>
                <a:latin typeface="Consolas"/>
              </a:rPr>
              <a:t>&lt;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C792EA"/>
                </a:solidFill>
                <a:latin typeface="Consolas"/>
              </a:rPr>
              <a:t>std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endl</a:t>
            </a:r>
            <a:r>
              <a:rPr sz="9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	</a:t>
            </a:r>
            <a:r>
              <a:rPr sz="90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}</a:t>
            </a:r>
            <a:r>
              <a:rPr sz="9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C792EA"/>
                </a:solidFill>
                <a:latin typeface="Consolas"/>
              </a:rPr>
              <a:t>int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main</a:t>
            </a:r>
            <a:r>
              <a:rPr sz="900">
                <a:solidFill>
                  <a:srgbClr val="D6DEEA"/>
                </a:solidFill>
                <a:latin typeface="Consolas"/>
              </a:rPr>
              <a:t>(</a:t>
            </a:r>
            <a:r>
              <a:rPr sz="90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	</a:t>
            </a:r>
            <a:r>
              <a:rPr sz="900">
                <a:solidFill>
                  <a:srgbClr val="82AAFF"/>
                </a:solidFill>
                <a:latin typeface="Consolas"/>
              </a:rPr>
              <a:t>Animal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*</a:t>
            </a:r>
            <a:r>
              <a:rPr sz="900">
                <a:solidFill>
                  <a:srgbClr val="D6DEEA"/>
                </a:solidFill>
                <a:latin typeface="Consolas"/>
              </a:rPr>
              <a:t>j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=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C792EA"/>
                </a:solidFill>
                <a:latin typeface="Consolas"/>
              </a:rPr>
              <a:t>new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Dog</a:t>
            </a:r>
            <a:r>
              <a:rPr sz="900">
                <a:solidFill>
                  <a:srgbClr val="D6DEEA"/>
                </a:solidFill>
                <a:latin typeface="Consolas"/>
              </a:rPr>
              <a:t>(</a:t>
            </a:r>
            <a:r>
              <a:rPr sz="900">
                <a:solidFill>
                  <a:srgbClr val="D6DEEA"/>
                </a:solidFill>
                <a:latin typeface="Consolas"/>
              </a:rPr>
              <a:t>)</a:t>
            </a:r>
            <a:r>
              <a:rPr sz="9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	</a:t>
            </a:r>
            <a:r>
              <a:rPr sz="900">
                <a:solidFill>
                  <a:srgbClr val="C792EA"/>
                </a:solidFill>
                <a:latin typeface="Consolas"/>
              </a:rPr>
              <a:t>std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cout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&lt;</a:t>
            </a:r>
            <a:r>
              <a:rPr sz="900">
                <a:solidFill>
                  <a:srgbClr val="D6DEEA"/>
                </a:solidFill>
                <a:latin typeface="Consolas"/>
              </a:rPr>
              <a:t>&lt;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ECC48D"/>
                </a:solidFill>
                <a:latin typeface="Consolas"/>
              </a:rPr>
              <a:t>"the real type is: "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&lt;</a:t>
            </a:r>
            <a:r>
              <a:rPr sz="900">
                <a:solidFill>
                  <a:srgbClr val="D6DEEA"/>
                </a:solidFill>
                <a:latin typeface="Consolas"/>
              </a:rPr>
              <a:t>&lt;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j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&gt;</a:t>
            </a:r>
            <a:r>
              <a:rPr sz="900">
                <a:solidFill>
                  <a:srgbClr val="D6DEEA"/>
                </a:solidFill>
                <a:latin typeface="Consolas"/>
              </a:rPr>
              <a:t>getType</a:t>
            </a:r>
            <a:r>
              <a:rPr sz="900">
                <a:solidFill>
                  <a:srgbClr val="D6DEEA"/>
                </a:solidFill>
                <a:latin typeface="Consolas"/>
              </a:rPr>
              <a:t>(</a:t>
            </a:r>
            <a:r>
              <a:rPr sz="900">
                <a:solidFill>
                  <a:srgbClr val="D6DEEA"/>
                </a:solidFill>
                <a:latin typeface="Consolas"/>
              </a:rPr>
              <a:t>)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&lt;</a:t>
            </a:r>
            <a:r>
              <a:rPr sz="900">
                <a:solidFill>
                  <a:srgbClr val="D6DEEA"/>
                </a:solidFill>
                <a:latin typeface="Consolas"/>
              </a:rPr>
              <a:t>&lt;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C792EA"/>
                </a:solidFill>
                <a:latin typeface="Consolas"/>
              </a:rPr>
              <a:t>std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endl</a:t>
            </a:r>
            <a:r>
              <a:rPr sz="9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	</a:t>
            </a:r>
            <a:r>
              <a:rPr sz="900">
                <a:solidFill>
                  <a:srgbClr val="D6DEEA"/>
                </a:solidFill>
                <a:latin typeface="Consolas"/>
              </a:rPr>
              <a:t>j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&gt;</a:t>
            </a:r>
            <a:r>
              <a:rPr sz="900">
                <a:solidFill>
                  <a:srgbClr val="D6DEEA"/>
                </a:solidFill>
                <a:latin typeface="Consolas"/>
              </a:rPr>
              <a:t>makeSound</a:t>
            </a:r>
            <a:r>
              <a:rPr sz="900">
                <a:solidFill>
                  <a:srgbClr val="D6DEEA"/>
                </a:solidFill>
                <a:latin typeface="Consolas"/>
              </a:rPr>
              <a:t>(</a:t>
            </a:r>
            <a:r>
              <a:rPr sz="900">
                <a:solidFill>
                  <a:srgbClr val="D6DEEA"/>
                </a:solidFill>
                <a:latin typeface="Consolas"/>
              </a:rPr>
              <a:t>)</a:t>
            </a:r>
            <a:r>
              <a:rPr sz="900">
                <a:solidFill>
                  <a:srgbClr val="D6DEEA"/>
                </a:solidFill>
                <a:latin typeface="Consolas"/>
              </a:rPr>
              <a:t>;</a:t>
            </a:r>
            <a:r>
              <a:rPr sz="900">
                <a:solidFill>
                  <a:srgbClr val="D6DEEA"/>
                </a:solidFill>
                <a:latin typeface="Consolas"/>
              </a:rPr>
              <a:t>   </a:t>
            </a:r>
            <a:r>
              <a:rPr sz="900" i="1">
                <a:solidFill>
                  <a:srgbClr val="62738A"/>
                </a:solidFill>
                <a:latin typeface="Consolas"/>
              </a:rPr>
              <a:t>//  &lt;-- binds to Animal::makeSound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7" y="4553712"/>
            <a:ext cx="5318607" cy="927608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847" y="4553712"/>
            <a:ext cx="5318607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3863" y="4594860"/>
            <a:ext cx="50625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real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3007" y="4983480"/>
            <a:ext cx="5044287" cy="360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the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real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type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is</a:t>
            </a:r>
            <a:r>
              <a:rPr sz="1000">
                <a:solidFill>
                  <a:srgbClr val="D6DEEA"/>
                </a:solidFill>
                <a:latin typeface="Consolas"/>
              </a:rPr>
              <a:t>: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82AAFF"/>
                </a:solidFill>
                <a:latin typeface="Consolas"/>
              </a:rPr>
              <a:t>Dog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82AAFF"/>
                </a:solidFill>
                <a:latin typeface="Consolas"/>
              </a:rPr>
              <a:t>Animal</a:t>
            </a:r>
            <a:r>
              <a:rPr sz="1000">
                <a:solidFill>
                  <a:srgbClr val="D6DEEA"/>
                </a:solidFill>
                <a:latin typeface="Consolas"/>
              </a:rPr>
              <a:t>: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makes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a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generic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animal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sound</a:t>
            </a:r>
            <a:r>
              <a:rPr sz="1000">
                <a:solidFill>
                  <a:srgbClr val="D6DEEA"/>
                </a:solidFill>
                <a:latin typeface="Consolas"/>
              </a:rPr>
              <a:t>.</a:t>
            </a:r>
            <a:r>
              <a:rPr sz="1000">
                <a:solidFill>
                  <a:srgbClr val="D6DEEA"/>
                </a:solidFill>
                <a:latin typeface="Consolas"/>
              </a:rPr>
              <a:t>.</a:t>
            </a:r>
            <a:r>
              <a:rPr sz="1000">
                <a:solidFill>
                  <a:srgbClr val="D6DEEA"/>
                </a:solidFill>
                <a:latin typeface="Consolas"/>
              </a:rPr>
              <a:t>.</a:t>
            </a:r>
            <a:r>
              <a:rPr sz="1000">
                <a:solidFill>
                  <a:srgbClr val="D6DEEA"/>
                </a:solidFill>
                <a:latin typeface="Consolas"/>
              </a:rPr>
              <a:t>   </a:t>
            </a:r>
            <a:r>
              <a:rPr sz="1000">
                <a:solidFill>
                  <a:srgbClr val="D6DEEA"/>
                </a:solidFill>
                <a:latin typeface="Consolas"/>
              </a:rPr>
              <a:t>&lt;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82AAFF"/>
                </a:solidFill>
                <a:latin typeface="Consolas"/>
              </a:rPr>
              <a:t>NOT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the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dog</a:t>
            </a:r>
            <a:r>
              <a:rPr sz="1000">
                <a:solidFill>
                  <a:srgbClr val="D6DEEA"/>
                </a:solidFill>
                <a:latin typeface="Consolas"/>
              </a:rPr>
              <a:t>'</a:t>
            </a:r>
            <a:r>
              <a:rPr sz="1000">
                <a:solidFill>
                  <a:srgbClr val="D6DEEA"/>
                </a:solidFill>
                <a:latin typeface="Consolas"/>
              </a:rPr>
              <a:t>s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sound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5847" y="5495544"/>
            <a:ext cx="5318607" cy="73152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5847" y="5495544"/>
            <a:ext cx="50292" cy="73152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5303" y="5614416"/>
            <a:ext cx="4916271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200" i="0">
                <a:solidFill>
                  <a:srgbClr val="1F8A7A"/>
                </a:solidFill>
                <a:latin typeface="Segoe UI Semibold"/>
              </a:rPr>
              <a:t>This is the whole module in one line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50" i="0">
                <a:solidFill>
                  <a:srgbClr val="1C2738"/>
                </a:solidFill>
                <a:latin typeface="Segoe UI"/>
              </a:rPr>
              <a:t>One interface, many behaviours — but </a:t>
            </a:r>
            <a:r>
              <a:rPr b="1" sz="1150" i="0">
                <a:solidFill>
                  <a:srgbClr val="1C2738"/>
                </a:solidFill>
                <a:latin typeface="Segoe UI"/>
              </a:rPr>
              <a:t>only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if the base method is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EX00 ·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ex00 — Destruction through a base pointer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4999491" cy="1739138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499949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7434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src/main.cpp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725171" cy="11722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C792EA"/>
                </a:solidFill>
                <a:latin typeface="Consolas"/>
              </a:rPr>
              <a:t>static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C792EA"/>
                </a:solidFill>
                <a:latin typeface="Consolas"/>
              </a:rPr>
              <a:t>void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testDestructionThroughBasePointer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</a:t>
            </a:r>
            <a:r>
              <a:rPr sz="650">
                <a:solidFill>
                  <a:srgbClr val="82AAFF"/>
                </a:solidFill>
                <a:latin typeface="Consolas"/>
              </a:rPr>
              <a:t>Animal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*</a:t>
            </a:r>
            <a:r>
              <a:rPr sz="650">
                <a:solidFill>
                  <a:srgbClr val="D6DEEA"/>
                </a:solidFill>
                <a:latin typeface="Consolas"/>
              </a:rPr>
              <a:t>animals</a:t>
            </a:r>
            <a:r>
              <a:rPr sz="650">
                <a:solidFill>
                  <a:srgbClr val="D6DEEA"/>
                </a:solidFill>
                <a:latin typeface="Consolas"/>
              </a:rPr>
              <a:t>[</a:t>
            </a:r>
            <a:r>
              <a:rPr sz="650">
                <a:solidFill>
                  <a:srgbClr val="F78C6C"/>
                </a:solidFill>
                <a:latin typeface="Consolas"/>
              </a:rPr>
              <a:t>3</a:t>
            </a:r>
            <a:r>
              <a:rPr sz="650">
                <a:solidFill>
                  <a:srgbClr val="D6DEEA"/>
                </a:solidFill>
                <a:latin typeface="Consolas"/>
              </a:rPr>
              <a:t>]</a:t>
            </a:r>
            <a:r>
              <a:rPr sz="6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</a:t>
            </a:r>
            <a:r>
              <a:rPr sz="650">
                <a:solidFill>
                  <a:srgbClr val="D6DEEA"/>
                </a:solidFill>
                <a:latin typeface="Consolas"/>
              </a:rPr>
              <a:t>animals</a:t>
            </a:r>
            <a:r>
              <a:rPr sz="650">
                <a:solidFill>
                  <a:srgbClr val="D6DEEA"/>
                </a:solidFill>
                <a:latin typeface="Consolas"/>
              </a:rPr>
              <a:t>[</a:t>
            </a:r>
            <a:r>
              <a:rPr sz="650">
                <a:solidFill>
                  <a:srgbClr val="F78C6C"/>
                </a:solidFill>
                <a:latin typeface="Consolas"/>
              </a:rPr>
              <a:t>0</a:t>
            </a:r>
            <a:r>
              <a:rPr sz="650">
                <a:solidFill>
                  <a:srgbClr val="D6DEEA"/>
                </a:solidFill>
                <a:latin typeface="Consolas"/>
              </a:rPr>
              <a:t>]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=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C792EA"/>
                </a:solidFill>
                <a:latin typeface="Consolas"/>
              </a:rPr>
              <a:t>new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82AAFF"/>
                </a:solidFill>
                <a:latin typeface="Consolas"/>
              </a:rPr>
              <a:t>Dog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  <a:r>
              <a:rPr sz="6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</a:t>
            </a:r>
            <a:r>
              <a:rPr sz="650">
                <a:solidFill>
                  <a:srgbClr val="D6DEEA"/>
                </a:solidFill>
                <a:latin typeface="Consolas"/>
              </a:rPr>
              <a:t>animals</a:t>
            </a:r>
            <a:r>
              <a:rPr sz="650">
                <a:solidFill>
                  <a:srgbClr val="D6DEEA"/>
                </a:solidFill>
                <a:latin typeface="Consolas"/>
              </a:rPr>
              <a:t>[</a:t>
            </a:r>
            <a:r>
              <a:rPr sz="650">
                <a:solidFill>
                  <a:srgbClr val="F78C6C"/>
                </a:solidFill>
                <a:latin typeface="Consolas"/>
              </a:rPr>
              <a:t>1</a:t>
            </a:r>
            <a:r>
              <a:rPr sz="650">
                <a:solidFill>
                  <a:srgbClr val="D6DEEA"/>
                </a:solidFill>
                <a:latin typeface="Consolas"/>
              </a:rPr>
              <a:t>]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=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C792EA"/>
                </a:solidFill>
                <a:latin typeface="Consolas"/>
              </a:rPr>
              <a:t>new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82AAFF"/>
                </a:solidFill>
                <a:latin typeface="Consolas"/>
              </a:rPr>
              <a:t>Cat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  <a:r>
              <a:rPr sz="6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</a:t>
            </a:r>
            <a:r>
              <a:rPr sz="650">
                <a:solidFill>
                  <a:srgbClr val="D6DEEA"/>
                </a:solidFill>
                <a:latin typeface="Consolas"/>
              </a:rPr>
              <a:t>animals</a:t>
            </a:r>
            <a:r>
              <a:rPr sz="650">
                <a:solidFill>
                  <a:srgbClr val="D6DEEA"/>
                </a:solidFill>
                <a:latin typeface="Consolas"/>
              </a:rPr>
              <a:t>[</a:t>
            </a:r>
            <a:r>
              <a:rPr sz="650">
                <a:solidFill>
                  <a:srgbClr val="F78C6C"/>
                </a:solidFill>
                <a:latin typeface="Consolas"/>
              </a:rPr>
              <a:t>2</a:t>
            </a:r>
            <a:r>
              <a:rPr sz="650">
                <a:solidFill>
                  <a:srgbClr val="D6DEEA"/>
                </a:solidFill>
                <a:latin typeface="Consolas"/>
              </a:rPr>
              <a:t>]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=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C792EA"/>
                </a:solidFill>
                <a:latin typeface="Consolas"/>
              </a:rPr>
              <a:t>new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82AAFF"/>
                </a:solidFill>
                <a:latin typeface="Consolas"/>
              </a:rPr>
              <a:t>Animal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  <a:r>
              <a:rPr sz="6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</a:t>
            </a:r>
            <a:r>
              <a:rPr sz="650">
                <a:solidFill>
                  <a:srgbClr val="C792EA"/>
                </a:solidFill>
                <a:latin typeface="Consolas"/>
              </a:rPr>
              <a:t>for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C792EA"/>
                </a:solidFill>
                <a:latin typeface="Consolas"/>
              </a:rPr>
              <a:t>int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i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=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F78C6C"/>
                </a:solidFill>
                <a:latin typeface="Consolas"/>
              </a:rPr>
              <a:t>0</a:t>
            </a:r>
            <a:r>
              <a:rPr sz="650">
                <a:solidFill>
                  <a:srgbClr val="D6DEEA"/>
                </a:solidFill>
                <a:latin typeface="Consolas"/>
              </a:rPr>
              <a:t>;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i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F78C6C"/>
                </a:solidFill>
                <a:latin typeface="Consolas"/>
              </a:rPr>
              <a:t>3</a:t>
            </a:r>
            <a:r>
              <a:rPr sz="650">
                <a:solidFill>
                  <a:srgbClr val="D6DEEA"/>
                </a:solidFill>
                <a:latin typeface="Consolas"/>
              </a:rPr>
              <a:t>;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i</a:t>
            </a:r>
            <a:r>
              <a:rPr sz="650">
                <a:solidFill>
                  <a:srgbClr val="D6DEEA"/>
                </a:solidFill>
                <a:latin typeface="Consolas"/>
              </a:rPr>
              <a:t>+</a:t>
            </a:r>
            <a:r>
              <a:rPr sz="650">
                <a:solidFill>
                  <a:srgbClr val="D6DEEA"/>
                </a:solidFill>
                <a:latin typeface="Consolas"/>
              </a:rPr>
              <a:t>+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	</a:t>
            </a:r>
            <a:r>
              <a:rPr sz="650">
                <a:solidFill>
                  <a:srgbClr val="C792EA"/>
                </a:solidFill>
                <a:latin typeface="Consolas"/>
              </a:rPr>
              <a:t>delete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animals</a:t>
            </a:r>
            <a:r>
              <a:rPr sz="650">
                <a:solidFill>
                  <a:srgbClr val="D6DEEA"/>
                </a:solidFill>
                <a:latin typeface="Consolas"/>
              </a:rPr>
              <a:t>[</a:t>
            </a:r>
            <a:r>
              <a:rPr sz="650">
                <a:solidFill>
                  <a:srgbClr val="D6DEEA"/>
                </a:solidFill>
                <a:latin typeface="Consolas"/>
              </a:rPr>
              <a:t>i</a:t>
            </a:r>
            <a:r>
              <a:rPr sz="650">
                <a:solidFill>
                  <a:srgbClr val="D6DEEA"/>
                </a:solidFill>
                <a:latin typeface="Consolas"/>
              </a:rPr>
              <a:t>]</a:t>
            </a:r>
            <a:r>
              <a:rPr sz="6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8591" y="1444752"/>
            <a:ext cx="5105863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The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2911" y="1740636"/>
            <a:ext cx="4831543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A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delete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on a base pointer must destroy the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derived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part too, otherwise it leaks.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2911" y="2255595"/>
            <a:ext cx="4831543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That works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only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if the base destructor is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8591" y="2551479"/>
            <a:ext cx="5105863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The order of the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2911" y="2847363"/>
            <a:ext cx="4831543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80" i="0">
                <a:solidFill>
                  <a:srgbClr val="1F8A7A"/>
                </a:solidFill>
                <a:latin typeface="Consolas"/>
              </a:rPr>
              <a:t>Dog::~Dog()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first — the derived destructor.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2911" y="3143247"/>
            <a:ext cx="4831543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Then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Animal::~Animal()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— the base destructor.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2911" y="3439131"/>
            <a:ext cx="4831543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Exactly the reverse of the construction order.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8591" y="3735015"/>
            <a:ext cx="5105863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Without `virtual`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2911" y="4030899"/>
            <a:ext cx="4831543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Only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Animal::~Animal()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would run: the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Dog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part is never destroyed →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memory leak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474720"/>
            <a:ext cx="4999491" cy="2298191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474720"/>
            <a:ext cx="4999491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3515868"/>
            <a:ext cx="47434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real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04488"/>
            <a:ext cx="4725171" cy="17312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created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Dog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dog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created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created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Cat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cat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created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created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Dog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dog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destroyed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  <a:r>
              <a:rPr sz="960">
                <a:solidFill>
                  <a:srgbClr val="D6DEEA"/>
                </a:solidFill>
                <a:latin typeface="Consolas"/>
              </a:rPr>
              <a:t>        </a:t>
            </a:r>
            <a:r>
              <a:rPr sz="960">
                <a:solidFill>
                  <a:srgbClr val="D6DEEA"/>
                </a:solidFill>
                <a:latin typeface="Consolas"/>
              </a:rPr>
              <a:t>&lt;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derived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first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82AAFF"/>
                </a:solidFill>
                <a:latin typeface="Consolas"/>
              </a:rPr>
              <a:t>Dog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destroyed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  <a:r>
              <a:rPr sz="960">
                <a:solidFill>
                  <a:srgbClr val="D6DEEA"/>
                </a:solidFill>
                <a:latin typeface="Consolas"/>
              </a:rPr>
              <a:t>   </a:t>
            </a:r>
            <a:r>
              <a:rPr sz="960">
                <a:solidFill>
                  <a:srgbClr val="D6DEEA"/>
                </a:solidFill>
                <a:latin typeface="Consolas"/>
              </a:rPr>
              <a:t>&lt;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base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Cat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cat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destroyed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82AAFF"/>
                </a:solidFill>
                <a:latin typeface="Consolas"/>
              </a:rPr>
              <a:t>Cat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destroyed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82AAFF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destroyed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EX00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ex00 — Runtime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956840" cy="4202582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956840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700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terminal  ·  ./ex00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682520" cy="3635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D6DEEA"/>
                </a:solidFill>
                <a:latin typeface="Consolas"/>
              </a:rPr>
              <a:t>=</a:t>
            </a:r>
            <a:r>
              <a:rPr sz="960">
                <a:solidFill>
                  <a:srgbClr val="D6DEEA"/>
                </a:solidFill>
                <a:latin typeface="Consolas"/>
              </a:rPr>
              <a:t>=</a:t>
            </a:r>
            <a:r>
              <a:rPr sz="960">
                <a:solidFill>
                  <a:srgbClr val="D6DEEA"/>
                </a:solidFill>
                <a:latin typeface="Consolas"/>
              </a:rPr>
              <a:t>=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82AAFF"/>
                </a:solidFill>
                <a:latin typeface="Consolas"/>
              </a:rPr>
              <a:t>Module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F78C6C"/>
                </a:solidFill>
                <a:latin typeface="Consolas"/>
              </a:rPr>
              <a:t>04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ex00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82AAFF"/>
                </a:solidFill>
                <a:latin typeface="Consolas"/>
              </a:rPr>
              <a:t>Polymorphism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=</a:t>
            </a:r>
            <a:r>
              <a:rPr sz="960">
                <a:solidFill>
                  <a:srgbClr val="D6DEEA"/>
                </a:solidFill>
                <a:latin typeface="Consolas"/>
              </a:rPr>
              <a:t>=</a:t>
            </a:r>
            <a:r>
              <a:rPr sz="960">
                <a:solidFill>
                  <a:srgbClr val="D6DEEA"/>
                </a:solidFill>
                <a:latin typeface="Consolas"/>
              </a:rPr>
              <a:t>=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testSubjectExample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Dog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Cat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Meow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meow</a:t>
            </a:r>
            <a:r>
              <a:rPr sz="960">
                <a:solidFill>
                  <a:srgbClr val="D6DEEA"/>
                </a:solidFill>
                <a:latin typeface="Consolas"/>
              </a:rPr>
              <a:t>!</a:t>
            </a:r>
            <a:r>
              <a:rPr sz="960">
                <a:solidFill>
                  <a:srgbClr val="D6DEEA"/>
                </a:solidFill>
                <a:latin typeface="Consolas"/>
              </a:rPr>
              <a:t>          </a:t>
            </a:r>
            <a:r>
              <a:rPr sz="960">
                <a:solidFill>
                  <a:srgbClr val="D6DEEA"/>
                </a:solidFill>
                <a:latin typeface="Consolas"/>
              </a:rPr>
              <a:t>&lt;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through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ECC48D"/>
                </a:solidFill>
                <a:latin typeface="Consolas"/>
              </a:rPr>
              <a:t>"Animal *"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(</a:t>
            </a:r>
            <a:r>
              <a:rPr sz="960">
                <a:solidFill>
                  <a:srgbClr val="D6DEEA"/>
                </a:solidFill>
                <a:latin typeface="Consolas"/>
              </a:rPr>
              <a:t>a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82AAFF"/>
                </a:solidFill>
                <a:latin typeface="Consolas"/>
              </a:rPr>
              <a:t>Cat</a:t>
            </a:r>
            <a:r>
              <a:rPr sz="96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Woof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woof</a:t>
            </a:r>
            <a:r>
              <a:rPr sz="960">
                <a:solidFill>
                  <a:srgbClr val="D6DEEA"/>
                </a:solidFill>
                <a:latin typeface="Consolas"/>
              </a:rPr>
              <a:t>!</a:t>
            </a:r>
            <a:r>
              <a:rPr sz="960">
                <a:solidFill>
                  <a:srgbClr val="D6DEEA"/>
                </a:solidFill>
                <a:latin typeface="Consolas"/>
              </a:rPr>
              <a:t>          </a:t>
            </a:r>
            <a:r>
              <a:rPr sz="960">
                <a:solidFill>
                  <a:srgbClr val="D6DEEA"/>
                </a:solidFill>
                <a:latin typeface="Consolas"/>
              </a:rPr>
              <a:t>&lt;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through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ECC48D"/>
                </a:solidFill>
                <a:latin typeface="Consolas"/>
              </a:rPr>
              <a:t>"Animal *"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(</a:t>
            </a:r>
            <a:r>
              <a:rPr sz="960">
                <a:solidFill>
                  <a:srgbClr val="D6DEEA"/>
                </a:solidFill>
                <a:latin typeface="Consolas"/>
              </a:rPr>
              <a:t>a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82AAFF"/>
                </a:solidFill>
                <a:latin typeface="Consolas"/>
              </a:rPr>
              <a:t>Dog</a:t>
            </a:r>
            <a:r>
              <a:rPr sz="96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makes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generic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sound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testWrongCat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WrongCat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Wrong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sound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grrrooo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  <a:r>
              <a:rPr sz="960">
                <a:solidFill>
                  <a:srgbClr val="D6DEEA"/>
                </a:solidFill>
                <a:latin typeface="Consolas"/>
              </a:rPr>
              <a:t>   </a:t>
            </a:r>
            <a:r>
              <a:rPr sz="960">
                <a:solidFill>
                  <a:srgbClr val="D6DEEA"/>
                </a:solidFill>
                <a:latin typeface="Consolas"/>
              </a:rPr>
              <a:t>&lt;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base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version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Wrong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sound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grrrooo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testDestructionThroughBasePointer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Dog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dog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destroyed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82AAFF"/>
                </a:solidFill>
                <a:latin typeface="Consolas"/>
              </a:rPr>
              <a:t>Dog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destroyed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Cat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cat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destroyed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82AAFF"/>
                </a:solidFill>
                <a:latin typeface="Consolas"/>
              </a:rPr>
              <a:t>Cat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destroyed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the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82AAFF"/>
                </a:solidFill>
                <a:latin typeface="Consolas"/>
              </a:rPr>
              <a:t>Animal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has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been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destroyed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testCopy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  <a:r>
              <a:rPr sz="96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Woof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woof</a:t>
            </a:r>
            <a:r>
              <a:rPr sz="96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82AAFF"/>
                </a:solidFill>
                <a:latin typeface="Consolas"/>
              </a:rPr>
              <a:t>Meow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meow</a:t>
            </a:r>
            <a:r>
              <a:rPr sz="96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D6DEEA"/>
                </a:solidFill>
                <a:latin typeface="Consolas"/>
              </a:rPr>
              <a:t>=</a:t>
            </a:r>
            <a:r>
              <a:rPr sz="960">
                <a:solidFill>
                  <a:srgbClr val="D6DEEA"/>
                </a:solidFill>
                <a:latin typeface="Consolas"/>
              </a:rPr>
              <a:t>=</a:t>
            </a:r>
            <a:r>
              <a:rPr sz="960">
                <a:solidFill>
                  <a:srgbClr val="D6DEEA"/>
                </a:solidFill>
                <a:latin typeface="Consolas"/>
              </a:rPr>
              <a:t>=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ex00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done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=</a:t>
            </a:r>
            <a:r>
              <a:rPr sz="960">
                <a:solidFill>
                  <a:srgbClr val="D6DEEA"/>
                </a:solidFill>
                <a:latin typeface="Consolas"/>
              </a:rPr>
              <a:t>=</a:t>
            </a:r>
            <a:r>
              <a:rPr sz="960">
                <a:solidFill>
                  <a:srgbClr val="D6DEEA"/>
                </a:solidFill>
                <a:latin typeface="Consolas"/>
              </a:rP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10" y="1444752"/>
            <a:ext cx="441444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What the output proves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4330" y="1783461"/>
            <a:ext cx="4140124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Through an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Animal *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i-&gt;makeSound()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prints *“Meow meow!”* and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j-&gt;makeSound()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prints *“Woof woof!”* →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dynamic binding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4330" y="2598420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meta-&gt;makeSound()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prints the generic sound: the base is still concrete in ex00.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4330" y="3175254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WrongCat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prints the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wrong animal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sound → the default behaviour is the base's one.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4330" y="3752088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destructors are called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derived first, then base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through the base pointer.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4330" y="4328922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copies print their own messages and still make their own sound.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PART 3 · EX01 · THE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ex01 — I don't want to set the world on fire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99949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00" i="0">
                <a:solidFill>
                  <a:srgbClr val="1C2738"/>
                </a:solidFill>
                <a:latin typeface="Segoe UI"/>
              </a:rPr>
              <a:t>The subject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18310"/>
            <a:ext cx="472517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Brain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class holding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100 ideas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(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std::string ideas[100]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91868"/>
            <a:ext cx="4725171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34" i="0">
                <a:solidFill>
                  <a:srgbClr val="1F8A7A"/>
                </a:solidFill>
                <a:latin typeface="Consolas"/>
              </a:rPr>
              <a:t>Dog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Cat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own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Brain *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created with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new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and released with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delete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in their destructor.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74976"/>
            <a:ext cx="4725171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The copy constructor and the assignment operator must make a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deep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copy of the brain.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58084"/>
            <a:ext cx="4725171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The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main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builds an array of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Animal *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(half dogs, half cats) and deletes every animal through the base pointer.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41192"/>
            <a:ext cx="4999491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00" i="0">
                <a:solidFill>
                  <a:srgbClr val="1C2738"/>
                </a:solidFill>
                <a:latin typeface="Segoe UI"/>
              </a:rPr>
              <a:t>Why this exercise exists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14750"/>
            <a:ext cx="4725171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It is the first time a class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owns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something → the copy semantics stop being optional, they become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mandatory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97858"/>
            <a:ext cx="4725171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A shallow copy would make the two animals share the same brain →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double free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(I show the proof on the next slides).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7" y="1444752"/>
            <a:ext cx="5318607" cy="3091687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5847" y="1444752"/>
            <a:ext cx="5318607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3863" y="1485900"/>
            <a:ext cx="50625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include/Brain.hpp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1874520"/>
            <a:ext cx="5044287" cy="252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C792EA"/>
                </a:solidFill>
                <a:latin typeface="Consolas"/>
              </a:rPr>
              <a:t>class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82AAFF"/>
                </a:solidFill>
                <a:latin typeface="Consolas"/>
              </a:rPr>
              <a:t>Brain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C792EA"/>
                </a:solidFill>
                <a:latin typeface="Consolas"/>
              </a:rPr>
              <a:t>public</a:t>
            </a:r>
            <a:r>
              <a:rPr sz="100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	</a:t>
            </a:r>
            <a:r>
              <a:rPr sz="1000">
                <a:solidFill>
                  <a:srgbClr val="82AAFF"/>
                </a:solidFill>
                <a:latin typeface="Consolas"/>
              </a:rPr>
              <a:t>Brain</a:t>
            </a:r>
            <a:r>
              <a:rPr sz="1000">
                <a:solidFill>
                  <a:srgbClr val="D6DEEA"/>
                </a:solidFill>
                <a:latin typeface="Consolas"/>
              </a:rPr>
              <a:t>(</a:t>
            </a:r>
            <a:r>
              <a:rPr sz="1000">
                <a:solidFill>
                  <a:srgbClr val="D6DEEA"/>
                </a:solidFill>
                <a:latin typeface="Consolas"/>
              </a:rPr>
              <a:t>)</a:t>
            </a:r>
            <a:r>
              <a:rPr sz="10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	</a:t>
            </a:r>
            <a:r>
              <a:rPr sz="1000">
                <a:solidFill>
                  <a:srgbClr val="82AAFF"/>
                </a:solidFill>
                <a:latin typeface="Consolas"/>
              </a:rPr>
              <a:t>Brain</a:t>
            </a:r>
            <a:r>
              <a:rPr sz="1000">
                <a:solidFill>
                  <a:srgbClr val="D6DEEA"/>
                </a:solidFill>
                <a:latin typeface="Consolas"/>
              </a:rPr>
              <a:t>(</a:t>
            </a:r>
            <a:r>
              <a:rPr sz="1000">
                <a:solidFill>
                  <a:srgbClr val="82AAFF"/>
                </a:solidFill>
                <a:latin typeface="Consolas"/>
              </a:rPr>
              <a:t>Brain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C792EA"/>
                </a:solidFill>
                <a:latin typeface="Consolas"/>
              </a:rPr>
              <a:t>const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&amp;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other</a:t>
            </a:r>
            <a:r>
              <a:rPr sz="1000">
                <a:solidFill>
                  <a:srgbClr val="D6DEEA"/>
                </a:solidFill>
                <a:latin typeface="Consolas"/>
              </a:rPr>
              <a:t>)</a:t>
            </a:r>
            <a:r>
              <a:rPr sz="10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	</a:t>
            </a:r>
            <a:r>
              <a:rPr sz="1000">
                <a:solidFill>
                  <a:srgbClr val="82AAFF"/>
                </a:solidFill>
                <a:latin typeface="Consolas"/>
              </a:rPr>
              <a:t>Brain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&amp;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C792EA"/>
                </a:solidFill>
                <a:latin typeface="Consolas"/>
              </a:rPr>
              <a:t>operator</a:t>
            </a:r>
            <a:r>
              <a:rPr sz="1000">
                <a:solidFill>
                  <a:srgbClr val="D6DEEA"/>
                </a:solidFill>
                <a:latin typeface="Consolas"/>
              </a:rPr>
              <a:t>=</a:t>
            </a:r>
            <a:r>
              <a:rPr sz="1000">
                <a:solidFill>
                  <a:srgbClr val="D6DEEA"/>
                </a:solidFill>
                <a:latin typeface="Consolas"/>
              </a:rPr>
              <a:t>(</a:t>
            </a:r>
            <a:r>
              <a:rPr sz="1000">
                <a:solidFill>
                  <a:srgbClr val="82AAFF"/>
                </a:solidFill>
                <a:latin typeface="Consolas"/>
              </a:rPr>
              <a:t>Brain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C792EA"/>
                </a:solidFill>
                <a:latin typeface="Consolas"/>
              </a:rPr>
              <a:t>const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&amp;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other</a:t>
            </a:r>
            <a:r>
              <a:rPr sz="1000">
                <a:solidFill>
                  <a:srgbClr val="D6DEEA"/>
                </a:solidFill>
                <a:latin typeface="Consolas"/>
              </a:rPr>
              <a:t>)</a:t>
            </a:r>
            <a:r>
              <a:rPr sz="10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	</a:t>
            </a:r>
            <a:r>
              <a:rPr sz="1000">
                <a:solidFill>
                  <a:srgbClr val="D6DEEA"/>
                </a:solidFill>
                <a:latin typeface="Consolas"/>
              </a:rPr>
              <a:t>~</a:t>
            </a:r>
            <a:r>
              <a:rPr sz="1000">
                <a:solidFill>
                  <a:srgbClr val="82AAFF"/>
                </a:solidFill>
                <a:latin typeface="Consolas"/>
              </a:rPr>
              <a:t>Brain</a:t>
            </a:r>
            <a:r>
              <a:rPr sz="1000">
                <a:solidFill>
                  <a:srgbClr val="D6DEEA"/>
                </a:solidFill>
                <a:latin typeface="Consolas"/>
              </a:rPr>
              <a:t>(</a:t>
            </a:r>
            <a:r>
              <a:rPr sz="1000">
                <a:solidFill>
                  <a:srgbClr val="D6DEEA"/>
                </a:solidFill>
                <a:latin typeface="Consolas"/>
              </a:rPr>
              <a:t>)</a:t>
            </a:r>
            <a:r>
              <a:rPr sz="10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	</a:t>
            </a:r>
            <a:r>
              <a:rPr sz="1000">
                <a:solidFill>
                  <a:srgbClr val="C792EA"/>
                </a:solidFill>
                <a:latin typeface="Consolas"/>
              </a:rPr>
              <a:t>std</a:t>
            </a:r>
            <a:r>
              <a:rPr sz="1000">
                <a:solidFill>
                  <a:srgbClr val="D6DEEA"/>
                </a:solidFill>
                <a:latin typeface="Consolas"/>
              </a:rPr>
              <a:t>:</a:t>
            </a:r>
            <a:r>
              <a:rPr sz="1000">
                <a:solidFill>
                  <a:srgbClr val="D6DEEA"/>
                </a:solidFill>
                <a:latin typeface="Consolas"/>
              </a:rPr>
              <a:t>:</a:t>
            </a:r>
            <a:r>
              <a:rPr sz="1000">
                <a:solidFill>
                  <a:srgbClr val="C792EA"/>
                </a:solidFill>
                <a:latin typeface="Consolas"/>
              </a:rPr>
              <a:t>string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getIdea</a:t>
            </a:r>
            <a:r>
              <a:rPr sz="1000">
                <a:solidFill>
                  <a:srgbClr val="D6DEEA"/>
                </a:solidFill>
                <a:latin typeface="Consolas"/>
              </a:rPr>
              <a:t>(</a:t>
            </a:r>
            <a:r>
              <a:rPr sz="1000">
                <a:solidFill>
                  <a:srgbClr val="C792EA"/>
                </a:solidFill>
                <a:latin typeface="Consolas"/>
              </a:rPr>
              <a:t>int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index</a:t>
            </a:r>
            <a:r>
              <a:rPr sz="1000">
                <a:solidFill>
                  <a:srgbClr val="D6DEEA"/>
                </a:solidFill>
                <a:latin typeface="Consolas"/>
              </a:rPr>
              <a:t>)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C792EA"/>
                </a:solidFill>
                <a:latin typeface="Consolas"/>
              </a:rPr>
              <a:t>const</a:t>
            </a:r>
            <a:r>
              <a:rPr sz="10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	</a:t>
            </a:r>
            <a:r>
              <a:rPr sz="1000">
                <a:solidFill>
                  <a:srgbClr val="C792EA"/>
                </a:solidFill>
                <a:latin typeface="Consolas"/>
              </a:rPr>
              <a:t>void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setIdea</a:t>
            </a:r>
            <a:r>
              <a:rPr sz="1000">
                <a:solidFill>
                  <a:srgbClr val="D6DEEA"/>
                </a:solidFill>
                <a:latin typeface="Consolas"/>
              </a:rPr>
              <a:t>(</a:t>
            </a:r>
            <a:r>
              <a:rPr sz="1000">
                <a:solidFill>
                  <a:srgbClr val="C792EA"/>
                </a:solidFill>
                <a:latin typeface="Consolas"/>
              </a:rPr>
              <a:t>int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index</a:t>
            </a:r>
            <a:r>
              <a:rPr sz="1000">
                <a:solidFill>
                  <a:srgbClr val="D6DEEA"/>
                </a:solidFill>
                <a:latin typeface="Consolas"/>
              </a:rPr>
              <a:t>,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C792EA"/>
                </a:solidFill>
                <a:latin typeface="Consolas"/>
              </a:rPr>
              <a:t>std</a:t>
            </a:r>
            <a:r>
              <a:rPr sz="1000">
                <a:solidFill>
                  <a:srgbClr val="D6DEEA"/>
                </a:solidFill>
                <a:latin typeface="Consolas"/>
              </a:rPr>
              <a:t>:</a:t>
            </a:r>
            <a:r>
              <a:rPr sz="1000">
                <a:solidFill>
                  <a:srgbClr val="D6DEEA"/>
                </a:solidFill>
                <a:latin typeface="Consolas"/>
              </a:rPr>
              <a:t>:</a:t>
            </a:r>
            <a:r>
              <a:rPr sz="1000">
                <a:solidFill>
                  <a:srgbClr val="C792EA"/>
                </a:solidFill>
                <a:latin typeface="Consolas"/>
              </a:rPr>
              <a:t>string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C792EA"/>
                </a:solidFill>
                <a:latin typeface="Consolas"/>
              </a:rPr>
              <a:t>const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&amp;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idea</a:t>
            </a:r>
            <a:r>
              <a:rPr sz="1000">
                <a:solidFill>
                  <a:srgbClr val="D6DEEA"/>
                </a:solidFill>
                <a:latin typeface="Consolas"/>
              </a:rPr>
              <a:t>)</a:t>
            </a:r>
            <a:r>
              <a:rPr sz="10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C792EA"/>
                </a:solidFill>
                <a:latin typeface="Consolas"/>
              </a:rPr>
              <a:t>private</a:t>
            </a:r>
            <a:r>
              <a:rPr sz="100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	</a:t>
            </a:r>
            <a:r>
              <a:rPr sz="1000">
                <a:solidFill>
                  <a:srgbClr val="C792EA"/>
                </a:solidFill>
                <a:latin typeface="Consolas"/>
              </a:rPr>
              <a:t>std</a:t>
            </a:r>
            <a:r>
              <a:rPr sz="1000">
                <a:solidFill>
                  <a:srgbClr val="D6DEEA"/>
                </a:solidFill>
                <a:latin typeface="Consolas"/>
              </a:rPr>
              <a:t>:</a:t>
            </a:r>
            <a:r>
              <a:rPr sz="1000">
                <a:solidFill>
                  <a:srgbClr val="D6DEEA"/>
                </a:solidFill>
                <a:latin typeface="Consolas"/>
              </a:rPr>
              <a:t>:</a:t>
            </a:r>
            <a:r>
              <a:rPr sz="1000">
                <a:solidFill>
                  <a:srgbClr val="C792EA"/>
                </a:solidFill>
                <a:latin typeface="Consolas"/>
              </a:rPr>
              <a:t>string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ideas</a:t>
            </a:r>
            <a:r>
              <a:rPr sz="1000">
                <a:solidFill>
                  <a:srgbClr val="D6DEEA"/>
                </a:solidFill>
                <a:latin typeface="Consolas"/>
              </a:rPr>
              <a:t>[</a:t>
            </a:r>
            <a:r>
              <a:rPr sz="1000">
                <a:solidFill>
                  <a:srgbClr val="F78C6C"/>
                </a:solidFill>
                <a:latin typeface="Consolas"/>
              </a:rPr>
              <a:t>100</a:t>
            </a:r>
            <a:r>
              <a:rPr sz="1000">
                <a:solidFill>
                  <a:srgbClr val="D6DEEA"/>
                </a:solidFill>
                <a:latin typeface="Consolas"/>
              </a:rPr>
              <a:t>]</a:t>
            </a:r>
            <a:r>
              <a:rPr sz="10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}</a:t>
            </a:r>
            <a:r>
              <a:rPr sz="1000">
                <a:solidFill>
                  <a:srgbClr val="D6DEEA"/>
                </a:solidFill>
                <a:latin typeface="Consolas"/>
              </a:rPr>
              <a:t>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46320"/>
            <a:ext cx="10637215" cy="822960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46320"/>
            <a:ext cx="50292" cy="82296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" y="4965192"/>
            <a:ext cx="1023487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200" i="0">
                <a:solidFill>
                  <a:srgbClr val="E8871A"/>
                </a:solidFill>
                <a:latin typeface="Segoe UI Semibold"/>
              </a:rPr>
              <a:t>The fixed-size array, not a std::vector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50" i="0">
                <a:solidFill>
                  <a:srgbClr val="1C2738"/>
                </a:solidFill>
                <a:latin typeface="Segoe UI"/>
              </a:rPr>
              <a:t>The subject forbids the STL containers until module 08, so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ideas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is a plain C array of </a:t>
            </a:r>
            <a:r>
              <a:rPr b="1" sz="1150" i="0">
                <a:solidFill>
                  <a:srgbClr val="1C2738"/>
                </a:solidFill>
                <a:latin typeface="Segoe UI"/>
              </a:rPr>
              <a:t>100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std::string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. The same rule applies to the inventories of ex03: </a:t>
            </a:r>
            <a:r>
              <a:rPr b="1" sz="1150" i="0">
                <a:solidFill>
                  <a:srgbClr val="1C2738"/>
                </a:solidFill>
                <a:latin typeface="Segoe UI"/>
              </a:rPr>
              <a:t>4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slots, plain arrays, no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std::vector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EX01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ex01 — The deep copy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212235" cy="4202582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212235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9562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src/Dog.cpp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937915" cy="363565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630" i="1">
                <a:solidFill>
                  <a:srgbClr val="62738A"/>
                </a:solidFill>
                <a:latin typeface="Consolas"/>
              </a:rPr>
              <a:t>//  the constructor: the brain is created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82AAFF"/>
                </a:solidFill>
                <a:latin typeface="Consolas"/>
              </a:rPr>
              <a:t>Dog</a:t>
            </a:r>
            <a:r>
              <a:rPr sz="630">
                <a:solidFill>
                  <a:srgbClr val="D6DEEA"/>
                </a:solidFill>
                <a:latin typeface="Consolas"/>
              </a:rPr>
              <a:t>:</a:t>
            </a:r>
            <a:r>
              <a:rPr sz="630">
                <a:solidFill>
                  <a:srgbClr val="D6DEEA"/>
                </a:solidFill>
                <a:latin typeface="Consolas"/>
              </a:rPr>
              <a:t>:</a:t>
            </a:r>
            <a:r>
              <a:rPr sz="630">
                <a:solidFill>
                  <a:srgbClr val="82AAFF"/>
                </a:solidFill>
                <a:latin typeface="Consolas"/>
              </a:rPr>
              <a:t>Dog</a:t>
            </a:r>
            <a:r>
              <a:rPr sz="630">
                <a:solidFill>
                  <a:srgbClr val="D6DEEA"/>
                </a:solidFill>
                <a:latin typeface="Consolas"/>
              </a:rPr>
              <a:t>(</a:t>
            </a:r>
            <a:r>
              <a:rPr sz="63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	</a:t>
            </a:r>
            <a:r>
              <a:rPr sz="630">
                <a:solidFill>
                  <a:srgbClr val="D6DEEA"/>
                </a:solidFill>
                <a:latin typeface="Consolas"/>
              </a:rPr>
              <a:t>: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82AAFF"/>
                </a:solidFill>
                <a:latin typeface="Consolas"/>
              </a:rPr>
              <a:t>Animal</a:t>
            </a:r>
            <a:r>
              <a:rPr sz="630">
                <a:solidFill>
                  <a:srgbClr val="D6DEEA"/>
                </a:solidFill>
                <a:latin typeface="Consolas"/>
              </a:rPr>
              <a:t>(</a:t>
            </a:r>
            <a:r>
              <a:rPr sz="630">
                <a:solidFill>
                  <a:srgbClr val="D6DEEA"/>
                </a:solidFill>
                <a:latin typeface="Consolas"/>
              </a:rPr>
              <a:t>)</a:t>
            </a:r>
            <a:r>
              <a:rPr sz="630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	  </a:t>
            </a:r>
            <a:r>
              <a:rPr sz="630">
                <a:solidFill>
                  <a:srgbClr val="D6DEEA"/>
                </a:solidFill>
                <a:latin typeface="Consolas"/>
              </a:rPr>
              <a:t>brain</a:t>
            </a:r>
            <a:r>
              <a:rPr sz="630">
                <a:solidFill>
                  <a:srgbClr val="D6DEEA"/>
                </a:solidFill>
                <a:latin typeface="Consolas"/>
              </a:rPr>
              <a:t>(</a:t>
            </a:r>
            <a:r>
              <a:rPr sz="630">
                <a:solidFill>
                  <a:srgbClr val="C792EA"/>
                </a:solidFill>
                <a:latin typeface="Consolas"/>
              </a:rPr>
              <a:t>new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82AAFF"/>
                </a:solidFill>
                <a:latin typeface="Consolas"/>
              </a:rPr>
              <a:t>Brain</a:t>
            </a:r>
            <a:r>
              <a:rPr sz="630">
                <a:solidFill>
                  <a:srgbClr val="D6DEEA"/>
                </a:solidFill>
                <a:latin typeface="Consolas"/>
              </a:rPr>
              <a:t>(</a:t>
            </a:r>
            <a:r>
              <a:rPr sz="630">
                <a:solidFill>
                  <a:srgbClr val="D6DEEA"/>
                </a:solidFill>
                <a:latin typeface="Consolas"/>
              </a:rPr>
              <a:t>)</a:t>
            </a:r>
            <a:r>
              <a:rPr sz="63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	</a:t>
            </a:r>
            <a:r>
              <a:rPr sz="630">
                <a:solidFill>
                  <a:srgbClr val="D6DEEA"/>
                </a:solidFill>
                <a:latin typeface="Consolas"/>
              </a:rPr>
              <a:t>type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D6DEEA"/>
                </a:solidFill>
                <a:latin typeface="Consolas"/>
              </a:rPr>
              <a:t>=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ECC48D"/>
                </a:solidFill>
                <a:latin typeface="Consolas"/>
              </a:rPr>
              <a:t>"Dog"</a:t>
            </a:r>
            <a:r>
              <a:rPr sz="63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630" i="1">
                <a:solidFill>
                  <a:srgbClr val="62738A"/>
                </a:solidFill>
                <a:latin typeface="Consolas"/>
              </a:rPr>
              <a:t>//  the copy constructor: a NEW brain is created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82AAFF"/>
                </a:solidFill>
                <a:latin typeface="Consolas"/>
              </a:rPr>
              <a:t>Dog</a:t>
            </a:r>
            <a:r>
              <a:rPr sz="630">
                <a:solidFill>
                  <a:srgbClr val="D6DEEA"/>
                </a:solidFill>
                <a:latin typeface="Consolas"/>
              </a:rPr>
              <a:t>:</a:t>
            </a:r>
            <a:r>
              <a:rPr sz="630">
                <a:solidFill>
                  <a:srgbClr val="D6DEEA"/>
                </a:solidFill>
                <a:latin typeface="Consolas"/>
              </a:rPr>
              <a:t>:</a:t>
            </a:r>
            <a:r>
              <a:rPr sz="630">
                <a:solidFill>
                  <a:srgbClr val="82AAFF"/>
                </a:solidFill>
                <a:latin typeface="Consolas"/>
              </a:rPr>
              <a:t>Dog</a:t>
            </a:r>
            <a:r>
              <a:rPr sz="630">
                <a:solidFill>
                  <a:srgbClr val="D6DEEA"/>
                </a:solidFill>
                <a:latin typeface="Consolas"/>
              </a:rPr>
              <a:t>(</a:t>
            </a:r>
            <a:r>
              <a:rPr sz="630">
                <a:solidFill>
                  <a:srgbClr val="82AAFF"/>
                </a:solidFill>
                <a:latin typeface="Consolas"/>
              </a:rPr>
              <a:t>Dog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C792EA"/>
                </a:solidFill>
                <a:latin typeface="Consolas"/>
              </a:rPr>
              <a:t>const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D6DEEA"/>
                </a:solidFill>
                <a:latin typeface="Consolas"/>
              </a:rPr>
              <a:t>&amp;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D6DEEA"/>
                </a:solidFill>
                <a:latin typeface="Consolas"/>
              </a:rPr>
              <a:t>other</a:t>
            </a:r>
            <a:r>
              <a:rPr sz="63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	</a:t>
            </a:r>
            <a:r>
              <a:rPr sz="630">
                <a:solidFill>
                  <a:srgbClr val="D6DEEA"/>
                </a:solidFill>
                <a:latin typeface="Consolas"/>
              </a:rPr>
              <a:t>: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82AAFF"/>
                </a:solidFill>
                <a:latin typeface="Consolas"/>
              </a:rPr>
              <a:t>Animal</a:t>
            </a:r>
            <a:r>
              <a:rPr sz="630">
                <a:solidFill>
                  <a:srgbClr val="D6DEEA"/>
                </a:solidFill>
                <a:latin typeface="Consolas"/>
              </a:rPr>
              <a:t>(</a:t>
            </a:r>
            <a:r>
              <a:rPr sz="630">
                <a:solidFill>
                  <a:srgbClr val="D6DEEA"/>
                </a:solidFill>
                <a:latin typeface="Consolas"/>
              </a:rPr>
              <a:t>other</a:t>
            </a:r>
            <a:r>
              <a:rPr sz="630">
                <a:solidFill>
                  <a:srgbClr val="D6DEEA"/>
                </a:solidFill>
                <a:latin typeface="Consolas"/>
              </a:rPr>
              <a:t>)</a:t>
            </a:r>
            <a:r>
              <a:rPr sz="630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	  </a:t>
            </a:r>
            <a:r>
              <a:rPr sz="630">
                <a:solidFill>
                  <a:srgbClr val="D6DEEA"/>
                </a:solidFill>
                <a:latin typeface="Consolas"/>
              </a:rPr>
              <a:t>brain</a:t>
            </a:r>
            <a:r>
              <a:rPr sz="630">
                <a:solidFill>
                  <a:srgbClr val="D6DEEA"/>
                </a:solidFill>
                <a:latin typeface="Consolas"/>
              </a:rPr>
              <a:t>(</a:t>
            </a:r>
            <a:r>
              <a:rPr sz="630">
                <a:solidFill>
                  <a:srgbClr val="C792EA"/>
                </a:solidFill>
                <a:latin typeface="Consolas"/>
              </a:rPr>
              <a:t>new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82AAFF"/>
                </a:solidFill>
                <a:latin typeface="Consolas"/>
              </a:rPr>
              <a:t>Brain</a:t>
            </a:r>
            <a:r>
              <a:rPr sz="630">
                <a:solidFill>
                  <a:srgbClr val="D6DEEA"/>
                </a:solidFill>
                <a:latin typeface="Consolas"/>
              </a:rPr>
              <a:t>(</a:t>
            </a:r>
            <a:r>
              <a:rPr sz="630">
                <a:solidFill>
                  <a:srgbClr val="D6DEEA"/>
                </a:solidFill>
                <a:latin typeface="Consolas"/>
              </a:rPr>
              <a:t>*</a:t>
            </a:r>
            <a:r>
              <a:rPr sz="630">
                <a:solidFill>
                  <a:srgbClr val="D6DEEA"/>
                </a:solidFill>
                <a:latin typeface="Consolas"/>
              </a:rPr>
              <a:t>other</a:t>
            </a:r>
            <a:r>
              <a:rPr sz="630">
                <a:solidFill>
                  <a:srgbClr val="D6DEEA"/>
                </a:solidFill>
                <a:latin typeface="Consolas"/>
              </a:rPr>
              <a:t>.</a:t>
            </a:r>
            <a:r>
              <a:rPr sz="630">
                <a:solidFill>
                  <a:srgbClr val="D6DEEA"/>
                </a:solidFill>
                <a:latin typeface="Consolas"/>
              </a:rPr>
              <a:t>brain</a:t>
            </a:r>
            <a:r>
              <a:rPr sz="630">
                <a:solidFill>
                  <a:srgbClr val="D6DEEA"/>
                </a:solidFill>
                <a:latin typeface="Consolas"/>
              </a:rPr>
              <a:t>)</a:t>
            </a:r>
            <a:r>
              <a:rPr sz="63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630" i="1">
                <a:solidFill>
                  <a:srgbClr val="62738A"/>
                </a:solidFill>
                <a:latin typeface="Consolas"/>
              </a:rPr>
              <a:t>//  the assignment: the old brain is deleted first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82AAFF"/>
                </a:solidFill>
                <a:latin typeface="Consolas"/>
              </a:rPr>
              <a:t>Dog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D6DEEA"/>
                </a:solidFill>
                <a:latin typeface="Consolas"/>
              </a:rPr>
              <a:t>&amp;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82AAFF"/>
                </a:solidFill>
                <a:latin typeface="Consolas"/>
              </a:rPr>
              <a:t>Dog</a:t>
            </a:r>
            <a:r>
              <a:rPr sz="630">
                <a:solidFill>
                  <a:srgbClr val="D6DEEA"/>
                </a:solidFill>
                <a:latin typeface="Consolas"/>
              </a:rPr>
              <a:t>:</a:t>
            </a:r>
            <a:r>
              <a:rPr sz="630">
                <a:solidFill>
                  <a:srgbClr val="D6DEEA"/>
                </a:solidFill>
                <a:latin typeface="Consolas"/>
              </a:rPr>
              <a:t>:</a:t>
            </a:r>
            <a:r>
              <a:rPr sz="630">
                <a:solidFill>
                  <a:srgbClr val="C792EA"/>
                </a:solidFill>
                <a:latin typeface="Consolas"/>
              </a:rPr>
              <a:t>operator</a:t>
            </a:r>
            <a:r>
              <a:rPr sz="630">
                <a:solidFill>
                  <a:srgbClr val="D6DEEA"/>
                </a:solidFill>
                <a:latin typeface="Consolas"/>
              </a:rPr>
              <a:t>=</a:t>
            </a:r>
            <a:r>
              <a:rPr sz="630">
                <a:solidFill>
                  <a:srgbClr val="D6DEEA"/>
                </a:solidFill>
                <a:latin typeface="Consolas"/>
              </a:rPr>
              <a:t>(</a:t>
            </a:r>
            <a:r>
              <a:rPr sz="630">
                <a:solidFill>
                  <a:srgbClr val="82AAFF"/>
                </a:solidFill>
                <a:latin typeface="Consolas"/>
              </a:rPr>
              <a:t>Dog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C792EA"/>
                </a:solidFill>
                <a:latin typeface="Consolas"/>
              </a:rPr>
              <a:t>const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D6DEEA"/>
                </a:solidFill>
                <a:latin typeface="Consolas"/>
              </a:rPr>
              <a:t>&amp;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D6DEEA"/>
                </a:solidFill>
                <a:latin typeface="Consolas"/>
              </a:rPr>
              <a:t>other</a:t>
            </a:r>
            <a:r>
              <a:rPr sz="63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	</a:t>
            </a:r>
            <a:r>
              <a:rPr sz="630">
                <a:solidFill>
                  <a:srgbClr val="C792EA"/>
                </a:solidFill>
                <a:latin typeface="Consolas"/>
              </a:rPr>
              <a:t>if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D6DEEA"/>
                </a:solidFill>
                <a:latin typeface="Consolas"/>
              </a:rPr>
              <a:t>(</a:t>
            </a:r>
            <a:r>
              <a:rPr sz="630">
                <a:solidFill>
                  <a:srgbClr val="C792EA"/>
                </a:solidFill>
                <a:latin typeface="Consolas"/>
              </a:rPr>
              <a:t>this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D6DEEA"/>
                </a:solidFill>
                <a:latin typeface="Consolas"/>
              </a:rPr>
              <a:t>!</a:t>
            </a:r>
            <a:r>
              <a:rPr sz="630">
                <a:solidFill>
                  <a:srgbClr val="D6DEEA"/>
                </a:solidFill>
                <a:latin typeface="Consolas"/>
              </a:rPr>
              <a:t>=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D6DEEA"/>
                </a:solidFill>
                <a:latin typeface="Consolas"/>
              </a:rPr>
              <a:t>&amp;</a:t>
            </a:r>
            <a:r>
              <a:rPr sz="630">
                <a:solidFill>
                  <a:srgbClr val="D6DEEA"/>
                </a:solidFill>
                <a:latin typeface="Consolas"/>
              </a:rPr>
              <a:t>other</a:t>
            </a:r>
            <a:r>
              <a:rPr sz="63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	</a:t>
            </a:r>
            <a:r>
              <a:rPr sz="63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		</a:t>
            </a:r>
            <a:r>
              <a:rPr sz="630">
                <a:solidFill>
                  <a:srgbClr val="82AAFF"/>
                </a:solidFill>
                <a:latin typeface="Consolas"/>
              </a:rPr>
              <a:t>Animal</a:t>
            </a:r>
            <a:r>
              <a:rPr sz="630">
                <a:solidFill>
                  <a:srgbClr val="D6DEEA"/>
                </a:solidFill>
                <a:latin typeface="Consolas"/>
              </a:rPr>
              <a:t>:</a:t>
            </a:r>
            <a:r>
              <a:rPr sz="630">
                <a:solidFill>
                  <a:srgbClr val="D6DEEA"/>
                </a:solidFill>
                <a:latin typeface="Consolas"/>
              </a:rPr>
              <a:t>:</a:t>
            </a:r>
            <a:r>
              <a:rPr sz="630">
                <a:solidFill>
                  <a:srgbClr val="C792EA"/>
                </a:solidFill>
                <a:latin typeface="Consolas"/>
              </a:rPr>
              <a:t>operator</a:t>
            </a:r>
            <a:r>
              <a:rPr sz="630">
                <a:solidFill>
                  <a:srgbClr val="D6DEEA"/>
                </a:solidFill>
                <a:latin typeface="Consolas"/>
              </a:rPr>
              <a:t>=</a:t>
            </a:r>
            <a:r>
              <a:rPr sz="630">
                <a:solidFill>
                  <a:srgbClr val="D6DEEA"/>
                </a:solidFill>
                <a:latin typeface="Consolas"/>
              </a:rPr>
              <a:t>(</a:t>
            </a:r>
            <a:r>
              <a:rPr sz="630">
                <a:solidFill>
                  <a:srgbClr val="D6DEEA"/>
                </a:solidFill>
                <a:latin typeface="Consolas"/>
              </a:rPr>
              <a:t>other</a:t>
            </a:r>
            <a:r>
              <a:rPr sz="630">
                <a:solidFill>
                  <a:srgbClr val="D6DEEA"/>
                </a:solidFill>
                <a:latin typeface="Consolas"/>
              </a:rPr>
              <a:t>)</a:t>
            </a:r>
            <a:r>
              <a:rPr sz="63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		</a:t>
            </a:r>
            <a:r>
              <a:rPr sz="630">
                <a:solidFill>
                  <a:srgbClr val="C792EA"/>
                </a:solidFill>
                <a:latin typeface="Consolas"/>
              </a:rPr>
              <a:t>delete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D6DEEA"/>
                </a:solidFill>
                <a:latin typeface="Consolas"/>
              </a:rPr>
              <a:t>brain</a:t>
            </a:r>
            <a:r>
              <a:rPr sz="63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		</a:t>
            </a:r>
            <a:r>
              <a:rPr sz="630">
                <a:solidFill>
                  <a:srgbClr val="D6DEEA"/>
                </a:solidFill>
                <a:latin typeface="Consolas"/>
              </a:rPr>
              <a:t>brain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D6DEEA"/>
                </a:solidFill>
                <a:latin typeface="Consolas"/>
              </a:rPr>
              <a:t>=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C792EA"/>
                </a:solidFill>
                <a:latin typeface="Consolas"/>
              </a:rPr>
              <a:t>new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82AAFF"/>
                </a:solidFill>
                <a:latin typeface="Consolas"/>
              </a:rPr>
              <a:t>Brain</a:t>
            </a:r>
            <a:r>
              <a:rPr sz="630">
                <a:solidFill>
                  <a:srgbClr val="D6DEEA"/>
                </a:solidFill>
                <a:latin typeface="Consolas"/>
              </a:rPr>
              <a:t>(</a:t>
            </a:r>
            <a:r>
              <a:rPr sz="630">
                <a:solidFill>
                  <a:srgbClr val="D6DEEA"/>
                </a:solidFill>
                <a:latin typeface="Consolas"/>
              </a:rPr>
              <a:t>*</a:t>
            </a:r>
            <a:r>
              <a:rPr sz="630">
                <a:solidFill>
                  <a:srgbClr val="D6DEEA"/>
                </a:solidFill>
                <a:latin typeface="Consolas"/>
              </a:rPr>
              <a:t>other</a:t>
            </a:r>
            <a:r>
              <a:rPr sz="630">
                <a:solidFill>
                  <a:srgbClr val="D6DEEA"/>
                </a:solidFill>
                <a:latin typeface="Consolas"/>
              </a:rPr>
              <a:t>.</a:t>
            </a:r>
            <a:r>
              <a:rPr sz="630">
                <a:solidFill>
                  <a:srgbClr val="D6DEEA"/>
                </a:solidFill>
                <a:latin typeface="Consolas"/>
              </a:rPr>
              <a:t>brain</a:t>
            </a:r>
            <a:r>
              <a:rPr sz="630">
                <a:solidFill>
                  <a:srgbClr val="D6DEEA"/>
                </a:solidFill>
                <a:latin typeface="Consolas"/>
              </a:rPr>
              <a:t>)</a:t>
            </a:r>
            <a:r>
              <a:rPr sz="63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	</a:t>
            </a:r>
            <a:r>
              <a:rPr sz="63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	</a:t>
            </a:r>
            <a:r>
              <a:rPr sz="630">
                <a:solidFill>
                  <a:srgbClr val="C792EA"/>
                </a:solidFill>
                <a:latin typeface="Consolas"/>
              </a:rPr>
              <a:t>return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D6DEEA"/>
                </a:solidFill>
                <a:latin typeface="Consolas"/>
              </a:rPr>
              <a:t>(</a:t>
            </a:r>
            <a:r>
              <a:rPr sz="630">
                <a:solidFill>
                  <a:srgbClr val="D6DEEA"/>
                </a:solidFill>
                <a:latin typeface="Consolas"/>
              </a:rPr>
              <a:t>*</a:t>
            </a:r>
            <a:r>
              <a:rPr sz="630">
                <a:solidFill>
                  <a:srgbClr val="C792EA"/>
                </a:solidFill>
                <a:latin typeface="Consolas"/>
              </a:rPr>
              <a:t>this</a:t>
            </a:r>
            <a:r>
              <a:rPr sz="630">
                <a:solidFill>
                  <a:srgbClr val="D6DEEA"/>
                </a:solidFill>
                <a:latin typeface="Consolas"/>
              </a:rPr>
              <a:t>)</a:t>
            </a:r>
            <a:r>
              <a:rPr sz="63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630" i="1">
                <a:solidFill>
                  <a:srgbClr val="62738A"/>
                </a:solidFill>
                <a:latin typeface="Consolas"/>
              </a:rPr>
              <a:t>//  the destructor: the brain is released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82AAFF"/>
                </a:solidFill>
                <a:latin typeface="Consolas"/>
              </a:rPr>
              <a:t>Dog</a:t>
            </a:r>
            <a:r>
              <a:rPr sz="630">
                <a:solidFill>
                  <a:srgbClr val="D6DEEA"/>
                </a:solidFill>
                <a:latin typeface="Consolas"/>
              </a:rPr>
              <a:t>:</a:t>
            </a:r>
            <a:r>
              <a:rPr sz="630">
                <a:solidFill>
                  <a:srgbClr val="D6DEEA"/>
                </a:solidFill>
                <a:latin typeface="Consolas"/>
              </a:rPr>
              <a:t>:</a:t>
            </a:r>
            <a:r>
              <a:rPr sz="630">
                <a:solidFill>
                  <a:srgbClr val="D6DEEA"/>
                </a:solidFill>
                <a:latin typeface="Consolas"/>
              </a:rPr>
              <a:t>~</a:t>
            </a:r>
            <a:r>
              <a:rPr sz="630">
                <a:solidFill>
                  <a:srgbClr val="82AAFF"/>
                </a:solidFill>
                <a:latin typeface="Consolas"/>
              </a:rPr>
              <a:t>Dog</a:t>
            </a:r>
            <a:r>
              <a:rPr sz="630">
                <a:solidFill>
                  <a:srgbClr val="D6DEEA"/>
                </a:solidFill>
                <a:latin typeface="Consolas"/>
              </a:rPr>
              <a:t>(</a:t>
            </a:r>
            <a:r>
              <a:rPr sz="63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	</a:t>
            </a:r>
            <a:r>
              <a:rPr sz="630">
                <a:solidFill>
                  <a:srgbClr val="C792EA"/>
                </a:solidFill>
                <a:latin typeface="Consolas"/>
              </a:rPr>
              <a:t>delete</a:t>
            </a:r>
            <a:r>
              <a:rPr sz="630">
                <a:solidFill>
                  <a:srgbClr val="D6DEEA"/>
                </a:solidFill>
                <a:latin typeface="Consolas"/>
              </a:rPr>
              <a:t> </a:t>
            </a:r>
            <a:r>
              <a:rPr sz="630">
                <a:solidFill>
                  <a:srgbClr val="D6DEEA"/>
                </a:solidFill>
                <a:latin typeface="Consolas"/>
              </a:rPr>
              <a:t>brain</a:t>
            </a:r>
            <a:r>
              <a:rPr sz="63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3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8591" y="1444752"/>
            <a:ext cx="5105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three rules of a deep copy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2911" y="1762963"/>
            <a:ext cx="4831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00" i="0">
                <a:solidFill>
                  <a:srgbClr val="5E6E84"/>
                </a:solidFill>
                <a:latin typeface="Segoe UI"/>
              </a:rPr>
              <a:t>Constructor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→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new Brain(*other.brain)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: a brand new brain, filled with a copy of the ideas.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2911" y="2309774"/>
            <a:ext cx="4831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00" i="0">
                <a:solidFill>
                  <a:srgbClr val="5E6E84"/>
                </a:solidFill>
                <a:latin typeface="Segoe UI"/>
              </a:rPr>
              <a:t>Assignment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→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delete brain;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then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new Brain(*other.brain)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: the old brain is released first, otherwise it leaks.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2911" y="2856585"/>
            <a:ext cx="483154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00" i="0">
                <a:solidFill>
                  <a:srgbClr val="5E6E84"/>
                </a:solidFill>
                <a:latin typeface="Segoe UI"/>
              </a:rPr>
              <a:t>Destructor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→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delete brain;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: the brain is released.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8591" y="3174796"/>
            <a:ext cx="5105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What the shallow copy would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2911" y="3493007"/>
            <a:ext cx="483154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brain(other.brain)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copies the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pointer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not the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2911" y="3811218"/>
            <a:ext cx="4831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two dogs then share the same brain → it is deleted twice →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double free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8591" y="4358029"/>
            <a:ext cx="5105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Rule of Three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2911" y="4676240"/>
            <a:ext cx="4831543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A class that owns a raw pointer needs a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copy constructor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an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assignment operator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and a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destructor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the three must be consistent with each other.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C0392B"/>
                </a:solidFill>
                <a:latin typeface="Segoe UI Semibold"/>
              </a:rPr>
              <a:t>EX01 · THE BUG, MADE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ex01 — Proof: what a shallow copy really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The experiment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08785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I wrote the copy constructor as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brain(other.brain)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— a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shallow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copy — and ran it under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-fsanitize=address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72843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program is in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docs/evidence/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run_evidence.sh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replays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36876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What happens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00909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brain is created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once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but destroyed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twice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: the two dogs share the same pointer.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64967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AddressSanitizer catches it immediately: *“attempting double-free”*.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29000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process id and the addresses change at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every run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—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message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does not.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93058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Why it matters for the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57091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This is exactly what the subject is testing: a copy must be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deep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otherwise the program is undefined behaviour.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621149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My real code does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not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have this bug — the test below proves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83103" y="1444752"/>
            <a:ext cx="5531351" cy="3228746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83103" y="1444752"/>
            <a:ext cx="5531351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1119" y="1485900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real output  (the buggy version)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0263" y="1874520"/>
            <a:ext cx="5257031" cy="26618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82AAFF"/>
                </a:solidFill>
                <a:latin typeface="Consolas"/>
              </a:rPr>
              <a:t>Brain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created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82AAFF"/>
                </a:solidFill>
                <a:latin typeface="Consolas"/>
              </a:rPr>
              <a:t>Brain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destroyed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82AAFF"/>
                </a:solidFill>
                <a:latin typeface="Consolas"/>
              </a:rPr>
              <a:t>Brain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destroyed</a:t>
            </a:r>
            <a:r>
              <a:rPr sz="819">
                <a:solidFill>
                  <a:srgbClr val="D6DEEA"/>
                </a:solidFill>
                <a:latin typeface="Consolas"/>
              </a:rPr>
              <a:t>          </a:t>
            </a:r>
            <a:r>
              <a:rPr sz="819">
                <a:solidFill>
                  <a:srgbClr val="D6DEEA"/>
                </a:solidFill>
                <a:latin typeface="Consolas"/>
              </a:rPr>
              <a:t>&lt;</a:t>
            </a:r>
            <a:r>
              <a:rPr sz="819">
                <a:solidFill>
                  <a:srgbClr val="D6DEEA"/>
                </a:solidFill>
                <a:latin typeface="Consolas"/>
              </a:rPr>
              <a:t>-</a:t>
            </a:r>
            <a:r>
              <a:rPr sz="819">
                <a:solidFill>
                  <a:srgbClr val="D6DEEA"/>
                </a:solidFill>
                <a:latin typeface="Consolas"/>
              </a:rPr>
              <a:t>-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deleted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twice</a:t>
            </a:r>
            <a:r>
              <a:rPr sz="819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F78C6C"/>
                </a:solidFill>
                <a:latin typeface="Consolas"/>
              </a:rPr>
              <a:t>3705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D6DEEA"/>
                </a:solidFill>
                <a:latin typeface="Consolas"/>
              </a:rPr>
              <a:t>=</a:t>
            </a:r>
            <a:r>
              <a:rPr sz="819">
                <a:solidFill>
                  <a:srgbClr val="82AAFF"/>
                </a:solidFill>
                <a:latin typeface="Consolas"/>
              </a:rPr>
              <a:t>ERROR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82AAFF"/>
                </a:solidFill>
                <a:latin typeface="Consolas"/>
              </a:rPr>
              <a:t>AddressSanitizer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attempting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double</a:t>
            </a:r>
            <a:r>
              <a:rPr sz="819">
                <a:solidFill>
                  <a:srgbClr val="D6DEEA"/>
                </a:solidFill>
                <a:latin typeface="Consolas"/>
              </a:rPr>
              <a:t>-</a:t>
            </a:r>
            <a:r>
              <a:rPr sz="819">
                <a:solidFill>
                  <a:srgbClr val="D6DEEA"/>
                </a:solidFill>
                <a:latin typeface="Consolas"/>
              </a:rPr>
              <a:t>free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on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0</a:t>
            </a:r>
            <a:r>
              <a:rPr sz="819">
                <a:solidFill>
                  <a:srgbClr val="D6DEEA"/>
                </a:solidFill>
                <a:latin typeface="Consolas"/>
              </a:rPr>
              <a:t>x502000000010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in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thread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82AAFF"/>
                </a:solidFill>
                <a:latin typeface="Consolas"/>
              </a:rPr>
              <a:t>T0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D6DEEA"/>
                </a:solidFill>
                <a:latin typeface="Consolas"/>
              </a:rPr>
              <a:t>    </a:t>
            </a:r>
            <a:r>
              <a:rPr sz="819">
                <a:solidFill>
                  <a:srgbClr val="D6DEEA"/>
                </a:solidFill>
                <a:latin typeface="Consolas"/>
              </a:rPr>
              <a:t>#</a:t>
            </a:r>
            <a:r>
              <a:rPr sz="819">
                <a:solidFill>
                  <a:srgbClr val="F78C6C"/>
                </a:solidFill>
                <a:latin typeface="Consolas"/>
              </a:rPr>
              <a:t>0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in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C792EA"/>
                </a:solidFill>
                <a:latin typeface="Consolas"/>
              </a:rPr>
              <a:t>operator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C792EA"/>
                </a:solidFill>
                <a:latin typeface="Consolas"/>
              </a:rPr>
              <a:t>delete</a:t>
            </a:r>
            <a:r>
              <a:rPr sz="819">
                <a:solidFill>
                  <a:srgbClr val="D6DEEA"/>
                </a:solidFill>
                <a:latin typeface="Consolas"/>
              </a:rPr>
              <a:t>(</a:t>
            </a:r>
            <a:r>
              <a:rPr sz="819">
                <a:solidFill>
                  <a:srgbClr val="C792EA"/>
                </a:solidFill>
                <a:latin typeface="Consolas"/>
              </a:rPr>
              <a:t>void</a:t>
            </a:r>
            <a:r>
              <a:rPr sz="819">
                <a:solidFill>
                  <a:srgbClr val="D6DEEA"/>
                </a:solidFill>
                <a:latin typeface="Consolas"/>
              </a:rPr>
              <a:t>*</a:t>
            </a:r>
            <a:r>
              <a:rPr sz="819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D6DEEA"/>
                </a:solidFill>
                <a:latin typeface="Consolas"/>
              </a:rPr>
              <a:t>    </a:t>
            </a:r>
            <a:r>
              <a:rPr sz="819">
                <a:solidFill>
                  <a:srgbClr val="D6DEEA"/>
                </a:solidFill>
                <a:latin typeface="Consolas"/>
              </a:rPr>
              <a:t>#</a:t>
            </a:r>
            <a:r>
              <a:rPr sz="819">
                <a:solidFill>
                  <a:srgbClr val="F78C6C"/>
                </a:solidFill>
                <a:latin typeface="Consolas"/>
              </a:rPr>
              <a:t>1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in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82AAFF"/>
                </a:solidFill>
                <a:latin typeface="Consolas"/>
              </a:rPr>
              <a:t>Dog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  <a:r>
              <a:rPr sz="819">
                <a:solidFill>
                  <a:srgbClr val="D6DEEA"/>
                </a:solidFill>
                <a:latin typeface="Consolas"/>
              </a:rPr>
              <a:t>~</a:t>
            </a:r>
            <a:r>
              <a:rPr sz="819">
                <a:solidFill>
                  <a:srgbClr val="82AAFF"/>
                </a:solidFill>
                <a:latin typeface="Consolas"/>
              </a:rPr>
              <a:t>Dog</a:t>
            </a:r>
            <a:r>
              <a:rPr sz="819">
                <a:solidFill>
                  <a:srgbClr val="D6DEEA"/>
                </a:solidFill>
                <a:latin typeface="Consolas"/>
              </a:rPr>
              <a:t>(</a:t>
            </a:r>
            <a:r>
              <a:rPr sz="819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D6DEEA"/>
                </a:solidFill>
                <a:latin typeface="Consolas"/>
              </a:rPr>
              <a:t>    </a:t>
            </a:r>
            <a:r>
              <a:rPr sz="819">
                <a:solidFill>
                  <a:srgbClr val="D6DEEA"/>
                </a:solidFill>
                <a:latin typeface="Consolas"/>
              </a:rPr>
              <a:t>#</a:t>
            </a:r>
            <a:r>
              <a:rPr sz="819">
                <a:solidFill>
                  <a:srgbClr val="F78C6C"/>
                </a:solidFill>
                <a:latin typeface="Consolas"/>
              </a:rPr>
              <a:t>2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in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main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D6DEEA"/>
                </a:solidFill>
                <a:latin typeface="Consolas"/>
              </a:rPr>
              <a:t>0</a:t>
            </a:r>
            <a:r>
              <a:rPr sz="819">
                <a:solidFill>
                  <a:srgbClr val="D6DEEA"/>
                </a:solidFill>
                <a:latin typeface="Consolas"/>
              </a:rPr>
              <a:t>x502000000010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is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located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F78C6C"/>
                </a:solidFill>
                <a:latin typeface="Consolas"/>
              </a:rPr>
              <a:t>0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bytes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inside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of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F78C6C"/>
                </a:solidFill>
                <a:latin typeface="Consolas"/>
              </a:rPr>
              <a:t>1</a:t>
            </a:r>
            <a:r>
              <a:rPr sz="819">
                <a:solidFill>
                  <a:srgbClr val="D6DEEA"/>
                </a:solidFill>
                <a:latin typeface="Consolas"/>
              </a:rPr>
              <a:t>-</a:t>
            </a:r>
            <a:r>
              <a:rPr sz="819">
                <a:solidFill>
                  <a:srgbClr val="D6DEEA"/>
                </a:solidFill>
                <a:latin typeface="Consolas"/>
              </a:rPr>
              <a:t>byte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region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D6DEEA"/>
                </a:solidFill>
                <a:latin typeface="Consolas"/>
              </a:rPr>
              <a:t>freed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by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thread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82AAFF"/>
                </a:solidFill>
                <a:latin typeface="Consolas"/>
              </a:rPr>
              <a:t>T0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here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D6DEEA"/>
                </a:solidFill>
                <a:latin typeface="Consolas"/>
              </a:rPr>
              <a:t>    </a:t>
            </a:r>
            <a:r>
              <a:rPr sz="819">
                <a:solidFill>
                  <a:srgbClr val="D6DEEA"/>
                </a:solidFill>
                <a:latin typeface="Consolas"/>
              </a:rPr>
              <a:t>#</a:t>
            </a:r>
            <a:r>
              <a:rPr sz="819">
                <a:solidFill>
                  <a:srgbClr val="F78C6C"/>
                </a:solidFill>
                <a:latin typeface="Consolas"/>
              </a:rPr>
              <a:t>0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in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C792EA"/>
                </a:solidFill>
                <a:latin typeface="Consolas"/>
              </a:rPr>
              <a:t>operator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C792EA"/>
                </a:solidFill>
                <a:latin typeface="Consolas"/>
              </a:rPr>
              <a:t>delete</a:t>
            </a:r>
            <a:r>
              <a:rPr sz="819">
                <a:solidFill>
                  <a:srgbClr val="D6DEEA"/>
                </a:solidFill>
                <a:latin typeface="Consolas"/>
              </a:rPr>
              <a:t>(</a:t>
            </a:r>
            <a:r>
              <a:rPr sz="819">
                <a:solidFill>
                  <a:srgbClr val="C792EA"/>
                </a:solidFill>
                <a:latin typeface="Consolas"/>
              </a:rPr>
              <a:t>void</a:t>
            </a:r>
            <a:r>
              <a:rPr sz="819">
                <a:solidFill>
                  <a:srgbClr val="D6DEEA"/>
                </a:solidFill>
                <a:latin typeface="Consolas"/>
              </a:rPr>
              <a:t>*</a:t>
            </a:r>
            <a:r>
              <a:rPr sz="819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D6DEEA"/>
                </a:solidFill>
                <a:latin typeface="Consolas"/>
              </a:rPr>
              <a:t>    </a:t>
            </a:r>
            <a:r>
              <a:rPr sz="819">
                <a:solidFill>
                  <a:srgbClr val="D6DEEA"/>
                </a:solidFill>
                <a:latin typeface="Consolas"/>
              </a:rPr>
              <a:t>#</a:t>
            </a:r>
            <a:r>
              <a:rPr sz="819">
                <a:solidFill>
                  <a:srgbClr val="F78C6C"/>
                </a:solidFill>
                <a:latin typeface="Consolas"/>
              </a:rPr>
              <a:t>1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in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82AAFF"/>
                </a:solidFill>
                <a:latin typeface="Consolas"/>
              </a:rPr>
              <a:t>Dog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  <a:r>
              <a:rPr sz="819">
                <a:solidFill>
                  <a:srgbClr val="D6DEEA"/>
                </a:solidFill>
                <a:latin typeface="Consolas"/>
              </a:rPr>
              <a:t>~</a:t>
            </a:r>
            <a:r>
              <a:rPr sz="819">
                <a:solidFill>
                  <a:srgbClr val="82AAFF"/>
                </a:solidFill>
                <a:latin typeface="Consolas"/>
              </a:rPr>
              <a:t>Dog</a:t>
            </a:r>
            <a:r>
              <a:rPr sz="819">
                <a:solidFill>
                  <a:srgbClr val="D6DEEA"/>
                </a:solidFill>
                <a:latin typeface="Consolas"/>
              </a:rPr>
              <a:t>(</a:t>
            </a:r>
            <a:r>
              <a:rPr sz="819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D6DEEA"/>
                </a:solidFill>
                <a:latin typeface="Consolas"/>
              </a:rPr>
              <a:t>    </a:t>
            </a:r>
            <a:r>
              <a:rPr sz="819">
                <a:solidFill>
                  <a:srgbClr val="D6DEEA"/>
                </a:solidFill>
                <a:latin typeface="Consolas"/>
              </a:rPr>
              <a:t>#</a:t>
            </a:r>
            <a:r>
              <a:rPr sz="819">
                <a:solidFill>
                  <a:srgbClr val="F78C6C"/>
                </a:solidFill>
                <a:latin typeface="Consolas"/>
              </a:rPr>
              <a:t>2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in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main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D6DEEA"/>
                </a:solidFill>
                <a:latin typeface="Consolas"/>
              </a:rPr>
              <a:t>previously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allocated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by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thread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82AAFF"/>
                </a:solidFill>
                <a:latin typeface="Consolas"/>
              </a:rPr>
              <a:t>T0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here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D6DEEA"/>
                </a:solidFill>
                <a:latin typeface="Consolas"/>
              </a:rPr>
              <a:t>    </a:t>
            </a:r>
            <a:r>
              <a:rPr sz="819">
                <a:solidFill>
                  <a:srgbClr val="D6DEEA"/>
                </a:solidFill>
                <a:latin typeface="Consolas"/>
              </a:rPr>
              <a:t>#</a:t>
            </a:r>
            <a:r>
              <a:rPr sz="819">
                <a:solidFill>
                  <a:srgbClr val="F78C6C"/>
                </a:solidFill>
                <a:latin typeface="Consolas"/>
              </a:rPr>
              <a:t>0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in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C792EA"/>
                </a:solidFill>
                <a:latin typeface="Consolas"/>
              </a:rPr>
              <a:t>operator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C792EA"/>
                </a:solidFill>
                <a:latin typeface="Consolas"/>
              </a:rPr>
              <a:t>new</a:t>
            </a:r>
            <a:r>
              <a:rPr sz="819">
                <a:solidFill>
                  <a:srgbClr val="D6DEEA"/>
                </a:solidFill>
                <a:latin typeface="Consolas"/>
              </a:rPr>
              <a:t>(</a:t>
            </a:r>
            <a:r>
              <a:rPr sz="819">
                <a:solidFill>
                  <a:srgbClr val="C792EA"/>
                </a:solidFill>
                <a:latin typeface="Consolas"/>
              </a:rPr>
              <a:t>unsigned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long</a:t>
            </a:r>
            <a:r>
              <a:rPr sz="819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D6DEEA"/>
                </a:solidFill>
                <a:latin typeface="Consolas"/>
              </a:rPr>
              <a:t>    </a:t>
            </a:r>
            <a:r>
              <a:rPr sz="819">
                <a:solidFill>
                  <a:srgbClr val="D6DEEA"/>
                </a:solidFill>
                <a:latin typeface="Consolas"/>
              </a:rPr>
              <a:t>#</a:t>
            </a:r>
            <a:r>
              <a:rPr sz="819">
                <a:solidFill>
                  <a:srgbClr val="F78C6C"/>
                </a:solidFill>
                <a:latin typeface="Consolas"/>
              </a:rPr>
              <a:t>1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in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82AAFF"/>
                </a:solidFill>
                <a:latin typeface="Consolas"/>
              </a:rPr>
              <a:t>Dog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  <a:r>
              <a:rPr sz="819">
                <a:solidFill>
                  <a:srgbClr val="82AAFF"/>
                </a:solidFill>
                <a:latin typeface="Consolas"/>
              </a:rPr>
              <a:t>Dog</a:t>
            </a:r>
            <a:r>
              <a:rPr sz="819">
                <a:solidFill>
                  <a:srgbClr val="D6DEEA"/>
                </a:solidFill>
                <a:latin typeface="Consolas"/>
              </a:rPr>
              <a:t>(</a:t>
            </a:r>
            <a:r>
              <a:rPr sz="819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D6DEEA"/>
                </a:solidFill>
                <a:latin typeface="Consolas"/>
              </a:rPr>
              <a:t>    </a:t>
            </a:r>
            <a:r>
              <a:rPr sz="819">
                <a:solidFill>
                  <a:srgbClr val="D6DEEA"/>
                </a:solidFill>
                <a:latin typeface="Consolas"/>
              </a:rPr>
              <a:t>#</a:t>
            </a:r>
            <a:r>
              <a:rPr sz="819">
                <a:solidFill>
                  <a:srgbClr val="F78C6C"/>
                </a:solidFill>
                <a:latin typeface="Consolas"/>
              </a:rPr>
              <a:t>2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.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in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main</a:t>
            </a:r>
          </a:p>
          <a:p>
            <a:pPr>
              <a:lnSpc>
                <a:spcPct val="118000"/>
              </a:lnSpc>
              <a:buNone/>
            </a:pPr>
            <a:r>
              <a:rPr sz="819">
                <a:solidFill>
                  <a:srgbClr val="82AAFF"/>
                </a:solidFill>
                <a:latin typeface="Consolas"/>
              </a:rPr>
              <a:t>SUMMARY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82AAFF"/>
                </a:solidFill>
                <a:latin typeface="Consolas"/>
              </a:rPr>
              <a:t>AddressSanitizer</a:t>
            </a:r>
            <a:r>
              <a:rPr sz="819">
                <a:solidFill>
                  <a:srgbClr val="D6DEEA"/>
                </a:solidFill>
                <a:latin typeface="Consolas"/>
              </a:rPr>
              <a:t>: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double</a:t>
            </a:r>
            <a:r>
              <a:rPr sz="819">
                <a:solidFill>
                  <a:srgbClr val="D6DEEA"/>
                </a:solidFill>
                <a:latin typeface="Consolas"/>
              </a:rPr>
              <a:t>-</a:t>
            </a:r>
            <a:r>
              <a:rPr sz="819">
                <a:solidFill>
                  <a:srgbClr val="D6DEEA"/>
                </a:solidFill>
                <a:latin typeface="Consolas"/>
              </a:rPr>
              <a:t>free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D6DEEA"/>
                </a:solidFill>
                <a:latin typeface="Consolas"/>
              </a:rPr>
              <a:t>in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C792EA"/>
                </a:solidFill>
                <a:latin typeface="Consolas"/>
              </a:rPr>
              <a:t>operator</a:t>
            </a:r>
            <a:r>
              <a:rPr sz="819">
                <a:solidFill>
                  <a:srgbClr val="D6DEEA"/>
                </a:solidFill>
                <a:latin typeface="Consolas"/>
              </a:rPr>
              <a:t> </a:t>
            </a:r>
            <a:r>
              <a:rPr sz="819">
                <a:solidFill>
                  <a:srgbClr val="C792EA"/>
                </a:solidFill>
                <a:latin typeface="Consolas"/>
              </a:rPr>
              <a:t>delete</a:t>
            </a:r>
            <a:r>
              <a:rPr sz="819">
                <a:solidFill>
                  <a:srgbClr val="D6DEEA"/>
                </a:solidFill>
                <a:latin typeface="Consolas"/>
              </a:rPr>
              <a:t>(</a:t>
            </a:r>
            <a:r>
              <a:rPr sz="819">
                <a:solidFill>
                  <a:srgbClr val="C792EA"/>
                </a:solidFill>
                <a:latin typeface="Consolas"/>
              </a:rPr>
              <a:t>void</a:t>
            </a:r>
            <a:r>
              <a:rPr sz="819">
                <a:solidFill>
                  <a:srgbClr val="D6DEEA"/>
                </a:solidFill>
                <a:latin typeface="Consolas"/>
              </a:rPr>
              <a:t>*</a:t>
            </a:r>
            <a:r>
              <a:rPr sz="819">
                <a:solidFill>
                  <a:srgbClr val="D6DEEA"/>
                </a:solidFill>
                <a:latin typeface="Consolas"/>
              </a:rPr>
              <a:t>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83103" y="4773168"/>
            <a:ext cx="5531351" cy="1230579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83103" y="4773168"/>
            <a:ext cx="5531351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11119" y="4814316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my real code (ex01)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0263" y="5202936"/>
            <a:ext cx="5257031" cy="6636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82AAFF"/>
                </a:solidFill>
                <a:latin typeface="Consolas"/>
              </a:rPr>
              <a:t>Brain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C792EA"/>
                </a:solidFill>
                <a:latin typeface="Consolas"/>
              </a:rPr>
              <a:t>new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brain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has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been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created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82AAFF"/>
                </a:solidFill>
                <a:latin typeface="Consolas"/>
              </a:rPr>
              <a:t>Brain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copy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of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brain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has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been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created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D6DEEA"/>
                </a:solidFill>
                <a:latin typeface="Consolas"/>
              </a:rPr>
              <a:t>the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original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dog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thinks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82AAFF"/>
                </a:solidFill>
                <a:latin typeface="Consolas"/>
              </a:rPr>
              <a:t>I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want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to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play</a:t>
            </a:r>
            <a:r>
              <a:rPr sz="919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D6DEEA"/>
                </a:solidFill>
                <a:latin typeface="Consolas"/>
              </a:rPr>
              <a:t>the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copy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of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the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dog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thinks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82AAFF"/>
                </a:solidFill>
                <a:latin typeface="Consolas"/>
              </a:rPr>
              <a:t>I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want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to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sleep</a:t>
            </a:r>
            <a:r>
              <a:rPr sz="919">
                <a:solidFill>
                  <a:srgbClr val="D6DEEA"/>
                </a:solidFill>
                <a:latin typeface="Consolas"/>
              </a:rPr>
              <a:t>!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773168"/>
            <a:ext cx="4786746" cy="128016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773168"/>
            <a:ext cx="50292" cy="128016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" y="4892040"/>
            <a:ext cx="438441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1F8A7A"/>
                </a:solidFill>
                <a:latin typeface="Segoe UI Semibold"/>
              </a:rPr>
              <a:t>The proof of a deep copy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The original thinks *“I want to play!”* and the copy thinks *“I want to sleep!”* → they have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two different brains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. With a shallow copy they would share one, and the last write would win.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EX01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ex01 — An array of ten animals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318607" cy="4130446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318607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0625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src/main.cpp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044287" cy="35635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82AAFF"/>
                </a:solidFill>
                <a:latin typeface="Consolas"/>
              </a:rPr>
              <a:t>Animal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*</a:t>
            </a:r>
            <a:r>
              <a:rPr sz="760">
                <a:solidFill>
                  <a:srgbClr val="D6DEEA"/>
                </a:solidFill>
                <a:latin typeface="Consolas"/>
              </a:rPr>
              <a:t>animals</a:t>
            </a:r>
            <a:r>
              <a:rPr sz="760">
                <a:solidFill>
                  <a:srgbClr val="D6DEEA"/>
                </a:solidFill>
                <a:latin typeface="Consolas"/>
              </a:rPr>
              <a:t>[</a:t>
            </a:r>
            <a:r>
              <a:rPr sz="760">
                <a:solidFill>
                  <a:srgbClr val="F78C6C"/>
                </a:solidFill>
                <a:latin typeface="Consolas"/>
              </a:rPr>
              <a:t>10</a:t>
            </a:r>
            <a:r>
              <a:rPr sz="760">
                <a:solidFill>
                  <a:srgbClr val="D6DEEA"/>
                </a:solidFill>
                <a:latin typeface="Consolas"/>
              </a:rPr>
              <a:t>]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C792EA"/>
                </a:solidFill>
                <a:latin typeface="Consolas"/>
              </a:rPr>
              <a:t>for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(</a:t>
            </a:r>
            <a:r>
              <a:rPr sz="760">
                <a:solidFill>
                  <a:srgbClr val="C792EA"/>
                </a:solidFill>
                <a:latin typeface="Consolas"/>
              </a:rPr>
              <a:t>int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=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F78C6C"/>
                </a:solidFill>
                <a:latin typeface="Consolas"/>
              </a:rPr>
              <a:t>0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&lt;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F78C6C"/>
                </a:solidFill>
                <a:latin typeface="Consolas"/>
              </a:rPr>
              <a:t>10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+</a:t>
            </a:r>
            <a:r>
              <a:rPr sz="760">
                <a:solidFill>
                  <a:srgbClr val="D6DEEA"/>
                </a:solidFill>
                <a:latin typeface="Consolas"/>
              </a:rPr>
              <a:t>+</a:t>
            </a:r>
            <a:r>
              <a:rPr sz="76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</a:t>
            </a:r>
            <a:r>
              <a:rPr sz="760">
                <a:solidFill>
                  <a:srgbClr val="C792EA"/>
                </a:solidFill>
                <a:latin typeface="Consolas"/>
              </a:rPr>
              <a:t>if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(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%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F78C6C"/>
                </a:solidFill>
                <a:latin typeface="Consolas"/>
              </a:rPr>
              <a:t>2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=</a:t>
            </a:r>
            <a:r>
              <a:rPr sz="760">
                <a:solidFill>
                  <a:srgbClr val="D6DEEA"/>
                </a:solidFill>
                <a:latin typeface="Consolas"/>
              </a:rPr>
              <a:t>=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F78C6C"/>
                </a:solidFill>
                <a:latin typeface="Consolas"/>
              </a:rPr>
              <a:t>0</a:t>
            </a:r>
            <a:r>
              <a:rPr sz="76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</a:t>
            </a:r>
            <a:r>
              <a:rPr sz="76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	</a:t>
            </a:r>
            <a:r>
              <a:rPr sz="760">
                <a:solidFill>
                  <a:srgbClr val="82AAFF"/>
                </a:solidFill>
                <a:latin typeface="Consolas"/>
              </a:rPr>
              <a:t>Dog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*</a:t>
            </a:r>
            <a:r>
              <a:rPr sz="760">
                <a:solidFill>
                  <a:srgbClr val="D6DEEA"/>
                </a:solidFill>
                <a:latin typeface="Consolas"/>
              </a:rPr>
              <a:t>dog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=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C792EA"/>
                </a:solidFill>
                <a:latin typeface="Consolas"/>
              </a:rPr>
              <a:t>new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82AAFF"/>
                </a:solidFill>
                <a:latin typeface="Consolas"/>
              </a:rPr>
              <a:t>Dog</a:t>
            </a:r>
            <a:r>
              <a:rPr sz="760">
                <a:solidFill>
                  <a:srgbClr val="D6DEEA"/>
                </a:solidFill>
                <a:latin typeface="Consolas"/>
              </a:rPr>
              <a:t>(</a:t>
            </a:r>
            <a:r>
              <a:rPr sz="760">
                <a:solidFill>
                  <a:srgbClr val="D6DEEA"/>
                </a:solidFill>
                <a:latin typeface="Consolas"/>
              </a:rPr>
              <a:t>)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	</a:t>
            </a:r>
            <a:r>
              <a:rPr sz="760">
                <a:solidFill>
                  <a:srgbClr val="D6DEEA"/>
                </a:solidFill>
                <a:latin typeface="Consolas"/>
              </a:rPr>
              <a:t>dog</a:t>
            </a:r>
            <a:r>
              <a:rPr sz="760">
                <a:solidFill>
                  <a:srgbClr val="D6DEEA"/>
                </a:solidFill>
                <a:latin typeface="Consolas"/>
              </a:rPr>
              <a:t>-</a:t>
            </a:r>
            <a:r>
              <a:rPr sz="760">
                <a:solidFill>
                  <a:srgbClr val="D6DEEA"/>
                </a:solidFill>
                <a:latin typeface="Consolas"/>
              </a:rPr>
              <a:t>&gt;</a:t>
            </a:r>
            <a:r>
              <a:rPr sz="760">
                <a:solidFill>
                  <a:srgbClr val="D6DEEA"/>
                </a:solidFill>
                <a:latin typeface="Consolas"/>
              </a:rPr>
              <a:t>setIdea</a:t>
            </a:r>
            <a:r>
              <a:rPr sz="760">
                <a:solidFill>
                  <a:srgbClr val="D6DEEA"/>
                </a:solidFill>
                <a:latin typeface="Consolas"/>
              </a:rPr>
              <a:t>(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,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ECC48D"/>
                </a:solidFill>
                <a:latin typeface="Consolas"/>
              </a:rPr>
              <a:t>"I want to play!"</a:t>
            </a:r>
            <a:r>
              <a:rPr sz="760">
                <a:solidFill>
                  <a:srgbClr val="D6DEEA"/>
                </a:solidFill>
                <a:latin typeface="Consolas"/>
              </a:rPr>
              <a:t>)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	</a:t>
            </a:r>
            <a:r>
              <a:rPr sz="760">
                <a:solidFill>
                  <a:srgbClr val="D6DEEA"/>
                </a:solidFill>
                <a:latin typeface="Consolas"/>
              </a:rPr>
              <a:t>animals</a:t>
            </a:r>
            <a:r>
              <a:rPr sz="760">
                <a:solidFill>
                  <a:srgbClr val="D6DEEA"/>
                </a:solidFill>
                <a:latin typeface="Consolas"/>
              </a:rPr>
              <a:t>[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]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=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dog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</a:t>
            </a:r>
            <a:r>
              <a:rPr sz="76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</a:t>
            </a:r>
            <a:r>
              <a:rPr sz="760">
                <a:solidFill>
                  <a:srgbClr val="C792EA"/>
                </a:solidFill>
                <a:latin typeface="Consolas"/>
              </a:rPr>
              <a:t>else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</a:t>
            </a:r>
            <a:r>
              <a:rPr sz="76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	</a:t>
            </a:r>
            <a:r>
              <a:rPr sz="760">
                <a:solidFill>
                  <a:srgbClr val="82AAFF"/>
                </a:solidFill>
                <a:latin typeface="Consolas"/>
              </a:rPr>
              <a:t>Cat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*</a:t>
            </a:r>
            <a:r>
              <a:rPr sz="760">
                <a:solidFill>
                  <a:srgbClr val="D6DEEA"/>
                </a:solidFill>
                <a:latin typeface="Consolas"/>
              </a:rPr>
              <a:t>cat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=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C792EA"/>
                </a:solidFill>
                <a:latin typeface="Consolas"/>
              </a:rPr>
              <a:t>new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82AAFF"/>
                </a:solidFill>
                <a:latin typeface="Consolas"/>
              </a:rPr>
              <a:t>Cat</a:t>
            </a:r>
            <a:r>
              <a:rPr sz="760">
                <a:solidFill>
                  <a:srgbClr val="D6DEEA"/>
                </a:solidFill>
                <a:latin typeface="Consolas"/>
              </a:rPr>
              <a:t>(</a:t>
            </a:r>
            <a:r>
              <a:rPr sz="760">
                <a:solidFill>
                  <a:srgbClr val="D6DEEA"/>
                </a:solidFill>
                <a:latin typeface="Consolas"/>
              </a:rPr>
              <a:t>)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	</a:t>
            </a:r>
            <a:r>
              <a:rPr sz="760">
                <a:solidFill>
                  <a:srgbClr val="D6DEEA"/>
                </a:solidFill>
                <a:latin typeface="Consolas"/>
              </a:rPr>
              <a:t>cat</a:t>
            </a:r>
            <a:r>
              <a:rPr sz="760">
                <a:solidFill>
                  <a:srgbClr val="D6DEEA"/>
                </a:solidFill>
                <a:latin typeface="Consolas"/>
              </a:rPr>
              <a:t>-</a:t>
            </a:r>
            <a:r>
              <a:rPr sz="760">
                <a:solidFill>
                  <a:srgbClr val="D6DEEA"/>
                </a:solidFill>
                <a:latin typeface="Consolas"/>
              </a:rPr>
              <a:t>&gt;</a:t>
            </a:r>
            <a:r>
              <a:rPr sz="760">
                <a:solidFill>
                  <a:srgbClr val="D6DEEA"/>
                </a:solidFill>
                <a:latin typeface="Consolas"/>
              </a:rPr>
              <a:t>setIdea</a:t>
            </a:r>
            <a:r>
              <a:rPr sz="760">
                <a:solidFill>
                  <a:srgbClr val="D6DEEA"/>
                </a:solidFill>
                <a:latin typeface="Consolas"/>
              </a:rPr>
              <a:t>(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,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ECC48D"/>
                </a:solidFill>
                <a:latin typeface="Consolas"/>
              </a:rPr>
              <a:t>"I want some food!"</a:t>
            </a:r>
            <a:r>
              <a:rPr sz="760">
                <a:solidFill>
                  <a:srgbClr val="D6DEEA"/>
                </a:solidFill>
                <a:latin typeface="Consolas"/>
              </a:rPr>
              <a:t>)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	</a:t>
            </a:r>
            <a:r>
              <a:rPr sz="760">
                <a:solidFill>
                  <a:srgbClr val="D6DEEA"/>
                </a:solidFill>
                <a:latin typeface="Consolas"/>
              </a:rPr>
              <a:t>animals</a:t>
            </a:r>
            <a:r>
              <a:rPr sz="760">
                <a:solidFill>
                  <a:srgbClr val="D6DEEA"/>
                </a:solidFill>
                <a:latin typeface="Consolas"/>
              </a:rPr>
              <a:t>[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]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=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cat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</a:t>
            </a:r>
            <a:r>
              <a:rPr sz="76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C792EA"/>
                </a:solidFill>
                <a:latin typeface="Consolas"/>
              </a:rPr>
              <a:t>for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(</a:t>
            </a:r>
            <a:r>
              <a:rPr sz="760">
                <a:solidFill>
                  <a:srgbClr val="C792EA"/>
                </a:solidFill>
                <a:latin typeface="Consolas"/>
              </a:rPr>
              <a:t>int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=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F78C6C"/>
                </a:solidFill>
                <a:latin typeface="Consolas"/>
              </a:rPr>
              <a:t>0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&lt;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F78C6C"/>
                </a:solidFill>
                <a:latin typeface="Consolas"/>
              </a:rPr>
              <a:t>10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+</a:t>
            </a:r>
            <a:r>
              <a:rPr sz="760">
                <a:solidFill>
                  <a:srgbClr val="D6DEEA"/>
                </a:solidFill>
                <a:latin typeface="Consolas"/>
              </a:rPr>
              <a:t>+</a:t>
            </a:r>
            <a:r>
              <a:rPr sz="76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</a:t>
            </a:r>
            <a:r>
              <a:rPr sz="760">
                <a:solidFill>
                  <a:srgbClr val="C792EA"/>
                </a:solidFill>
                <a:latin typeface="Consolas"/>
              </a:rPr>
              <a:t>std</a:t>
            </a:r>
            <a:r>
              <a:rPr sz="760">
                <a:solidFill>
                  <a:srgbClr val="D6DEEA"/>
                </a:solidFill>
                <a:latin typeface="Consolas"/>
              </a:rPr>
              <a:t>:</a:t>
            </a:r>
            <a:r>
              <a:rPr sz="760">
                <a:solidFill>
                  <a:srgbClr val="D6DEEA"/>
                </a:solidFill>
                <a:latin typeface="Consolas"/>
              </a:rPr>
              <a:t>:</a:t>
            </a:r>
            <a:r>
              <a:rPr sz="760">
                <a:solidFill>
                  <a:srgbClr val="D6DEEA"/>
                </a:solidFill>
                <a:latin typeface="Consolas"/>
              </a:rPr>
              <a:t>cout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&lt;</a:t>
            </a:r>
            <a:r>
              <a:rPr sz="760">
                <a:solidFill>
                  <a:srgbClr val="D6DEEA"/>
                </a:solidFill>
                <a:latin typeface="Consolas"/>
              </a:rPr>
              <a:t>&lt;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ECC48D"/>
                </a:solidFill>
                <a:latin typeface="Consolas"/>
              </a:rPr>
              <a:t>"animal "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&lt;</a:t>
            </a:r>
            <a:r>
              <a:rPr sz="760">
                <a:solidFill>
                  <a:srgbClr val="D6DEEA"/>
                </a:solidFill>
                <a:latin typeface="Consolas"/>
              </a:rPr>
              <a:t>&lt;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&lt;</a:t>
            </a:r>
            <a:r>
              <a:rPr sz="760">
                <a:solidFill>
                  <a:srgbClr val="D6DEEA"/>
                </a:solidFill>
                <a:latin typeface="Consolas"/>
              </a:rPr>
              <a:t>&lt;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ECC48D"/>
                </a:solidFill>
                <a:latin typeface="Consolas"/>
              </a:rPr>
              <a:t>" is a "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		  </a:t>
            </a:r>
            <a:r>
              <a:rPr sz="760">
                <a:solidFill>
                  <a:srgbClr val="D6DEEA"/>
                </a:solidFill>
                <a:latin typeface="Consolas"/>
              </a:rPr>
              <a:t>&lt;</a:t>
            </a:r>
            <a:r>
              <a:rPr sz="760">
                <a:solidFill>
                  <a:srgbClr val="D6DEEA"/>
                </a:solidFill>
                <a:latin typeface="Consolas"/>
              </a:rPr>
              <a:t>&lt;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animals</a:t>
            </a:r>
            <a:r>
              <a:rPr sz="760">
                <a:solidFill>
                  <a:srgbClr val="D6DEEA"/>
                </a:solidFill>
                <a:latin typeface="Consolas"/>
              </a:rPr>
              <a:t>[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]</a:t>
            </a:r>
            <a:r>
              <a:rPr sz="760">
                <a:solidFill>
                  <a:srgbClr val="D6DEEA"/>
                </a:solidFill>
                <a:latin typeface="Consolas"/>
              </a:rPr>
              <a:t>-</a:t>
            </a:r>
            <a:r>
              <a:rPr sz="760">
                <a:solidFill>
                  <a:srgbClr val="D6DEEA"/>
                </a:solidFill>
                <a:latin typeface="Consolas"/>
              </a:rPr>
              <a:t>&gt;</a:t>
            </a:r>
            <a:r>
              <a:rPr sz="760">
                <a:solidFill>
                  <a:srgbClr val="D6DEEA"/>
                </a:solidFill>
                <a:latin typeface="Consolas"/>
              </a:rPr>
              <a:t>getType</a:t>
            </a:r>
            <a:r>
              <a:rPr sz="760">
                <a:solidFill>
                  <a:srgbClr val="D6DEEA"/>
                </a:solidFill>
                <a:latin typeface="Consolas"/>
              </a:rPr>
              <a:t>(</a:t>
            </a:r>
            <a:r>
              <a:rPr sz="760">
                <a:solidFill>
                  <a:srgbClr val="D6DEEA"/>
                </a:solidFill>
                <a:latin typeface="Consolas"/>
              </a:rPr>
              <a:t>)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&lt;</a:t>
            </a:r>
            <a:r>
              <a:rPr sz="760">
                <a:solidFill>
                  <a:srgbClr val="D6DEEA"/>
                </a:solidFill>
                <a:latin typeface="Consolas"/>
              </a:rPr>
              <a:t>&lt;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C792EA"/>
                </a:solidFill>
                <a:latin typeface="Consolas"/>
              </a:rPr>
              <a:t>std</a:t>
            </a:r>
            <a:r>
              <a:rPr sz="760">
                <a:solidFill>
                  <a:srgbClr val="D6DEEA"/>
                </a:solidFill>
                <a:latin typeface="Consolas"/>
              </a:rPr>
              <a:t>:</a:t>
            </a:r>
            <a:r>
              <a:rPr sz="760">
                <a:solidFill>
                  <a:srgbClr val="D6DEEA"/>
                </a:solidFill>
                <a:latin typeface="Consolas"/>
              </a:rPr>
              <a:t>:</a:t>
            </a:r>
            <a:r>
              <a:rPr sz="760">
                <a:solidFill>
                  <a:srgbClr val="D6DEEA"/>
                </a:solidFill>
                <a:latin typeface="Consolas"/>
              </a:rPr>
              <a:t>endl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</a:t>
            </a:r>
            <a:r>
              <a:rPr sz="760">
                <a:solidFill>
                  <a:srgbClr val="D6DEEA"/>
                </a:solidFill>
                <a:latin typeface="Consolas"/>
              </a:rPr>
              <a:t>animals</a:t>
            </a:r>
            <a:r>
              <a:rPr sz="760">
                <a:solidFill>
                  <a:srgbClr val="D6DEEA"/>
                </a:solidFill>
                <a:latin typeface="Consolas"/>
              </a:rPr>
              <a:t>[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]</a:t>
            </a:r>
            <a:r>
              <a:rPr sz="760">
                <a:solidFill>
                  <a:srgbClr val="D6DEEA"/>
                </a:solidFill>
                <a:latin typeface="Consolas"/>
              </a:rPr>
              <a:t>-</a:t>
            </a:r>
            <a:r>
              <a:rPr sz="760">
                <a:solidFill>
                  <a:srgbClr val="D6DEEA"/>
                </a:solidFill>
                <a:latin typeface="Consolas"/>
              </a:rPr>
              <a:t>&gt;</a:t>
            </a:r>
            <a:r>
              <a:rPr sz="760">
                <a:solidFill>
                  <a:srgbClr val="D6DEEA"/>
                </a:solidFill>
                <a:latin typeface="Consolas"/>
              </a:rPr>
              <a:t>makeSound</a:t>
            </a:r>
            <a:r>
              <a:rPr sz="760">
                <a:solidFill>
                  <a:srgbClr val="D6DEEA"/>
                </a:solidFill>
                <a:latin typeface="Consolas"/>
              </a:rPr>
              <a:t>(</a:t>
            </a:r>
            <a:r>
              <a:rPr sz="760">
                <a:solidFill>
                  <a:srgbClr val="D6DEEA"/>
                </a:solidFill>
                <a:latin typeface="Consolas"/>
              </a:rPr>
              <a:t>)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C792EA"/>
                </a:solidFill>
                <a:latin typeface="Consolas"/>
              </a:rPr>
              <a:t>for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(</a:t>
            </a:r>
            <a:r>
              <a:rPr sz="760">
                <a:solidFill>
                  <a:srgbClr val="C792EA"/>
                </a:solidFill>
                <a:latin typeface="Consolas"/>
              </a:rPr>
              <a:t>int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=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F78C6C"/>
                </a:solidFill>
                <a:latin typeface="Consolas"/>
              </a:rPr>
              <a:t>0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&lt;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F78C6C"/>
                </a:solidFill>
                <a:latin typeface="Consolas"/>
              </a:rPr>
              <a:t>10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+</a:t>
            </a:r>
            <a:r>
              <a:rPr sz="760">
                <a:solidFill>
                  <a:srgbClr val="D6DEEA"/>
                </a:solidFill>
                <a:latin typeface="Consolas"/>
              </a:rPr>
              <a:t>+</a:t>
            </a:r>
            <a:r>
              <a:rPr sz="76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60">
                <a:solidFill>
                  <a:srgbClr val="D6DEEA"/>
                </a:solidFill>
                <a:latin typeface="Consolas"/>
              </a:rPr>
              <a:t>	</a:t>
            </a:r>
            <a:r>
              <a:rPr sz="760">
                <a:solidFill>
                  <a:srgbClr val="C792EA"/>
                </a:solidFill>
                <a:latin typeface="Consolas"/>
              </a:rPr>
              <a:t>delete</a:t>
            </a:r>
            <a:r>
              <a:rPr sz="760">
                <a:solidFill>
                  <a:srgbClr val="D6DEEA"/>
                </a:solidFill>
                <a:latin typeface="Consolas"/>
              </a:rPr>
              <a:t> </a:t>
            </a:r>
            <a:r>
              <a:rPr sz="760">
                <a:solidFill>
                  <a:srgbClr val="D6DEEA"/>
                </a:solidFill>
                <a:latin typeface="Consolas"/>
              </a:rPr>
              <a:t>animals</a:t>
            </a:r>
            <a:r>
              <a:rPr sz="760">
                <a:solidFill>
                  <a:srgbClr val="D6DEEA"/>
                </a:solidFill>
                <a:latin typeface="Consolas"/>
              </a:rPr>
              <a:t>[</a:t>
            </a:r>
            <a:r>
              <a:rPr sz="760">
                <a:solidFill>
                  <a:srgbClr val="D6DEEA"/>
                </a:solidFill>
                <a:latin typeface="Consolas"/>
              </a:rPr>
              <a:t>i</a:t>
            </a:r>
            <a:r>
              <a:rPr sz="760">
                <a:solidFill>
                  <a:srgbClr val="D6DEEA"/>
                </a:solidFill>
                <a:latin typeface="Consolas"/>
              </a:rPr>
              <a:t>]</a:t>
            </a:r>
            <a:r>
              <a:rPr sz="760">
                <a:solidFill>
                  <a:srgbClr val="D6DEEA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963" y="1444752"/>
            <a:ext cx="499949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What this exercises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9283" y="1762963"/>
            <a:ext cx="47251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array is declared as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Animal *animals[10]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one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type, ten different objects.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9283" y="2309774"/>
            <a:ext cx="47251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Each element points to a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Dog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or a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Cat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; the array itself knows nothing about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9283" y="2856585"/>
            <a:ext cx="47251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getType()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makeSound()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are called through the base pointer → the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real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behaviour of each animal.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963" y="3403396"/>
            <a:ext cx="499949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ownership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9283" y="3721607"/>
            <a:ext cx="472517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main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creates the animals with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new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→ the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main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owns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9283" y="4039818"/>
            <a:ext cx="47251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It deletes them through the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Animal *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→ the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virtual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destructor makes sure the brain is released too.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963" y="4586629"/>
            <a:ext cx="499949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result in the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9283" y="4904840"/>
            <a:ext cx="472517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10 animals, 10 different sounds, and 10 brains destroyed — no leak.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EX01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ex01 — Runtime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956840" cy="4465878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956840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700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terminal  ·  ./ex01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682520" cy="389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testArrayOfAnimals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F78C6C"/>
                </a:solidFill>
                <a:latin typeface="Consolas"/>
              </a:rPr>
              <a:t>0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Dog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Woof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woof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F78C6C"/>
                </a:solidFill>
                <a:latin typeface="Consolas"/>
              </a:rPr>
              <a:t>1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Cat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Meow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meow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F78C6C"/>
                </a:solidFill>
                <a:latin typeface="Consolas"/>
              </a:rPr>
              <a:t>2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Dog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Woof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woof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F78C6C"/>
                </a:solidFill>
                <a:latin typeface="Consolas"/>
              </a:rPr>
              <a:t>9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Cat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Meow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meow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(</a:t>
            </a:r>
            <a:r>
              <a:rPr sz="940">
                <a:solidFill>
                  <a:srgbClr val="D6DEEA"/>
                </a:solidFill>
                <a:latin typeface="Consolas"/>
              </a:rPr>
              <a:t>every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deleted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through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pointer</a:t>
            </a:r>
            <a:r>
              <a:rPr sz="94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Dog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dog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destroyed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Brain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brain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destroyed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Dog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destroyed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Cat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cat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destroyed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Brain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brain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destroyed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Cat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destroyed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testDeepCopy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original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dog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thinks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I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want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to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play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copy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of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dog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thinks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I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want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to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sleep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original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cat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thinks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I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want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some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food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copy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of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cat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thinks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I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want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to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nap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10" y="1444752"/>
            <a:ext cx="441444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What the output proves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4330" y="1783461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array of 10 base pointers produces the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right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sound for each animal.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4330" y="2360295"/>
            <a:ext cx="4140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Each destruction prints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3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lines: the derived destructor, then *“Brain: a brain has been destroyed.”*, then the base destructor → the brain is released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exactly once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4330" y="3413379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original and the copy think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different things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the brain was copied deeply.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4330" y="3990213"/>
            <a:ext cx="4140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assignment (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catCopy = catOriginal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) also prints *“Brain: a brain has been destroyed.”*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before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*“Brain: a copy of a brain has been created.”* → the old brain is released first.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PART 3 · EX02 · THE PURE VIRTUAL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ex02 — Abstract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99949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The subject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08785"/>
            <a:ext cx="472517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986" i="0">
                <a:solidFill>
                  <a:srgbClr val="1F8A7A"/>
                </a:solidFill>
                <a:latin typeface="Consolas"/>
              </a:rPr>
              <a:t>Animal::makeSound()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becomes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pure virtual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72818"/>
            <a:ext cx="472517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class becomes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abstract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: it cannot be instantiated anymore.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6851"/>
            <a:ext cx="472517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Everything else works exactly as in ex01.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500884"/>
            <a:ext cx="499949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What changes in the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64917"/>
            <a:ext cx="472517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050" i="0">
                <a:solidFill>
                  <a:srgbClr val="5E6E84"/>
                </a:solidFill>
                <a:latin typeface="Segoe UI"/>
              </a:rPr>
              <a:t>One line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in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Animal.hpp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28950"/>
            <a:ext cx="472517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And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definition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of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makeSound()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disappears from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Animal.cpp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— a pure virtual function has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no body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93008"/>
            <a:ext cx="472517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WrongAnimal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/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WrongCat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pair stays concrete: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WrongAnimal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still implements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makeSound()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57066"/>
            <a:ext cx="499949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Why it is better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21099"/>
            <a:ext cx="472517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compiler now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guarantees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that every animal has a sound — you cannot forget to implement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85157"/>
            <a:ext cx="472517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It is the same guarantee the interfaces of ex03 give, but with a shared implementation for the common parts.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7" y="1444752"/>
            <a:ext cx="5318607" cy="3511880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5847" y="1444752"/>
            <a:ext cx="5318607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3863" y="1485900"/>
            <a:ext cx="50625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the whole difference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3007" y="1874520"/>
            <a:ext cx="5044287" cy="2944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710" i="1">
                <a:solidFill>
                  <a:srgbClr val="62738A"/>
                </a:solidFill>
                <a:latin typeface="Consolas"/>
              </a:rPr>
              <a:t>//  include/Animal.hpp  (ex01 -&gt; ex02)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C792EA"/>
                </a:solidFill>
                <a:latin typeface="Consolas"/>
              </a:rPr>
              <a:t>class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82AAFF"/>
                </a:solidFill>
                <a:latin typeface="Consolas"/>
              </a:rPr>
              <a:t>Animal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C792EA"/>
                </a:solidFill>
                <a:latin typeface="Consolas"/>
              </a:rPr>
              <a:t>public</a:t>
            </a:r>
            <a:r>
              <a:rPr sz="71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 	</a:t>
            </a:r>
            <a:r>
              <a:rPr sz="710">
                <a:solidFill>
                  <a:srgbClr val="82AAFF"/>
                </a:solidFill>
                <a:latin typeface="Consolas"/>
              </a:rPr>
              <a:t>Animal</a:t>
            </a:r>
            <a:r>
              <a:rPr sz="710">
                <a:solidFill>
                  <a:srgbClr val="D6DEEA"/>
                </a:solidFill>
                <a:latin typeface="Consolas"/>
              </a:rPr>
              <a:t>(</a:t>
            </a:r>
            <a:r>
              <a:rPr sz="710">
                <a:solidFill>
                  <a:srgbClr val="D6DEEA"/>
                </a:solidFill>
                <a:latin typeface="Consolas"/>
              </a:rPr>
              <a:t>)</a:t>
            </a:r>
            <a:r>
              <a:rPr sz="71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 	</a:t>
            </a:r>
            <a:r>
              <a:rPr sz="710">
                <a:solidFill>
                  <a:srgbClr val="82AAFF"/>
                </a:solidFill>
                <a:latin typeface="Consolas"/>
              </a:rPr>
              <a:t>Animal</a:t>
            </a:r>
            <a:r>
              <a:rPr sz="710">
                <a:solidFill>
                  <a:srgbClr val="D6DEEA"/>
                </a:solidFill>
                <a:latin typeface="Consolas"/>
              </a:rPr>
              <a:t>(</a:t>
            </a:r>
            <a:r>
              <a:rPr sz="710">
                <a:solidFill>
                  <a:srgbClr val="82AAFF"/>
                </a:solidFill>
                <a:latin typeface="Consolas"/>
              </a:rPr>
              <a:t>Animal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C792EA"/>
                </a:solidFill>
                <a:latin typeface="Consolas"/>
              </a:rPr>
              <a:t>const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&amp;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other</a:t>
            </a:r>
            <a:r>
              <a:rPr sz="710">
                <a:solidFill>
                  <a:srgbClr val="D6DEEA"/>
                </a:solidFill>
                <a:latin typeface="Consolas"/>
              </a:rPr>
              <a:t>)</a:t>
            </a:r>
            <a:r>
              <a:rPr sz="71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 	</a:t>
            </a:r>
            <a:r>
              <a:rPr sz="710">
                <a:solidFill>
                  <a:srgbClr val="82AAFF"/>
                </a:solidFill>
                <a:latin typeface="Consolas"/>
              </a:rPr>
              <a:t>Animal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&amp;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C792EA"/>
                </a:solidFill>
                <a:latin typeface="Consolas"/>
              </a:rPr>
              <a:t>operator</a:t>
            </a:r>
            <a:r>
              <a:rPr sz="710">
                <a:solidFill>
                  <a:srgbClr val="D6DEEA"/>
                </a:solidFill>
                <a:latin typeface="Consolas"/>
              </a:rPr>
              <a:t>=</a:t>
            </a:r>
            <a:r>
              <a:rPr sz="710">
                <a:solidFill>
                  <a:srgbClr val="D6DEEA"/>
                </a:solidFill>
                <a:latin typeface="Consolas"/>
              </a:rPr>
              <a:t>(</a:t>
            </a:r>
            <a:r>
              <a:rPr sz="710">
                <a:solidFill>
                  <a:srgbClr val="82AAFF"/>
                </a:solidFill>
                <a:latin typeface="Consolas"/>
              </a:rPr>
              <a:t>Animal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C792EA"/>
                </a:solidFill>
                <a:latin typeface="Consolas"/>
              </a:rPr>
              <a:t>const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&amp;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other</a:t>
            </a:r>
            <a:r>
              <a:rPr sz="710">
                <a:solidFill>
                  <a:srgbClr val="D6DEEA"/>
                </a:solidFill>
                <a:latin typeface="Consolas"/>
              </a:rPr>
              <a:t>)</a:t>
            </a:r>
            <a:r>
              <a:rPr sz="71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 	</a:t>
            </a:r>
            <a:r>
              <a:rPr sz="710">
                <a:solidFill>
                  <a:srgbClr val="C792EA"/>
                </a:solidFill>
                <a:latin typeface="Consolas"/>
              </a:rPr>
              <a:t>virtual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~</a:t>
            </a:r>
            <a:r>
              <a:rPr sz="710">
                <a:solidFill>
                  <a:srgbClr val="82AAFF"/>
                </a:solidFill>
                <a:latin typeface="Consolas"/>
              </a:rPr>
              <a:t>Animal</a:t>
            </a:r>
            <a:r>
              <a:rPr sz="710">
                <a:solidFill>
                  <a:srgbClr val="D6DEEA"/>
                </a:solidFill>
                <a:latin typeface="Consolas"/>
              </a:rPr>
              <a:t>(</a:t>
            </a:r>
            <a:r>
              <a:rPr sz="710">
                <a:solidFill>
                  <a:srgbClr val="D6DEEA"/>
                </a:solidFill>
                <a:latin typeface="Consolas"/>
              </a:rPr>
              <a:t>)</a:t>
            </a:r>
            <a:r>
              <a:rPr sz="71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-</a:t>
            </a:r>
            <a:r>
              <a:rPr sz="710">
                <a:solidFill>
                  <a:srgbClr val="D6DEEA"/>
                </a:solidFill>
                <a:latin typeface="Consolas"/>
              </a:rPr>
              <a:t>	</a:t>
            </a:r>
            <a:r>
              <a:rPr sz="710">
                <a:solidFill>
                  <a:srgbClr val="C792EA"/>
                </a:solidFill>
                <a:latin typeface="Consolas"/>
              </a:rPr>
              <a:t>virtual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C792EA"/>
                </a:solidFill>
                <a:latin typeface="Consolas"/>
              </a:rPr>
              <a:t>void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makeSound</a:t>
            </a:r>
            <a:r>
              <a:rPr sz="710">
                <a:solidFill>
                  <a:srgbClr val="D6DEEA"/>
                </a:solidFill>
                <a:latin typeface="Consolas"/>
              </a:rPr>
              <a:t>(</a:t>
            </a:r>
            <a:r>
              <a:rPr sz="710">
                <a:solidFill>
                  <a:srgbClr val="D6DEEA"/>
                </a:solidFill>
                <a:latin typeface="Consolas"/>
              </a:rPr>
              <a:t>)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C792EA"/>
                </a:solidFill>
                <a:latin typeface="Consolas"/>
              </a:rPr>
              <a:t>const</a:t>
            </a:r>
            <a:r>
              <a:rPr sz="71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+</a:t>
            </a:r>
            <a:r>
              <a:rPr sz="710">
                <a:solidFill>
                  <a:srgbClr val="D6DEEA"/>
                </a:solidFill>
                <a:latin typeface="Consolas"/>
              </a:rPr>
              <a:t>	</a:t>
            </a:r>
            <a:r>
              <a:rPr sz="710">
                <a:solidFill>
                  <a:srgbClr val="C792EA"/>
                </a:solidFill>
                <a:latin typeface="Consolas"/>
              </a:rPr>
              <a:t>virtual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C792EA"/>
                </a:solidFill>
                <a:latin typeface="Consolas"/>
              </a:rPr>
              <a:t>void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makeSound</a:t>
            </a:r>
            <a:r>
              <a:rPr sz="710">
                <a:solidFill>
                  <a:srgbClr val="D6DEEA"/>
                </a:solidFill>
                <a:latin typeface="Consolas"/>
              </a:rPr>
              <a:t>(</a:t>
            </a:r>
            <a:r>
              <a:rPr sz="710">
                <a:solidFill>
                  <a:srgbClr val="D6DEEA"/>
                </a:solidFill>
                <a:latin typeface="Consolas"/>
              </a:rPr>
              <a:t>)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C792EA"/>
                </a:solidFill>
                <a:latin typeface="Consolas"/>
              </a:rPr>
              <a:t>const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=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F78C6C"/>
                </a:solidFill>
                <a:latin typeface="Consolas"/>
              </a:rPr>
              <a:t>0</a:t>
            </a:r>
            <a:r>
              <a:rPr sz="71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 	</a:t>
            </a:r>
            <a:r>
              <a:rPr sz="710">
                <a:solidFill>
                  <a:srgbClr val="C792EA"/>
                </a:solidFill>
                <a:latin typeface="Consolas"/>
              </a:rPr>
              <a:t>std</a:t>
            </a:r>
            <a:r>
              <a:rPr sz="710">
                <a:solidFill>
                  <a:srgbClr val="D6DEEA"/>
                </a:solidFill>
                <a:latin typeface="Consolas"/>
              </a:rPr>
              <a:t>:</a:t>
            </a:r>
            <a:r>
              <a:rPr sz="710">
                <a:solidFill>
                  <a:srgbClr val="D6DEEA"/>
                </a:solidFill>
                <a:latin typeface="Consolas"/>
              </a:rPr>
              <a:t>:</a:t>
            </a:r>
            <a:r>
              <a:rPr sz="710">
                <a:solidFill>
                  <a:srgbClr val="C792EA"/>
                </a:solidFill>
                <a:latin typeface="Consolas"/>
              </a:rPr>
              <a:t>string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C792EA"/>
                </a:solidFill>
                <a:latin typeface="Consolas"/>
              </a:rPr>
              <a:t>const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&amp;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getType</a:t>
            </a:r>
            <a:r>
              <a:rPr sz="710">
                <a:solidFill>
                  <a:srgbClr val="D6DEEA"/>
                </a:solidFill>
                <a:latin typeface="Consolas"/>
              </a:rPr>
              <a:t>(</a:t>
            </a:r>
            <a:r>
              <a:rPr sz="710">
                <a:solidFill>
                  <a:srgbClr val="D6DEEA"/>
                </a:solidFill>
                <a:latin typeface="Consolas"/>
              </a:rPr>
              <a:t>)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C792EA"/>
                </a:solidFill>
                <a:latin typeface="Consolas"/>
              </a:rPr>
              <a:t>const</a:t>
            </a:r>
            <a:r>
              <a:rPr sz="71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C792EA"/>
                </a:solidFill>
                <a:latin typeface="Consolas"/>
              </a:rPr>
              <a:t>protected</a:t>
            </a:r>
            <a:r>
              <a:rPr sz="71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 	</a:t>
            </a:r>
            <a:r>
              <a:rPr sz="710">
                <a:solidFill>
                  <a:srgbClr val="C792EA"/>
                </a:solidFill>
                <a:latin typeface="Consolas"/>
              </a:rPr>
              <a:t>std</a:t>
            </a:r>
            <a:r>
              <a:rPr sz="710">
                <a:solidFill>
                  <a:srgbClr val="D6DEEA"/>
                </a:solidFill>
                <a:latin typeface="Consolas"/>
              </a:rPr>
              <a:t>:</a:t>
            </a:r>
            <a:r>
              <a:rPr sz="710">
                <a:solidFill>
                  <a:srgbClr val="D6DEEA"/>
                </a:solidFill>
                <a:latin typeface="Consolas"/>
              </a:rPr>
              <a:t>:</a:t>
            </a:r>
            <a:r>
              <a:rPr sz="710">
                <a:solidFill>
                  <a:srgbClr val="C792EA"/>
                </a:solidFill>
                <a:latin typeface="Consolas"/>
              </a:rPr>
              <a:t>string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type</a:t>
            </a:r>
            <a:r>
              <a:rPr sz="71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}</a:t>
            </a:r>
            <a:r>
              <a:rPr sz="71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10" i="1">
                <a:solidFill>
                  <a:srgbClr val="62738A"/>
                </a:solidFill>
                <a:latin typeface="Consolas"/>
              </a:rPr>
              <a:t>//  src/Animal.cpp  -- the definition is removed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-</a:t>
            </a:r>
            <a:r>
              <a:rPr sz="710">
                <a:solidFill>
                  <a:srgbClr val="C792EA"/>
                </a:solidFill>
                <a:latin typeface="Consolas"/>
              </a:rPr>
              <a:t>void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82AAFF"/>
                </a:solidFill>
                <a:latin typeface="Consolas"/>
              </a:rPr>
              <a:t>Animal</a:t>
            </a:r>
            <a:r>
              <a:rPr sz="710">
                <a:solidFill>
                  <a:srgbClr val="D6DEEA"/>
                </a:solidFill>
                <a:latin typeface="Consolas"/>
              </a:rPr>
              <a:t>:</a:t>
            </a:r>
            <a:r>
              <a:rPr sz="710">
                <a:solidFill>
                  <a:srgbClr val="D6DEEA"/>
                </a:solidFill>
                <a:latin typeface="Consolas"/>
              </a:rPr>
              <a:t>:</a:t>
            </a:r>
            <a:r>
              <a:rPr sz="710">
                <a:solidFill>
                  <a:srgbClr val="D6DEEA"/>
                </a:solidFill>
                <a:latin typeface="Consolas"/>
              </a:rPr>
              <a:t>makeSound</a:t>
            </a:r>
            <a:r>
              <a:rPr sz="710">
                <a:solidFill>
                  <a:srgbClr val="D6DEEA"/>
                </a:solidFill>
                <a:latin typeface="Consolas"/>
              </a:rPr>
              <a:t>(</a:t>
            </a:r>
            <a:r>
              <a:rPr sz="710">
                <a:solidFill>
                  <a:srgbClr val="D6DEEA"/>
                </a:solidFill>
                <a:latin typeface="Consolas"/>
              </a:rPr>
              <a:t>)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C792EA"/>
                </a:solidFill>
                <a:latin typeface="Consolas"/>
              </a:rPr>
              <a:t>const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-</a:t>
            </a:r>
            <a:r>
              <a:rPr sz="71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-</a:t>
            </a:r>
            <a:r>
              <a:rPr sz="710">
                <a:solidFill>
                  <a:srgbClr val="D6DEEA"/>
                </a:solidFill>
                <a:latin typeface="Consolas"/>
              </a:rPr>
              <a:t>	</a:t>
            </a:r>
            <a:r>
              <a:rPr sz="710">
                <a:solidFill>
                  <a:srgbClr val="C792EA"/>
                </a:solidFill>
                <a:latin typeface="Consolas"/>
              </a:rPr>
              <a:t>std</a:t>
            </a:r>
            <a:r>
              <a:rPr sz="710">
                <a:solidFill>
                  <a:srgbClr val="D6DEEA"/>
                </a:solidFill>
                <a:latin typeface="Consolas"/>
              </a:rPr>
              <a:t>:</a:t>
            </a:r>
            <a:r>
              <a:rPr sz="710">
                <a:solidFill>
                  <a:srgbClr val="D6DEEA"/>
                </a:solidFill>
                <a:latin typeface="Consolas"/>
              </a:rPr>
              <a:t>:</a:t>
            </a:r>
            <a:r>
              <a:rPr sz="710">
                <a:solidFill>
                  <a:srgbClr val="D6DEEA"/>
                </a:solidFill>
                <a:latin typeface="Consolas"/>
              </a:rPr>
              <a:t>cout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D6DEEA"/>
                </a:solidFill>
                <a:latin typeface="Consolas"/>
              </a:rPr>
              <a:t>&lt;</a:t>
            </a:r>
            <a:r>
              <a:rPr sz="710">
                <a:solidFill>
                  <a:srgbClr val="D6DEEA"/>
                </a:solidFill>
                <a:latin typeface="Consolas"/>
              </a:rPr>
              <a:t>&lt;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ECC48D"/>
                </a:solidFill>
                <a:latin typeface="Consolas"/>
              </a:rPr>
              <a:t>"Animal: makes a generic animal sound..."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-</a:t>
            </a:r>
            <a:r>
              <a:rPr sz="710">
                <a:solidFill>
                  <a:srgbClr val="D6DEEA"/>
                </a:solidFill>
                <a:latin typeface="Consolas"/>
              </a:rPr>
              <a:t>			  </a:t>
            </a:r>
            <a:r>
              <a:rPr sz="710">
                <a:solidFill>
                  <a:srgbClr val="D6DEEA"/>
                </a:solidFill>
                <a:latin typeface="Consolas"/>
              </a:rPr>
              <a:t>&lt;</a:t>
            </a:r>
            <a:r>
              <a:rPr sz="710">
                <a:solidFill>
                  <a:srgbClr val="D6DEEA"/>
                </a:solidFill>
                <a:latin typeface="Consolas"/>
              </a:rPr>
              <a:t>&lt;</a:t>
            </a:r>
            <a:r>
              <a:rPr sz="710">
                <a:solidFill>
                  <a:srgbClr val="D6DEEA"/>
                </a:solidFill>
                <a:latin typeface="Consolas"/>
              </a:rPr>
              <a:t> </a:t>
            </a:r>
            <a:r>
              <a:rPr sz="710">
                <a:solidFill>
                  <a:srgbClr val="C792EA"/>
                </a:solidFill>
                <a:latin typeface="Consolas"/>
              </a:rPr>
              <a:t>std</a:t>
            </a:r>
            <a:r>
              <a:rPr sz="710">
                <a:solidFill>
                  <a:srgbClr val="D6DEEA"/>
                </a:solidFill>
                <a:latin typeface="Consolas"/>
              </a:rPr>
              <a:t>:</a:t>
            </a:r>
            <a:r>
              <a:rPr sz="710">
                <a:solidFill>
                  <a:srgbClr val="D6DEEA"/>
                </a:solidFill>
                <a:latin typeface="Consolas"/>
              </a:rPr>
              <a:t>:</a:t>
            </a:r>
            <a:r>
              <a:rPr sz="710">
                <a:solidFill>
                  <a:srgbClr val="D6DEEA"/>
                </a:solidFill>
                <a:latin typeface="Consolas"/>
              </a:rPr>
              <a:t>endl</a:t>
            </a:r>
            <a:r>
              <a:rPr sz="71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10">
                <a:solidFill>
                  <a:srgbClr val="D6DEEA"/>
                </a:solidFill>
                <a:latin typeface="Consolas"/>
              </a:rPr>
              <a:t>-</a:t>
            </a:r>
            <a:r>
              <a:rPr sz="71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120640"/>
            <a:ext cx="10637215" cy="86868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20640"/>
            <a:ext cx="50292" cy="86868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" y="5239512"/>
            <a:ext cx="10234879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1F8A7A"/>
                </a:solidFill>
                <a:latin typeface="Segoe UI Semibold"/>
              </a:rPr>
              <a:t>A note on the name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The subject suggests renaming the class to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AAnimal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(the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A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prefix of the 42 conventions for an abstract class). I kept the name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Animal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because the subject of ex00 already introduces it that way and the exercises stay consistent — but the rename is trivial and I would do it if the evaluator expects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C0392B"/>
                </a:solidFill>
                <a:latin typeface="Segoe UI Semibold"/>
              </a:rPr>
              <a:t>EX02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ex02 — What the compiler now refuses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78674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The experiment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40636"/>
            <a:ext cx="4512426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In the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main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of ex02 I write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Animal animal;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— the instantiation the subject forbids (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docs/evidence/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55595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compiler refuses, and it tells us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exactly why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51479"/>
            <a:ext cx="478674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What the error proves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47363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class is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abstract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— it cannot be instantiated.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43247"/>
            <a:ext cx="4512426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compiler names the pure virtual function: *“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virtual void Animal::makeSound() const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”*.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58206"/>
            <a:ext cx="4512426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This is a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compile-time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guarantee: it is impossible to write an animal without a sound.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73165"/>
            <a:ext cx="478674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What still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69049"/>
            <a:ext cx="4512426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80" i="0">
                <a:solidFill>
                  <a:srgbClr val="1F8A7A"/>
                </a:solidFill>
                <a:latin typeface="Consolas"/>
              </a:rPr>
              <a:t>Animal *animals[4]; animals[0] = new Dog();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→ perfectly legal: pointing to a concrete subclass is allowed.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84008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Only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instantiating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the abstract class is forbidden.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83103" y="1444752"/>
            <a:ext cx="5531351" cy="2839211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83103" y="1444752"/>
            <a:ext cx="5531351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1119" y="1485900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real compiler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0263" y="1874520"/>
            <a:ext cx="5257031" cy="22722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abstract_error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cpp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In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function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ECC48D"/>
                </a:solidFill>
                <a:latin typeface="Consolas"/>
              </a:rPr>
              <a:t>'int main()'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abstract_error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cpp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F78C6C"/>
                </a:solidFill>
                <a:latin typeface="Consolas"/>
              </a:rPr>
              <a:t>7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F78C6C"/>
                </a:solidFill>
                <a:latin typeface="Consolas"/>
              </a:rPr>
              <a:t>16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error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cannot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declare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variable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    </a:t>
            </a:r>
            <a:r>
              <a:rPr sz="900">
                <a:solidFill>
                  <a:srgbClr val="ECC48D"/>
                </a:solidFill>
                <a:latin typeface="Consolas"/>
              </a:rPr>
              <a:t>'animal'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to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be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of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abstract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type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ECC48D"/>
                </a:solidFill>
                <a:latin typeface="Consolas"/>
              </a:rPr>
              <a:t>'Animal'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    </a:t>
            </a:r>
            <a:r>
              <a:rPr sz="900">
                <a:solidFill>
                  <a:srgbClr val="F78C6C"/>
                </a:solidFill>
                <a:latin typeface="Consolas"/>
              </a:rPr>
              <a:t>7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|</a:t>
            </a:r>
            <a:r>
              <a:rPr sz="900">
                <a:solidFill>
                  <a:srgbClr val="D6DEEA"/>
                </a:solidFill>
                <a:latin typeface="Consolas"/>
              </a:rPr>
              <a:t>         </a:t>
            </a:r>
            <a:r>
              <a:rPr sz="900">
                <a:solidFill>
                  <a:srgbClr val="82AAFF"/>
                </a:solidFill>
                <a:latin typeface="Consolas"/>
              </a:rPr>
              <a:t>Animal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animal</a:t>
            </a:r>
            <a:r>
              <a:rPr sz="9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      </a:t>
            </a:r>
            <a:r>
              <a:rPr sz="900">
                <a:solidFill>
                  <a:srgbClr val="D6DEEA"/>
                </a:solidFill>
                <a:latin typeface="Consolas"/>
              </a:rPr>
              <a:t>|</a:t>
            </a:r>
            <a:r>
              <a:rPr sz="900">
                <a:solidFill>
                  <a:srgbClr val="D6DEEA"/>
                </a:solidFill>
                <a:latin typeface="Consolas"/>
              </a:rPr>
              <a:t>                </a:t>
            </a:r>
            <a:r>
              <a:rPr sz="900">
                <a:solidFill>
                  <a:srgbClr val="D6DEEA"/>
                </a:solidFill>
                <a:latin typeface="Consolas"/>
              </a:rPr>
              <a:t>^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In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file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included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from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abstract_error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cpp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F78C6C"/>
                </a:solidFill>
                <a:latin typeface="Consolas"/>
              </a:rPr>
              <a:t>3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/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/</a:t>
            </a:r>
            <a:r>
              <a:rPr sz="900">
                <a:solidFill>
                  <a:srgbClr val="D6DEEA"/>
                </a:solidFill>
                <a:latin typeface="Consolas"/>
              </a:rPr>
              <a:t>ex02</a:t>
            </a:r>
            <a:r>
              <a:rPr sz="900">
                <a:solidFill>
                  <a:srgbClr val="D6DEEA"/>
                </a:solidFill>
                <a:latin typeface="Consolas"/>
              </a:rPr>
              <a:t>/</a:t>
            </a:r>
            <a:r>
              <a:rPr sz="900">
                <a:solidFill>
                  <a:srgbClr val="C792EA"/>
                </a:solidFill>
                <a:latin typeface="Consolas"/>
              </a:rPr>
              <a:t>include</a:t>
            </a:r>
            <a:r>
              <a:rPr sz="900">
                <a:solidFill>
                  <a:srgbClr val="D6DEEA"/>
                </a:solidFill>
                <a:latin typeface="Consolas"/>
              </a:rPr>
              <a:t>/</a:t>
            </a:r>
            <a:r>
              <a:rPr sz="900">
                <a:solidFill>
                  <a:srgbClr val="82AAFF"/>
                </a:solidFill>
                <a:latin typeface="Consolas"/>
              </a:rPr>
              <a:t>Animal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hpp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F78C6C"/>
                </a:solidFill>
                <a:latin typeface="Consolas"/>
              </a:rPr>
              <a:t>6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F78C6C"/>
                </a:solidFill>
                <a:latin typeface="Consolas"/>
              </a:rPr>
              <a:t>7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note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  </a:t>
            </a:r>
            <a:r>
              <a:rPr sz="900">
                <a:solidFill>
                  <a:srgbClr val="D6DEEA"/>
                </a:solidFill>
                <a:latin typeface="Consolas"/>
              </a:rPr>
              <a:t>because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the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following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    </a:t>
            </a:r>
            <a:r>
              <a:rPr sz="900">
                <a:solidFill>
                  <a:srgbClr val="C792EA"/>
                </a:solidFill>
                <a:latin typeface="Consolas"/>
              </a:rPr>
              <a:t>virtual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functions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are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pure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within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ECC48D"/>
                </a:solidFill>
                <a:latin typeface="Consolas"/>
              </a:rPr>
              <a:t>'Animal'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    </a:t>
            </a:r>
            <a:r>
              <a:rPr sz="900">
                <a:solidFill>
                  <a:srgbClr val="F78C6C"/>
                </a:solidFill>
                <a:latin typeface="Consolas"/>
              </a:rPr>
              <a:t>6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|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C792EA"/>
                </a:solidFill>
                <a:latin typeface="Consolas"/>
              </a:rPr>
              <a:t>class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Animal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      </a:t>
            </a:r>
            <a:r>
              <a:rPr sz="900">
                <a:solidFill>
                  <a:srgbClr val="D6DEEA"/>
                </a:solidFill>
                <a:latin typeface="Consolas"/>
              </a:rPr>
              <a:t>|</a:t>
            </a:r>
            <a:r>
              <a:rPr sz="900">
                <a:solidFill>
                  <a:srgbClr val="D6DEEA"/>
                </a:solidFill>
                <a:latin typeface="Consolas"/>
              </a:rPr>
              <a:t>       </a:t>
            </a:r>
            <a:r>
              <a:rPr sz="900">
                <a:solidFill>
                  <a:srgbClr val="D6DEEA"/>
                </a:solidFill>
                <a:latin typeface="Consolas"/>
              </a:rPr>
              <a:t>^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/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/</a:t>
            </a:r>
            <a:r>
              <a:rPr sz="900">
                <a:solidFill>
                  <a:srgbClr val="D6DEEA"/>
                </a:solidFill>
                <a:latin typeface="Consolas"/>
              </a:rPr>
              <a:t>ex02</a:t>
            </a:r>
            <a:r>
              <a:rPr sz="900">
                <a:solidFill>
                  <a:srgbClr val="D6DEEA"/>
                </a:solidFill>
                <a:latin typeface="Consolas"/>
              </a:rPr>
              <a:t>/</a:t>
            </a:r>
            <a:r>
              <a:rPr sz="900">
                <a:solidFill>
                  <a:srgbClr val="C792EA"/>
                </a:solidFill>
                <a:latin typeface="Consolas"/>
              </a:rPr>
              <a:t>include</a:t>
            </a:r>
            <a:r>
              <a:rPr sz="900">
                <a:solidFill>
                  <a:srgbClr val="D6DEEA"/>
                </a:solidFill>
                <a:latin typeface="Consolas"/>
              </a:rPr>
              <a:t>/</a:t>
            </a:r>
            <a:r>
              <a:rPr sz="900">
                <a:solidFill>
                  <a:srgbClr val="82AAFF"/>
                </a:solidFill>
                <a:latin typeface="Consolas"/>
              </a:rPr>
              <a:t>Animal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hpp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F78C6C"/>
                </a:solidFill>
                <a:latin typeface="Consolas"/>
              </a:rPr>
              <a:t>14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F78C6C"/>
                </a:solidFill>
                <a:latin typeface="Consolas"/>
              </a:rPr>
              <a:t>22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note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    </a:t>
            </a:r>
            <a:r>
              <a:rPr sz="900">
                <a:solidFill>
                  <a:srgbClr val="ECC48D"/>
                </a:solidFill>
                <a:latin typeface="Consolas"/>
              </a:rPr>
              <a:t>'virtual void Animal::makeSound() const'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   </a:t>
            </a:r>
            <a:r>
              <a:rPr sz="900">
                <a:solidFill>
                  <a:srgbClr val="F78C6C"/>
                </a:solidFill>
                <a:latin typeface="Consolas"/>
              </a:rPr>
              <a:t>14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|</a:t>
            </a:r>
            <a:r>
              <a:rPr sz="900">
                <a:solidFill>
                  <a:srgbClr val="D6DEEA"/>
                </a:solidFill>
                <a:latin typeface="Consolas"/>
              </a:rPr>
              <a:t>         </a:t>
            </a:r>
            <a:r>
              <a:rPr sz="900">
                <a:solidFill>
                  <a:srgbClr val="C792EA"/>
                </a:solidFill>
                <a:latin typeface="Consolas"/>
              </a:rPr>
              <a:t>virtual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C792EA"/>
                </a:solidFill>
                <a:latin typeface="Consolas"/>
              </a:rPr>
              <a:t>void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makeSound</a:t>
            </a:r>
            <a:r>
              <a:rPr sz="900">
                <a:solidFill>
                  <a:srgbClr val="D6DEEA"/>
                </a:solidFill>
                <a:latin typeface="Consolas"/>
              </a:rPr>
              <a:t>(</a:t>
            </a:r>
            <a:r>
              <a:rPr sz="900">
                <a:solidFill>
                  <a:srgbClr val="D6DEEA"/>
                </a:solidFill>
                <a:latin typeface="Consolas"/>
              </a:rPr>
              <a:t>)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C792EA"/>
                </a:solidFill>
                <a:latin typeface="Consolas"/>
              </a:rPr>
              <a:t>const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=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0</a:t>
            </a:r>
            <a:r>
              <a:rPr sz="9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      </a:t>
            </a:r>
            <a:r>
              <a:rPr sz="900">
                <a:solidFill>
                  <a:srgbClr val="D6DEEA"/>
                </a:solidFill>
                <a:latin typeface="Consolas"/>
              </a:rPr>
              <a:t>|</a:t>
            </a:r>
            <a:r>
              <a:rPr sz="900">
                <a:solidFill>
                  <a:srgbClr val="D6DEEA"/>
                </a:solidFill>
                <a:latin typeface="Consolas"/>
              </a:rPr>
              <a:t>                      </a:t>
            </a:r>
            <a:r>
              <a:rPr sz="900">
                <a:solidFill>
                  <a:srgbClr val="D6DEEA"/>
                </a:solidFill>
                <a:latin typeface="Consolas"/>
              </a:rPr>
              <a:t>^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  <a:r>
              <a:rPr sz="900">
                <a:solidFill>
                  <a:srgbClr val="D6DEEA"/>
                </a:solidFill>
                <a:latin typeface="Consolas"/>
              </a:rPr>
              <a:t>~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83103" y="4617720"/>
            <a:ext cx="5531351" cy="109728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83103" y="4617720"/>
            <a:ext cx="50292" cy="109728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02559" y="4736592"/>
            <a:ext cx="5129015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1F8A7A"/>
                </a:solidFill>
                <a:latin typeface="Segoe UI Semibold"/>
              </a:rPr>
              <a:t>The rule in one line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A class with at least one pure virtual function is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abstract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: it cannot be instantiated, but it can be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inherited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and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used through pointers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EX02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ex02 — Runtime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956840" cy="4465878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956840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700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terminal  ·  ./ex02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682520" cy="389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Module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F78C6C"/>
                </a:solidFill>
                <a:latin typeface="Consolas"/>
              </a:rPr>
              <a:t>04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ex02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Abstract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C792EA"/>
                </a:solidFill>
                <a:latin typeface="Consolas"/>
              </a:rPr>
              <a:t>class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testAbstractAnimal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(</a:t>
            </a: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C792EA"/>
                </a:solidFill>
                <a:latin typeface="Consolas"/>
              </a:rPr>
              <a:t>class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abstract</a:t>
            </a:r>
            <a:r>
              <a:rPr sz="940">
                <a:solidFill>
                  <a:srgbClr val="D6DEEA"/>
                </a:solidFill>
                <a:latin typeface="Consolas"/>
              </a:rPr>
              <a:t>,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cannot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instantiated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anymore</a:t>
            </a:r>
            <a:r>
              <a:rPr sz="94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(</a:t>
            </a:r>
            <a:r>
              <a:rPr sz="940">
                <a:solidFill>
                  <a:srgbClr val="D6DEEA"/>
                </a:solidFill>
                <a:latin typeface="Consolas"/>
              </a:rPr>
              <a:t>writing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ECC48D"/>
                </a:solidFill>
                <a:latin typeface="Consolas"/>
              </a:rPr>
              <a:t>'Animal animal;'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main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would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not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compile</a:t>
            </a:r>
            <a:r>
              <a:rPr sz="94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created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Brain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C792EA"/>
                </a:solidFill>
                <a:latin typeface="Consolas"/>
              </a:rPr>
              <a:t>new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brain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created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Dog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dog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created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F78C6C"/>
                </a:solidFill>
                <a:latin typeface="Consolas"/>
              </a:rPr>
              <a:t>0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Dog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Woof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woof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F78C6C"/>
                </a:solidFill>
                <a:latin typeface="Consolas"/>
              </a:rPr>
              <a:t>1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Cat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Meow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meow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Dog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dog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destroyed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Brain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brain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destroyed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Dog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destroyed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testWrongCat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Wrong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animal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sound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grrrooo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testDeepCopy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original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dog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thinks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I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want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to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play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copy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of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dog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thinks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I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want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to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sleep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ex02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done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10" y="1444752"/>
            <a:ext cx="441444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What the output proves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4330" y="1783461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behaviour of ex01 is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unchanged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: same sounds, same destruction order, same deep copies.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4330" y="2360295"/>
            <a:ext cx="4140124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Only one thing disappeared: the *“Animal: makes a generic animal sound…”* line — because there is no longer any concrete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Animal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4330" y="3175254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WrongCat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still prints the wrong sound: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WrongAnimal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is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concrete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and implements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makeSound()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4330" y="3752088"/>
            <a:ext cx="414012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deep copy still works.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PART 3 · EX03 · THE BIG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Interface &amp;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44752"/>
          <a:ext cx="10637214" cy="32369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58902"/>
                <a:gridCol w="1742302"/>
                <a:gridCol w="733601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FFFFFF"/>
                          </a:solidFill>
                          <a:latin typeface="Segoe UI Semibold"/>
                        </a:rPr>
                        <a:t>Class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FFFFFF"/>
                          </a:solidFill>
                          <a:latin typeface="Segoe UI Semibold"/>
                        </a:rPr>
                        <a:t>Kind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FFFFFF"/>
                          </a:solidFill>
                          <a:latin typeface="Segoe UI Semibold"/>
                        </a:rPr>
                        <a:t>Role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AMateria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abstract class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The base of the Materias: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getType()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, a pure virtual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clone()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and a virtual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use(ICharacter &amp;)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Ice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/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Cure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concrete classes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The two Materias: they override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clone()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and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use()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ICharacter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interface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The contract of a character: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getName()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,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equip()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,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unequip()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,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use()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— all pure virtual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Character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implementation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A character with a </a:t>
                      </a: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name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and an inventory of </a:t>
                      </a: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4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slots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IMateriaSource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interface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The contract of a source: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learnMateria()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,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createMateria()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— pure virtual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MateriaSource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implementation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A factory that learns at most </a:t>
                      </a: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4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Materias and creates new ones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257800"/>
            <a:ext cx="10637215" cy="86868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257800"/>
            <a:ext cx="50292" cy="86868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5376672"/>
            <a:ext cx="10234879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200" i="0">
                <a:solidFill>
                  <a:srgbClr val="1F8A7A"/>
                </a:solidFill>
                <a:latin typeface="Segoe UI Semibold"/>
              </a:rPr>
              <a:t>What this exercise really teaches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50" i="0">
                <a:solidFill>
                  <a:srgbClr val="1C2738"/>
                </a:solidFill>
                <a:latin typeface="Segoe UI"/>
              </a:rPr>
              <a:t>It puts </a:t>
            </a:r>
            <a:r>
              <a:rPr b="1" sz="1150" i="0">
                <a:solidFill>
                  <a:srgbClr val="1C2738"/>
                </a:solidFill>
                <a:latin typeface="Segoe UI"/>
              </a:rPr>
              <a:t>everything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together: an abstract class (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AMateria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), two </a:t>
            </a:r>
            <a:r>
              <a:rPr b="1" sz="1150" i="0">
                <a:solidFill>
                  <a:srgbClr val="1C2738"/>
                </a:solidFill>
                <a:latin typeface="Segoe UI"/>
              </a:rPr>
              <a:t>interfaces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(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ICharacter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,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IMateriaSource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), </a:t>
            </a:r>
            <a:r>
              <a:rPr b="1" sz="1150" i="0">
                <a:solidFill>
                  <a:srgbClr val="1C2738"/>
                </a:solidFill>
                <a:latin typeface="Segoe UI"/>
              </a:rPr>
              <a:t>polymorphic copying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(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clone()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), and </a:t>
            </a:r>
            <a:r>
              <a:rPr b="1" sz="1150" i="0">
                <a:solidFill>
                  <a:srgbClr val="1C2738"/>
                </a:solidFill>
                <a:latin typeface="Segoe UI"/>
              </a:rPr>
              <a:t>ownership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— who deletes the Materias, and when. It is the recap of the whole module.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EX03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AMateria: the abstract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212235" cy="3899611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212235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9562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include/AMateria.hpp  +  src/AMateria.cpp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937915" cy="33326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C792EA"/>
                </a:solidFill>
                <a:latin typeface="Consolas"/>
              </a:rPr>
              <a:t>class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82AAFF"/>
                </a:solidFill>
                <a:latin typeface="Consolas"/>
              </a:rPr>
              <a:t>ICharacter</a:t>
            </a:r>
            <a:r>
              <a:rPr sz="88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C792EA"/>
                </a:solidFill>
                <a:latin typeface="Consolas"/>
              </a:rPr>
              <a:t>class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82AAFF"/>
                </a:solidFill>
                <a:latin typeface="Consolas"/>
              </a:rPr>
              <a:t>AMateria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C792EA"/>
                </a:solidFill>
                <a:latin typeface="Consolas"/>
              </a:rPr>
              <a:t>public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	</a:t>
            </a:r>
            <a:r>
              <a:rPr sz="880">
                <a:solidFill>
                  <a:srgbClr val="82AAFF"/>
                </a:solidFill>
                <a:latin typeface="Consolas"/>
              </a:rPr>
              <a:t>AMateria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C792EA"/>
                </a:solidFill>
                <a:latin typeface="Consolas"/>
              </a:rPr>
              <a:t>std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C792EA"/>
                </a:solidFill>
                <a:latin typeface="Consolas"/>
              </a:rPr>
              <a:t>string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C792EA"/>
                </a:solidFill>
                <a:latin typeface="Consolas"/>
              </a:rPr>
              <a:t>const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&amp;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type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  <a:r>
              <a:rPr sz="88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	</a:t>
            </a:r>
            <a:r>
              <a:rPr sz="880">
                <a:solidFill>
                  <a:srgbClr val="C792EA"/>
                </a:solidFill>
                <a:latin typeface="Consolas"/>
              </a:rPr>
              <a:t>virtual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~</a:t>
            </a:r>
            <a:r>
              <a:rPr sz="880">
                <a:solidFill>
                  <a:srgbClr val="82AAFF"/>
                </a:solidFill>
                <a:latin typeface="Consolas"/>
              </a:rPr>
              <a:t>AMateria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  <a:r>
              <a:rPr sz="88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	</a:t>
            </a:r>
            <a:r>
              <a:rPr sz="880">
                <a:solidFill>
                  <a:srgbClr val="C792EA"/>
                </a:solidFill>
                <a:latin typeface="Consolas"/>
              </a:rPr>
              <a:t>std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C792EA"/>
                </a:solidFill>
                <a:latin typeface="Consolas"/>
              </a:rPr>
              <a:t>string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C792EA"/>
                </a:solidFill>
                <a:latin typeface="Consolas"/>
              </a:rPr>
              <a:t>const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&amp;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getType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C792EA"/>
                </a:solidFill>
                <a:latin typeface="Consolas"/>
              </a:rPr>
              <a:t>const</a:t>
            </a:r>
            <a:r>
              <a:rPr sz="88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	</a:t>
            </a:r>
            <a:r>
              <a:rPr sz="880">
                <a:solidFill>
                  <a:srgbClr val="C792EA"/>
                </a:solidFill>
                <a:latin typeface="Consolas"/>
              </a:rPr>
              <a:t>virtual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82AAFF"/>
                </a:solidFill>
                <a:latin typeface="Consolas"/>
              </a:rPr>
              <a:t>AMateria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*</a:t>
            </a:r>
            <a:r>
              <a:rPr sz="880">
                <a:solidFill>
                  <a:srgbClr val="D6DEEA"/>
                </a:solidFill>
                <a:latin typeface="Consolas"/>
              </a:rPr>
              <a:t>clone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C792EA"/>
                </a:solidFill>
                <a:latin typeface="Consolas"/>
              </a:rPr>
              <a:t>const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=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F78C6C"/>
                </a:solidFill>
                <a:latin typeface="Consolas"/>
              </a:rPr>
              <a:t>0</a:t>
            </a:r>
            <a:r>
              <a:rPr sz="88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	</a:t>
            </a:r>
            <a:r>
              <a:rPr sz="880">
                <a:solidFill>
                  <a:srgbClr val="C792EA"/>
                </a:solidFill>
                <a:latin typeface="Consolas"/>
              </a:rPr>
              <a:t>virtual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C792EA"/>
                </a:solidFill>
                <a:latin typeface="Consolas"/>
              </a:rPr>
              <a:t>void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use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82AAFF"/>
                </a:solidFill>
                <a:latin typeface="Consolas"/>
              </a:rPr>
              <a:t>ICharacter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&amp;</a:t>
            </a:r>
            <a:r>
              <a:rPr sz="880">
                <a:solidFill>
                  <a:srgbClr val="D6DEEA"/>
                </a:solidFill>
                <a:latin typeface="Consolas"/>
              </a:rPr>
              <a:t>target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  <a:r>
              <a:rPr sz="88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C792EA"/>
                </a:solidFill>
                <a:latin typeface="Consolas"/>
              </a:rPr>
              <a:t>protected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	</a:t>
            </a:r>
            <a:r>
              <a:rPr sz="880">
                <a:solidFill>
                  <a:srgbClr val="C792EA"/>
                </a:solidFill>
                <a:latin typeface="Consolas"/>
              </a:rPr>
              <a:t>std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C792EA"/>
                </a:solidFill>
                <a:latin typeface="Consolas"/>
              </a:rPr>
              <a:t>string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type_</a:t>
            </a:r>
            <a:r>
              <a:rPr sz="88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}</a:t>
            </a:r>
            <a:r>
              <a:rPr sz="88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C792EA"/>
                </a:solidFill>
                <a:latin typeface="Consolas"/>
              </a:rPr>
              <a:t>void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82AAFF"/>
                </a:solidFill>
                <a:latin typeface="Consolas"/>
              </a:rPr>
              <a:t>AMateria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use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82AAFF"/>
                </a:solidFill>
                <a:latin typeface="Consolas"/>
              </a:rPr>
              <a:t>ICharacter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&amp;</a:t>
            </a:r>
            <a:r>
              <a:rPr sz="880">
                <a:solidFill>
                  <a:srgbClr val="D6DEEA"/>
                </a:solidFill>
                <a:latin typeface="Consolas"/>
              </a:rPr>
              <a:t>target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	</a:t>
            </a:r>
            <a:r>
              <a:rPr sz="880">
                <a:solidFill>
                  <a:srgbClr val="C792EA"/>
                </a:solidFill>
                <a:latin typeface="Consolas"/>
              </a:rPr>
              <a:t>std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cout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ECC48D"/>
                </a:solidFill>
                <a:latin typeface="Consolas"/>
              </a:rPr>
              <a:t>"* uses the "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type_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ECC48D"/>
                </a:solidFill>
                <a:latin typeface="Consolas"/>
              </a:rPr>
              <a:t>" materia on "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			  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target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getName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ECC48D"/>
                </a:solidFill>
                <a:latin typeface="Consolas"/>
              </a:rPr>
              <a:t>" *"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C792EA"/>
                </a:solidFill>
                <a:latin typeface="Consolas"/>
              </a:rPr>
              <a:t>std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endl</a:t>
            </a:r>
            <a:r>
              <a:rPr sz="88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8591" y="1444752"/>
            <a:ext cx="5105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abstract 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2911" y="1762963"/>
            <a:ext cx="4831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clone()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is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pure virtual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: every concrete Materia must know how to copy itself.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2911" y="2309774"/>
            <a:ext cx="4831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use(ICharacter &amp;)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is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virtual with a generic body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: the default implementation prints *“uses the … materia on …”*.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8591" y="2856585"/>
            <a:ext cx="5105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Why the generic body exists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2911" y="3174796"/>
            <a:ext cx="4831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It gives a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fallback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to the concrete Materias that do not override it — here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Ice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Cure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both 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2911" y="3721607"/>
            <a:ext cx="4831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It is also the subject's own wording: a generic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use()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plus two specialised ones.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8591" y="4268418"/>
            <a:ext cx="5105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forward declaration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2911" y="4586629"/>
            <a:ext cx="4831543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class ICharacter;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at the top — we only need a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reference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to it in the prototype, so a forward declaration is enough and it avoids the circular include.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EX03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Ice and Cure: the concrete Materias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212235" cy="3858132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212235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9562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include/Ice.hpp  +  src/Ice.cpp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937915" cy="32912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C792EA"/>
                </a:solidFill>
                <a:latin typeface="Consolas"/>
              </a:rPr>
              <a:t>class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82AAFF"/>
                </a:solidFill>
                <a:latin typeface="Consolas"/>
              </a:rPr>
              <a:t>Ice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D6DEEA"/>
                </a:solidFill>
                <a:latin typeface="Consolas"/>
              </a:rPr>
              <a:t>: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C792EA"/>
                </a:solidFill>
                <a:latin typeface="Consolas"/>
              </a:rPr>
              <a:t>public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82AAFF"/>
                </a:solidFill>
                <a:latin typeface="Consolas"/>
              </a:rPr>
              <a:t>AMateria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C792EA"/>
                </a:solidFill>
                <a:latin typeface="Consolas"/>
              </a:rPr>
              <a:t>public</a:t>
            </a:r>
            <a:r>
              <a:rPr sz="73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	</a:t>
            </a:r>
            <a:r>
              <a:rPr sz="730">
                <a:solidFill>
                  <a:srgbClr val="82AAFF"/>
                </a:solidFill>
                <a:latin typeface="Consolas"/>
              </a:rPr>
              <a:t>Ice</a:t>
            </a:r>
            <a:r>
              <a:rPr sz="730">
                <a:solidFill>
                  <a:srgbClr val="D6DEEA"/>
                </a:solidFill>
                <a:latin typeface="Consolas"/>
              </a:rPr>
              <a:t>(</a:t>
            </a:r>
            <a:r>
              <a:rPr sz="730">
                <a:solidFill>
                  <a:srgbClr val="D6DEEA"/>
                </a:solidFill>
                <a:latin typeface="Consolas"/>
              </a:rPr>
              <a:t>)</a:t>
            </a:r>
            <a:r>
              <a:rPr sz="73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	</a:t>
            </a:r>
            <a:r>
              <a:rPr sz="730">
                <a:solidFill>
                  <a:srgbClr val="C792EA"/>
                </a:solidFill>
                <a:latin typeface="Consolas"/>
              </a:rPr>
              <a:t>virtual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D6DEEA"/>
                </a:solidFill>
                <a:latin typeface="Consolas"/>
              </a:rPr>
              <a:t>~</a:t>
            </a:r>
            <a:r>
              <a:rPr sz="730">
                <a:solidFill>
                  <a:srgbClr val="82AAFF"/>
                </a:solidFill>
                <a:latin typeface="Consolas"/>
              </a:rPr>
              <a:t>Ice</a:t>
            </a:r>
            <a:r>
              <a:rPr sz="730">
                <a:solidFill>
                  <a:srgbClr val="D6DEEA"/>
                </a:solidFill>
                <a:latin typeface="Consolas"/>
              </a:rPr>
              <a:t>(</a:t>
            </a:r>
            <a:r>
              <a:rPr sz="730">
                <a:solidFill>
                  <a:srgbClr val="D6DEEA"/>
                </a:solidFill>
                <a:latin typeface="Consolas"/>
              </a:rPr>
              <a:t>)</a:t>
            </a:r>
            <a:r>
              <a:rPr sz="73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	</a:t>
            </a:r>
            <a:r>
              <a:rPr sz="730">
                <a:solidFill>
                  <a:srgbClr val="C792EA"/>
                </a:solidFill>
                <a:latin typeface="Consolas"/>
              </a:rPr>
              <a:t>virtual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82AAFF"/>
                </a:solidFill>
                <a:latin typeface="Consolas"/>
              </a:rPr>
              <a:t>AMateria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D6DEEA"/>
                </a:solidFill>
                <a:latin typeface="Consolas"/>
              </a:rPr>
              <a:t>*</a:t>
            </a:r>
            <a:r>
              <a:rPr sz="730">
                <a:solidFill>
                  <a:srgbClr val="D6DEEA"/>
                </a:solidFill>
                <a:latin typeface="Consolas"/>
              </a:rPr>
              <a:t>clone</a:t>
            </a:r>
            <a:r>
              <a:rPr sz="730">
                <a:solidFill>
                  <a:srgbClr val="D6DEEA"/>
                </a:solidFill>
                <a:latin typeface="Consolas"/>
              </a:rPr>
              <a:t>(</a:t>
            </a:r>
            <a:r>
              <a:rPr sz="730">
                <a:solidFill>
                  <a:srgbClr val="D6DEEA"/>
                </a:solidFill>
                <a:latin typeface="Consolas"/>
              </a:rPr>
              <a:t>)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C792EA"/>
                </a:solidFill>
                <a:latin typeface="Consolas"/>
              </a:rPr>
              <a:t>const</a:t>
            </a:r>
            <a:r>
              <a:rPr sz="73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	</a:t>
            </a:r>
            <a:r>
              <a:rPr sz="730">
                <a:solidFill>
                  <a:srgbClr val="C792EA"/>
                </a:solidFill>
                <a:latin typeface="Consolas"/>
              </a:rPr>
              <a:t>virtual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C792EA"/>
                </a:solidFill>
                <a:latin typeface="Consolas"/>
              </a:rPr>
              <a:t>void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D6DEEA"/>
                </a:solidFill>
                <a:latin typeface="Consolas"/>
              </a:rPr>
              <a:t>use</a:t>
            </a:r>
            <a:r>
              <a:rPr sz="730">
                <a:solidFill>
                  <a:srgbClr val="D6DEEA"/>
                </a:solidFill>
                <a:latin typeface="Consolas"/>
              </a:rPr>
              <a:t>(</a:t>
            </a:r>
            <a:r>
              <a:rPr sz="730">
                <a:solidFill>
                  <a:srgbClr val="82AAFF"/>
                </a:solidFill>
                <a:latin typeface="Consolas"/>
              </a:rPr>
              <a:t>ICharacter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D6DEEA"/>
                </a:solidFill>
                <a:latin typeface="Consolas"/>
              </a:rPr>
              <a:t>&amp;</a:t>
            </a:r>
            <a:r>
              <a:rPr sz="730">
                <a:solidFill>
                  <a:srgbClr val="D6DEEA"/>
                </a:solidFill>
                <a:latin typeface="Consolas"/>
              </a:rPr>
              <a:t>target</a:t>
            </a:r>
            <a:r>
              <a:rPr sz="730">
                <a:solidFill>
                  <a:srgbClr val="D6DEEA"/>
                </a:solidFill>
                <a:latin typeface="Consolas"/>
              </a:rPr>
              <a:t>)</a:t>
            </a:r>
            <a:r>
              <a:rPr sz="73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}</a:t>
            </a:r>
            <a:r>
              <a:rPr sz="73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82AAFF"/>
                </a:solidFill>
                <a:latin typeface="Consolas"/>
              </a:rPr>
              <a:t>Ice</a:t>
            </a:r>
            <a:r>
              <a:rPr sz="730">
                <a:solidFill>
                  <a:srgbClr val="D6DEEA"/>
                </a:solidFill>
                <a:latin typeface="Consolas"/>
              </a:rPr>
              <a:t>:</a:t>
            </a:r>
            <a:r>
              <a:rPr sz="730">
                <a:solidFill>
                  <a:srgbClr val="D6DEEA"/>
                </a:solidFill>
                <a:latin typeface="Consolas"/>
              </a:rPr>
              <a:t>:</a:t>
            </a:r>
            <a:r>
              <a:rPr sz="730">
                <a:solidFill>
                  <a:srgbClr val="82AAFF"/>
                </a:solidFill>
                <a:latin typeface="Consolas"/>
              </a:rPr>
              <a:t>Ice</a:t>
            </a:r>
            <a:r>
              <a:rPr sz="730">
                <a:solidFill>
                  <a:srgbClr val="D6DEEA"/>
                </a:solidFill>
                <a:latin typeface="Consolas"/>
              </a:rPr>
              <a:t>(</a:t>
            </a:r>
            <a:r>
              <a:rPr sz="73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	</a:t>
            </a:r>
            <a:r>
              <a:rPr sz="730">
                <a:solidFill>
                  <a:srgbClr val="D6DEEA"/>
                </a:solidFill>
                <a:latin typeface="Consolas"/>
              </a:rPr>
              <a:t>: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82AAFF"/>
                </a:solidFill>
                <a:latin typeface="Consolas"/>
              </a:rPr>
              <a:t>AMateria</a:t>
            </a:r>
            <a:r>
              <a:rPr sz="730">
                <a:solidFill>
                  <a:srgbClr val="D6DEEA"/>
                </a:solidFill>
                <a:latin typeface="Consolas"/>
              </a:rPr>
              <a:t>(</a:t>
            </a:r>
            <a:r>
              <a:rPr sz="730">
                <a:solidFill>
                  <a:srgbClr val="ECC48D"/>
                </a:solidFill>
                <a:latin typeface="Consolas"/>
              </a:rPr>
              <a:t>"ice"</a:t>
            </a:r>
            <a:r>
              <a:rPr sz="73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82AAFF"/>
                </a:solidFill>
                <a:latin typeface="Consolas"/>
              </a:rPr>
              <a:t>AMateria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D6DEEA"/>
                </a:solidFill>
                <a:latin typeface="Consolas"/>
              </a:rPr>
              <a:t>*</a:t>
            </a:r>
            <a:r>
              <a:rPr sz="730">
                <a:solidFill>
                  <a:srgbClr val="82AAFF"/>
                </a:solidFill>
                <a:latin typeface="Consolas"/>
              </a:rPr>
              <a:t>Ice</a:t>
            </a:r>
            <a:r>
              <a:rPr sz="730">
                <a:solidFill>
                  <a:srgbClr val="D6DEEA"/>
                </a:solidFill>
                <a:latin typeface="Consolas"/>
              </a:rPr>
              <a:t>:</a:t>
            </a:r>
            <a:r>
              <a:rPr sz="730">
                <a:solidFill>
                  <a:srgbClr val="D6DEEA"/>
                </a:solidFill>
                <a:latin typeface="Consolas"/>
              </a:rPr>
              <a:t>:</a:t>
            </a:r>
            <a:r>
              <a:rPr sz="730">
                <a:solidFill>
                  <a:srgbClr val="D6DEEA"/>
                </a:solidFill>
                <a:latin typeface="Consolas"/>
              </a:rPr>
              <a:t>clone</a:t>
            </a:r>
            <a:r>
              <a:rPr sz="730">
                <a:solidFill>
                  <a:srgbClr val="D6DEEA"/>
                </a:solidFill>
                <a:latin typeface="Consolas"/>
              </a:rPr>
              <a:t>(</a:t>
            </a:r>
            <a:r>
              <a:rPr sz="730">
                <a:solidFill>
                  <a:srgbClr val="D6DEEA"/>
                </a:solidFill>
                <a:latin typeface="Consolas"/>
              </a:rPr>
              <a:t>)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C792EA"/>
                </a:solidFill>
                <a:latin typeface="Consolas"/>
              </a:rPr>
              <a:t>const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	</a:t>
            </a:r>
            <a:r>
              <a:rPr sz="730">
                <a:solidFill>
                  <a:srgbClr val="C792EA"/>
                </a:solidFill>
                <a:latin typeface="Consolas"/>
              </a:rPr>
              <a:t>return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D6DEEA"/>
                </a:solidFill>
                <a:latin typeface="Consolas"/>
              </a:rPr>
              <a:t>(</a:t>
            </a:r>
            <a:r>
              <a:rPr sz="730">
                <a:solidFill>
                  <a:srgbClr val="C792EA"/>
                </a:solidFill>
                <a:latin typeface="Consolas"/>
              </a:rPr>
              <a:t>new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82AAFF"/>
                </a:solidFill>
                <a:latin typeface="Consolas"/>
              </a:rPr>
              <a:t>Ice</a:t>
            </a:r>
            <a:r>
              <a:rPr sz="730">
                <a:solidFill>
                  <a:srgbClr val="D6DEEA"/>
                </a:solidFill>
                <a:latin typeface="Consolas"/>
              </a:rPr>
              <a:t>(</a:t>
            </a:r>
            <a:r>
              <a:rPr sz="730">
                <a:solidFill>
                  <a:srgbClr val="D6DEEA"/>
                </a:solidFill>
                <a:latin typeface="Consolas"/>
              </a:rPr>
              <a:t>)</a:t>
            </a:r>
            <a:r>
              <a:rPr sz="730">
                <a:solidFill>
                  <a:srgbClr val="D6DEEA"/>
                </a:solidFill>
                <a:latin typeface="Consolas"/>
              </a:rPr>
              <a:t>)</a:t>
            </a:r>
            <a:r>
              <a:rPr sz="73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C792EA"/>
                </a:solidFill>
                <a:latin typeface="Consolas"/>
              </a:rPr>
              <a:t>void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82AAFF"/>
                </a:solidFill>
                <a:latin typeface="Consolas"/>
              </a:rPr>
              <a:t>Ice</a:t>
            </a:r>
            <a:r>
              <a:rPr sz="730">
                <a:solidFill>
                  <a:srgbClr val="D6DEEA"/>
                </a:solidFill>
                <a:latin typeface="Consolas"/>
              </a:rPr>
              <a:t>:</a:t>
            </a:r>
            <a:r>
              <a:rPr sz="730">
                <a:solidFill>
                  <a:srgbClr val="D6DEEA"/>
                </a:solidFill>
                <a:latin typeface="Consolas"/>
              </a:rPr>
              <a:t>:</a:t>
            </a:r>
            <a:r>
              <a:rPr sz="730">
                <a:solidFill>
                  <a:srgbClr val="D6DEEA"/>
                </a:solidFill>
                <a:latin typeface="Consolas"/>
              </a:rPr>
              <a:t>use</a:t>
            </a:r>
            <a:r>
              <a:rPr sz="730">
                <a:solidFill>
                  <a:srgbClr val="D6DEEA"/>
                </a:solidFill>
                <a:latin typeface="Consolas"/>
              </a:rPr>
              <a:t>(</a:t>
            </a:r>
            <a:r>
              <a:rPr sz="730">
                <a:solidFill>
                  <a:srgbClr val="82AAFF"/>
                </a:solidFill>
                <a:latin typeface="Consolas"/>
              </a:rPr>
              <a:t>ICharacter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D6DEEA"/>
                </a:solidFill>
                <a:latin typeface="Consolas"/>
              </a:rPr>
              <a:t>&amp;</a:t>
            </a:r>
            <a:r>
              <a:rPr sz="730">
                <a:solidFill>
                  <a:srgbClr val="D6DEEA"/>
                </a:solidFill>
                <a:latin typeface="Consolas"/>
              </a:rPr>
              <a:t>target</a:t>
            </a:r>
            <a:r>
              <a:rPr sz="73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	</a:t>
            </a:r>
            <a:r>
              <a:rPr sz="730">
                <a:solidFill>
                  <a:srgbClr val="C792EA"/>
                </a:solidFill>
                <a:latin typeface="Consolas"/>
              </a:rPr>
              <a:t>std</a:t>
            </a:r>
            <a:r>
              <a:rPr sz="730">
                <a:solidFill>
                  <a:srgbClr val="D6DEEA"/>
                </a:solidFill>
                <a:latin typeface="Consolas"/>
              </a:rPr>
              <a:t>:</a:t>
            </a:r>
            <a:r>
              <a:rPr sz="730">
                <a:solidFill>
                  <a:srgbClr val="D6DEEA"/>
                </a:solidFill>
                <a:latin typeface="Consolas"/>
              </a:rPr>
              <a:t>:</a:t>
            </a:r>
            <a:r>
              <a:rPr sz="730">
                <a:solidFill>
                  <a:srgbClr val="D6DEEA"/>
                </a:solidFill>
                <a:latin typeface="Consolas"/>
              </a:rPr>
              <a:t>cout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D6DEEA"/>
                </a:solidFill>
                <a:latin typeface="Consolas"/>
              </a:rPr>
              <a:t>&lt;</a:t>
            </a:r>
            <a:r>
              <a:rPr sz="730">
                <a:solidFill>
                  <a:srgbClr val="D6DEEA"/>
                </a:solidFill>
                <a:latin typeface="Consolas"/>
              </a:rPr>
              <a:t>&lt;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ECC48D"/>
                </a:solidFill>
                <a:latin typeface="Consolas"/>
              </a:rPr>
              <a:t>"* shoots an ice bolt at "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D6DEEA"/>
                </a:solidFill>
                <a:latin typeface="Consolas"/>
              </a:rPr>
              <a:t>&lt;</a:t>
            </a:r>
            <a:r>
              <a:rPr sz="730">
                <a:solidFill>
                  <a:srgbClr val="D6DEEA"/>
                </a:solidFill>
                <a:latin typeface="Consolas"/>
              </a:rPr>
              <a:t>&lt;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D6DEEA"/>
                </a:solidFill>
                <a:latin typeface="Consolas"/>
              </a:rPr>
              <a:t>target</a:t>
            </a:r>
            <a:r>
              <a:rPr sz="730">
                <a:solidFill>
                  <a:srgbClr val="D6DEEA"/>
                </a:solidFill>
                <a:latin typeface="Consolas"/>
              </a:rPr>
              <a:t>.</a:t>
            </a:r>
            <a:r>
              <a:rPr sz="730">
                <a:solidFill>
                  <a:srgbClr val="D6DEEA"/>
                </a:solidFill>
                <a:latin typeface="Consolas"/>
              </a:rPr>
              <a:t>getName</a:t>
            </a:r>
            <a:r>
              <a:rPr sz="730">
                <a:solidFill>
                  <a:srgbClr val="D6DEEA"/>
                </a:solidFill>
                <a:latin typeface="Consolas"/>
              </a:rPr>
              <a:t>(</a:t>
            </a:r>
            <a:r>
              <a:rPr sz="73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			  </a:t>
            </a:r>
            <a:r>
              <a:rPr sz="730">
                <a:solidFill>
                  <a:srgbClr val="D6DEEA"/>
                </a:solidFill>
                <a:latin typeface="Consolas"/>
              </a:rPr>
              <a:t>&lt;</a:t>
            </a:r>
            <a:r>
              <a:rPr sz="730">
                <a:solidFill>
                  <a:srgbClr val="D6DEEA"/>
                </a:solidFill>
                <a:latin typeface="Consolas"/>
              </a:rPr>
              <a:t>&lt;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ECC48D"/>
                </a:solidFill>
                <a:latin typeface="Consolas"/>
              </a:rPr>
              <a:t>" *"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D6DEEA"/>
                </a:solidFill>
                <a:latin typeface="Consolas"/>
              </a:rPr>
              <a:t>&lt;</a:t>
            </a:r>
            <a:r>
              <a:rPr sz="730">
                <a:solidFill>
                  <a:srgbClr val="D6DEEA"/>
                </a:solidFill>
                <a:latin typeface="Consolas"/>
              </a:rPr>
              <a:t>&lt;</a:t>
            </a:r>
            <a:r>
              <a:rPr sz="730">
                <a:solidFill>
                  <a:srgbClr val="D6DEEA"/>
                </a:solidFill>
                <a:latin typeface="Consolas"/>
              </a:rPr>
              <a:t> </a:t>
            </a:r>
            <a:r>
              <a:rPr sz="730">
                <a:solidFill>
                  <a:srgbClr val="C792EA"/>
                </a:solidFill>
                <a:latin typeface="Consolas"/>
              </a:rPr>
              <a:t>std</a:t>
            </a:r>
            <a:r>
              <a:rPr sz="730">
                <a:solidFill>
                  <a:srgbClr val="D6DEEA"/>
                </a:solidFill>
                <a:latin typeface="Consolas"/>
              </a:rPr>
              <a:t>:</a:t>
            </a:r>
            <a:r>
              <a:rPr sz="730">
                <a:solidFill>
                  <a:srgbClr val="D6DEEA"/>
                </a:solidFill>
                <a:latin typeface="Consolas"/>
              </a:rPr>
              <a:t>:</a:t>
            </a:r>
            <a:r>
              <a:rPr sz="730">
                <a:solidFill>
                  <a:srgbClr val="D6DEEA"/>
                </a:solidFill>
                <a:latin typeface="Consolas"/>
              </a:rPr>
              <a:t>endl</a:t>
            </a:r>
            <a:r>
              <a:rPr sz="73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3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8591" y="1444752"/>
            <a:ext cx="5105863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Two concrete Materias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2911" y="1783461"/>
            <a:ext cx="4831543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Ice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the type *“ice”*,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Cure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the type *“cure”*.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2911" y="2122170"/>
            <a:ext cx="4831543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Both override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clone()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use()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; the rest is inherited from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AMateria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8591" y="2699004"/>
            <a:ext cx="5105863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`clone()` — the polymorphic copy constructor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2911" y="3037713"/>
            <a:ext cx="4831543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AMateria *clone() const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returns a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new object of the dynamic type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2911" y="3614547"/>
            <a:ext cx="4831543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Through an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AMateria *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pointing to an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Ice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clone()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gives back an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Ice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— the class knows how to copy *itself*.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2911" y="4191381"/>
            <a:ext cx="4831543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This is the C++98 way of doing it: the return type is the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base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pointer, because covariant return types only arrived in C++17.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8591" y="4768215"/>
            <a:ext cx="5105863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`use()` — the specialisation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2911" y="5106924"/>
            <a:ext cx="4831543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Ice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shoots an ice bolt,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Cure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heals the target's wounds.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EX03 ·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ICharacter and IMateriaSource: the interfaces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212235" cy="3653447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212235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9562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include/ICharacter.hpp  +  include/IMateriaSource.hpp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937915" cy="3086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C792EA"/>
                </a:solidFill>
                <a:latin typeface="Consolas"/>
              </a:rPr>
              <a:t>class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82AAFF"/>
                </a:solidFill>
                <a:latin typeface="Consolas"/>
              </a:rPr>
              <a:t>AMateria</a:t>
            </a:r>
            <a:r>
              <a:rPr sz="81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C792EA"/>
                </a:solidFill>
                <a:latin typeface="Consolas"/>
              </a:rPr>
              <a:t>class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82AAFF"/>
                </a:solidFill>
                <a:latin typeface="Consolas"/>
              </a:rPr>
              <a:t>ICharacter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C792EA"/>
                </a:solidFill>
                <a:latin typeface="Consolas"/>
              </a:rPr>
              <a:t>public</a:t>
            </a:r>
            <a:r>
              <a:rPr sz="815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D6DEEA"/>
                </a:solidFill>
                <a:latin typeface="Consolas"/>
              </a:rPr>
              <a:t>	</a:t>
            </a:r>
            <a:r>
              <a:rPr sz="815">
                <a:solidFill>
                  <a:srgbClr val="C792EA"/>
                </a:solidFill>
                <a:latin typeface="Consolas"/>
              </a:rPr>
              <a:t>virtual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~</a:t>
            </a:r>
            <a:r>
              <a:rPr sz="815">
                <a:solidFill>
                  <a:srgbClr val="82AAFF"/>
                </a:solidFill>
                <a:latin typeface="Consolas"/>
              </a:rPr>
              <a:t>ICharacter</a:t>
            </a:r>
            <a:r>
              <a:rPr sz="815">
                <a:solidFill>
                  <a:srgbClr val="D6DEEA"/>
                </a:solidFill>
                <a:latin typeface="Consolas"/>
              </a:rPr>
              <a:t>(</a:t>
            </a:r>
            <a:r>
              <a:rPr sz="815">
                <a:solidFill>
                  <a:srgbClr val="D6DEEA"/>
                </a:solidFill>
                <a:latin typeface="Consolas"/>
              </a:rPr>
              <a:t>)</a:t>
            </a:r>
            <a:r>
              <a:rPr sz="81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D6DEEA"/>
                </a:solidFill>
                <a:latin typeface="Consolas"/>
              </a:rPr>
              <a:t>	</a:t>
            </a:r>
            <a:r>
              <a:rPr sz="815">
                <a:solidFill>
                  <a:srgbClr val="C792EA"/>
                </a:solidFill>
                <a:latin typeface="Consolas"/>
              </a:rPr>
              <a:t>virtual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C792EA"/>
                </a:solidFill>
                <a:latin typeface="Consolas"/>
              </a:rPr>
              <a:t>std</a:t>
            </a:r>
            <a:r>
              <a:rPr sz="815">
                <a:solidFill>
                  <a:srgbClr val="D6DEEA"/>
                </a:solidFill>
                <a:latin typeface="Consolas"/>
              </a:rPr>
              <a:t>:</a:t>
            </a:r>
            <a:r>
              <a:rPr sz="815">
                <a:solidFill>
                  <a:srgbClr val="D6DEEA"/>
                </a:solidFill>
                <a:latin typeface="Consolas"/>
              </a:rPr>
              <a:t>:</a:t>
            </a:r>
            <a:r>
              <a:rPr sz="815">
                <a:solidFill>
                  <a:srgbClr val="C792EA"/>
                </a:solidFill>
                <a:latin typeface="Consolas"/>
              </a:rPr>
              <a:t>string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C792EA"/>
                </a:solidFill>
                <a:latin typeface="Consolas"/>
              </a:rPr>
              <a:t>const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&amp;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getName</a:t>
            </a:r>
            <a:r>
              <a:rPr sz="815">
                <a:solidFill>
                  <a:srgbClr val="D6DEEA"/>
                </a:solidFill>
                <a:latin typeface="Consolas"/>
              </a:rPr>
              <a:t>(</a:t>
            </a:r>
            <a:r>
              <a:rPr sz="815">
                <a:solidFill>
                  <a:srgbClr val="D6DEEA"/>
                </a:solidFill>
                <a:latin typeface="Consolas"/>
              </a:rPr>
              <a:t>)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C792EA"/>
                </a:solidFill>
                <a:latin typeface="Consolas"/>
              </a:rPr>
              <a:t>const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=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F78C6C"/>
                </a:solidFill>
                <a:latin typeface="Consolas"/>
              </a:rPr>
              <a:t>0</a:t>
            </a:r>
            <a:r>
              <a:rPr sz="81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D6DEEA"/>
                </a:solidFill>
                <a:latin typeface="Consolas"/>
              </a:rPr>
              <a:t>	</a:t>
            </a:r>
            <a:r>
              <a:rPr sz="815">
                <a:solidFill>
                  <a:srgbClr val="C792EA"/>
                </a:solidFill>
                <a:latin typeface="Consolas"/>
              </a:rPr>
              <a:t>virtual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C792EA"/>
                </a:solidFill>
                <a:latin typeface="Consolas"/>
              </a:rPr>
              <a:t>void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equip</a:t>
            </a:r>
            <a:r>
              <a:rPr sz="815">
                <a:solidFill>
                  <a:srgbClr val="D6DEEA"/>
                </a:solidFill>
                <a:latin typeface="Consolas"/>
              </a:rPr>
              <a:t>(</a:t>
            </a:r>
            <a:r>
              <a:rPr sz="815">
                <a:solidFill>
                  <a:srgbClr val="82AAFF"/>
                </a:solidFill>
                <a:latin typeface="Consolas"/>
              </a:rPr>
              <a:t>AMateria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*</a:t>
            </a:r>
            <a:r>
              <a:rPr sz="815">
                <a:solidFill>
                  <a:srgbClr val="D6DEEA"/>
                </a:solidFill>
                <a:latin typeface="Consolas"/>
              </a:rPr>
              <a:t>m</a:t>
            </a:r>
            <a:r>
              <a:rPr sz="815">
                <a:solidFill>
                  <a:srgbClr val="D6DEEA"/>
                </a:solidFill>
                <a:latin typeface="Consolas"/>
              </a:rPr>
              <a:t>)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=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F78C6C"/>
                </a:solidFill>
                <a:latin typeface="Consolas"/>
              </a:rPr>
              <a:t>0</a:t>
            </a:r>
            <a:r>
              <a:rPr sz="81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D6DEEA"/>
                </a:solidFill>
                <a:latin typeface="Consolas"/>
              </a:rPr>
              <a:t>	</a:t>
            </a:r>
            <a:r>
              <a:rPr sz="815">
                <a:solidFill>
                  <a:srgbClr val="C792EA"/>
                </a:solidFill>
                <a:latin typeface="Consolas"/>
              </a:rPr>
              <a:t>virtual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C792EA"/>
                </a:solidFill>
                <a:latin typeface="Consolas"/>
              </a:rPr>
              <a:t>void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unequip</a:t>
            </a:r>
            <a:r>
              <a:rPr sz="815">
                <a:solidFill>
                  <a:srgbClr val="D6DEEA"/>
                </a:solidFill>
                <a:latin typeface="Consolas"/>
              </a:rPr>
              <a:t>(</a:t>
            </a:r>
            <a:r>
              <a:rPr sz="815">
                <a:solidFill>
                  <a:srgbClr val="C792EA"/>
                </a:solidFill>
                <a:latin typeface="Consolas"/>
              </a:rPr>
              <a:t>int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idx</a:t>
            </a:r>
            <a:r>
              <a:rPr sz="815">
                <a:solidFill>
                  <a:srgbClr val="D6DEEA"/>
                </a:solidFill>
                <a:latin typeface="Consolas"/>
              </a:rPr>
              <a:t>)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=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F78C6C"/>
                </a:solidFill>
                <a:latin typeface="Consolas"/>
              </a:rPr>
              <a:t>0</a:t>
            </a:r>
            <a:r>
              <a:rPr sz="81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D6DEEA"/>
                </a:solidFill>
                <a:latin typeface="Consolas"/>
              </a:rPr>
              <a:t>	</a:t>
            </a:r>
            <a:r>
              <a:rPr sz="815">
                <a:solidFill>
                  <a:srgbClr val="C792EA"/>
                </a:solidFill>
                <a:latin typeface="Consolas"/>
              </a:rPr>
              <a:t>virtual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C792EA"/>
                </a:solidFill>
                <a:latin typeface="Consolas"/>
              </a:rPr>
              <a:t>void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use</a:t>
            </a:r>
            <a:r>
              <a:rPr sz="815">
                <a:solidFill>
                  <a:srgbClr val="D6DEEA"/>
                </a:solidFill>
                <a:latin typeface="Consolas"/>
              </a:rPr>
              <a:t>(</a:t>
            </a:r>
            <a:r>
              <a:rPr sz="815">
                <a:solidFill>
                  <a:srgbClr val="C792EA"/>
                </a:solidFill>
                <a:latin typeface="Consolas"/>
              </a:rPr>
              <a:t>int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idx</a:t>
            </a:r>
            <a:r>
              <a:rPr sz="815">
                <a:solidFill>
                  <a:srgbClr val="D6DEEA"/>
                </a:solidFill>
                <a:latin typeface="Consolas"/>
              </a:rPr>
              <a:t>,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82AAFF"/>
                </a:solidFill>
                <a:latin typeface="Consolas"/>
              </a:rPr>
              <a:t>ICharacter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&amp;</a:t>
            </a:r>
            <a:r>
              <a:rPr sz="815">
                <a:solidFill>
                  <a:srgbClr val="D6DEEA"/>
                </a:solidFill>
                <a:latin typeface="Consolas"/>
              </a:rPr>
              <a:t>target</a:t>
            </a:r>
            <a:r>
              <a:rPr sz="815">
                <a:solidFill>
                  <a:srgbClr val="D6DEEA"/>
                </a:solidFill>
                <a:latin typeface="Consolas"/>
              </a:rPr>
              <a:t>)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=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F78C6C"/>
                </a:solidFill>
                <a:latin typeface="Consolas"/>
              </a:rPr>
              <a:t>0</a:t>
            </a:r>
            <a:r>
              <a:rPr sz="81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D6DEEA"/>
                </a:solidFill>
                <a:latin typeface="Consolas"/>
              </a:rPr>
              <a:t>}</a:t>
            </a:r>
            <a:r>
              <a:rPr sz="81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C792EA"/>
                </a:solidFill>
                <a:latin typeface="Consolas"/>
              </a:rPr>
              <a:t>class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82AAFF"/>
                </a:solidFill>
                <a:latin typeface="Consolas"/>
              </a:rPr>
              <a:t>AMateria</a:t>
            </a:r>
            <a:r>
              <a:rPr sz="81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C792EA"/>
                </a:solidFill>
                <a:latin typeface="Consolas"/>
              </a:rPr>
              <a:t>class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82AAFF"/>
                </a:solidFill>
                <a:latin typeface="Consolas"/>
              </a:rPr>
              <a:t>IMateriaSource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C792EA"/>
                </a:solidFill>
                <a:latin typeface="Consolas"/>
              </a:rPr>
              <a:t>public</a:t>
            </a:r>
            <a:r>
              <a:rPr sz="815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D6DEEA"/>
                </a:solidFill>
                <a:latin typeface="Consolas"/>
              </a:rPr>
              <a:t>	</a:t>
            </a:r>
            <a:r>
              <a:rPr sz="815">
                <a:solidFill>
                  <a:srgbClr val="C792EA"/>
                </a:solidFill>
                <a:latin typeface="Consolas"/>
              </a:rPr>
              <a:t>virtual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~</a:t>
            </a:r>
            <a:r>
              <a:rPr sz="815">
                <a:solidFill>
                  <a:srgbClr val="82AAFF"/>
                </a:solidFill>
                <a:latin typeface="Consolas"/>
              </a:rPr>
              <a:t>IMateriaSource</a:t>
            </a:r>
            <a:r>
              <a:rPr sz="815">
                <a:solidFill>
                  <a:srgbClr val="D6DEEA"/>
                </a:solidFill>
                <a:latin typeface="Consolas"/>
              </a:rPr>
              <a:t>(</a:t>
            </a:r>
            <a:r>
              <a:rPr sz="815">
                <a:solidFill>
                  <a:srgbClr val="D6DEEA"/>
                </a:solidFill>
                <a:latin typeface="Consolas"/>
              </a:rPr>
              <a:t>)</a:t>
            </a:r>
            <a:r>
              <a:rPr sz="81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D6DEEA"/>
                </a:solidFill>
                <a:latin typeface="Consolas"/>
              </a:rPr>
              <a:t>	</a:t>
            </a:r>
            <a:r>
              <a:rPr sz="815">
                <a:solidFill>
                  <a:srgbClr val="C792EA"/>
                </a:solidFill>
                <a:latin typeface="Consolas"/>
              </a:rPr>
              <a:t>virtual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C792EA"/>
                </a:solidFill>
                <a:latin typeface="Consolas"/>
              </a:rPr>
              <a:t>void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learnMateria</a:t>
            </a:r>
            <a:r>
              <a:rPr sz="815">
                <a:solidFill>
                  <a:srgbClr val="D6DEEA"/>
                </a:solidFill>
                <a:latin typeface="Consolas"/>
              </a:rPr>
              <a:t>(</a:t>
            </a:r>
            <a:r>
              <a:rPr sz="815">
                <a:solidFill>
                  <a:srgbClr val="82AAFF"/>
                </a:solidFill>
                <a:latin typeface="Consolas"/>
              </a:rPr>
              <a:t>AMateria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*</a:t>
            </a:r>
            <a:r>
              <a:rPr sz="815">
                <a:solidFill>
                  <a:srgbClr val="D6DEEA"/>
                </a:solidFill>
                <a:latin typeface="Consolas"/>
              </a:rPr>
              <a:t>m</a:t>
            </a:r>
            <a:r>
              <a:rPr sz="815">
                <a:solidFill>
                  <a:srgbClr val="D6DEEA"/>
                </a:solidFill>
                <a:latin typeface="Consolas"/>
              </a:rPr>
              <a:t>)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=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F78C6C"/>
                </a:solidFill>
                <a:latin typeface="Consolas"/>
              </a:rPr>
              <a:t>0</a:t>
            </a:r>
            <a:r>
              <a:rPr sz="81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D6DEEA"/>
                </a:solidFill>
                <a:latin typeface="Consolas"/>
              </a:rPr>
              <a:t>	</a:t>
            </a:r>
            <a:r>
              <a:rPr sz="815">
                <a:solidFill>
                  <a:srgbClr val="C792EA"/>
                </a:solidFill>
                <a:latin typeface="Consolas"/>
              </a:rPr>
              <a:t>virtual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82AAFF"/>
                </a:solidFill>
                <a:latin typeface="Consolas"/>
              </a:rPr>
              <a:t>AMateria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*</a:t>
            </a:r>
            <a:r>
              <a:rPr sz="815">
                <a:solidFill>
                  <a:srgbClr val="D6DEEA"/>
                </a:solidFill>
                <a:latin typeface="Consolas"/>
              </a:rPr>
              <a:t>createMateria</a:t>
            </a:r>
            <a:r>
              <a:rPr sz="815">
                <a:solidFill>
                  <a:srgbClr val="D6DEEA"/>
                </a:solidFill>
                <a:latin typeface="Consolas"/>
              </a:rPr>
              <a:t>(</a:t>
            </a:r>
            <a:r>
              <a:rPr sz="815">
                <a:solidFill>
                  <a:srgbClr val="C792EA"/>
                </a:solidFill>
                <a:latin typeface="Consolas"/>
              </a:rPr>
              <a:t>std</a:t>
            </a:r>
            <a:r>
              <a:rPr sz="815">
                <a:solidFill>
                  <a:srgbClr val="D6DEEA"/>
                </a:solidFill>
                <a:latin typeface="Consolas"/>
              </a:rPr>
              <a:t>:</a:t>
            </a:r>
            <a:r>
              <a:rPr sz="815">
                <a:solidFill>
                  <a:srgbClr val="D6DEEA"/>
                </a:solidFill>
                <a:latin typeface="Consolas"/>
              </a:rPr>
              <a:t>:</a:t>
            </a:r>
            <a:r>
              <a:rPr sz="815">
                <a:solidFill>
                  <a:srgbClr val="C792EA"/>
                </a:solidFill>
                <a:latin typeface="Consolas"/>
              </a:rPr>
              <a:t>string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C792EA"/>
                </a:solidFill>
                <a:latin typeface="Consolas"/>
              </a:rPr>
              <a:t>const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&amp;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type</a:t>
            </a:r>
            <a:r>
              <a:rPr sz="815">
                <a:solidFill>
                  <a:srgbClr val="D6DEEA"/>
                </a:solidFill>
                <a:latin typeface="Consolas"/>
              </a:rPr>
              <a:t>)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D6DEEA"/>
                </a:solidFill>
                <a:latin typeface="Consolas"/>
              </a:rPr>
              <a:t>=</a:t>
            </a:r>
            <a:r>
              <a:rPr sz="815">
                <a:solidFill>
                  <a:srgbClr val="D6DEEA"/>
                </a:solidFill>
                <a:latin typeface="Consolas"/>
              </a:rPr>
              <a:t> </a:t>
            </a:r>
            <a:r>
              <a:rPr sz="815">
                <a:solidFill>
                  <a:srgbClr val="F78C6C"/>
                </a:solidFill>
                <a:latin typeface="Consolas"/>
              </a:rPr>
              <a:t>0</a:t>
            </a:r>
            <a:r>
              <a:rPr sz="81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15">
                <a:solidFill>
                  <a:srgbClr val="D6DEEA"/>
                </a:solidFill>
                <a:latin typeface="Consolas"/>
              </a:rPr>
              <a:t>}</a:t>
            </a:r>
            <a:r>
              <a:rPr sz="815">
                <a:solidFill>
                  <a:srgbClr val="D6DEEA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8591" y="1444752"/>
            <a:ext cx="5105863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What is an interface in C++?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2911" y="1783461"/>
            <a:ext cx="4831543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A class whose methods are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all pure virtual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— nothing but a contract.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2911" y="2360295"/>
            <a:ext cx="4831543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I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prefix is the 42 convention to make it obvious at the call site: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ICharacter *me = new Character("me");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8591" y="2937129"/>
            <a:ext cx="5105863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Why the destructor is not pure virtual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2911" y="3275838"/>
            <a:ext cx="4831543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A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virtual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destructor is still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defined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(in the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.cpp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), so that deleting through the interface is safe.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2911" y="3852672"/>
            <a:ext cx="4831543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42 Norms forbid any implementation inside a header → the body goes into a separate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.cpp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file.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8591" y="4429506"/>
            <a:ext cx="5105863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The forward declaration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2911" y="4768215"/>
            <a:ext cx="4831543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class AMateria;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— the interfaces only manipulate Materias through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pointers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so they never need the full definition.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EX03 ·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Character: the inventory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318607" cy="3542537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318607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0625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include/Character.hpp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044287" cy="29756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C792EA"/>
                </a:solidFill>
                <a:latin typeface="Consolas"/>
              </a:rPr>
              <a:t>class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82AAFF"/>
                </a:solidFill>
                <a:latin typeface="Consolas"/>
              </a:rPr>
              <a:t>Character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C792EA"/>
                </a:solidFill>
                <a:latin typeface="Consolas"/>
              </a:rPr>
              <a:t>public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82AAFF"/>
                </a:solidFill>
                <a:latin typeface="Consolas"/>
              </a:rPr>
              <a:t>ICharacter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C792EA"/>
                </a:solidFill>
                <a:latin typeface="Consolas"/>
              </a:rPr>
              <a:t>public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</a:t>
            </a:r>
            <a:r>
              <a:rPr sz="1100">
                <a:solidFill>
                  <a:srgbClr val="82AAFF"/>
                </a:solidFill>
                <a:latin typeface="Consolas"/>
              </a:rPr>
              <a:t>Character</a:t>
            </a:r>
            <a:r>
              <a:rPr sz="1100">
                <a:solidFill>
                  <a:srgbClr val="D6DEEA"/>
                </a:solidFill>
                <a:latin typeface="Consolas"/>
              </a:rPr>
              <a:t>(</a:t>
            </a:r>
            <a:r>
              <a:rPr sz="1100">
                <a:solidFill>
                  <a:srgbClr val="C792EA"/>
                </a:solidFill>
                <a:latin typeface="Consolas"/>
              </a:rPr>
              <a:t>std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C792EA"/>
                </a:solidFill>
                <a:latin typeface="Consolas"/>
              </a:rPr>
              <a:t>string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C792EA"/>
                </a:solidFill>
                <a:latin typeface="Consolas"/>
              </a:rPr>
              <a:t>const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&amp;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name</a:t>
            </a:r>
            <a:r>
              <a:rPr sz="1100">
                <a:solidFill>
                  <a:srgbClr val="D6DEEA"/>
                </a:solidFill>
                <a:latin typeface="Consolas"/>
              </a:rPr>
              <a:t>)</a:t>
            </a:r>
            <a:r>
              <a:rPr sz="11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</a:t>
            </a:r>
            <a:r>
              <a:rPr sz="1100">
                <a:solidFill>
                  <a:srgbClr val="C792EA"/>
                </a:solidFill>
                <a:latin typeface="Consolas"/>
              </a:rPr>
              <a:t>virtual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C792EA"/>
                </a:solidFill>
                <a:latin typeface="Consolas"/>
              </a:rPr>
              <a:t>std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C792EA"/>
                </a:solidFill>
                <a:latin typeface="Consolas"/>
              </a:rPr>
              <a:t>string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C792EA"/>
                </a:solidFill>
                <a:latin typeface="Consolas"/>
              </a:rPr>
              <a:t>const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&amp;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getName</a:t>
            </a:r>
            <a:r>
              <a:rPr sz="1100">
                <a:solidFill>
                  <a:srgbClr val="D6DEEA"/>
                </a:solidFill>
                <a:latin typeface="Consolas"/>
              </a:rPr>
              <a:t>(</a:t>
            </a:r>
            <a:r>
              <a:rPr sz="1100">
                <a:solidFill>
                  <a:srgbClr val="D6DEEA"/>
                </a:solidFill>
                <a:latin typeface="Consolas"/>
              </a:rPr>
              <a:t>)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C792EA"/>
                </a:solidFill>
                <a:latin typeface="Consolas"/>
              </a:rPr>
              <a:t>const</a:t>
            </a:r>
            <a:r>
              <a:rPr sz="11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</a:t>
            </a:r>
            <a:r>
              <a:rPr sz="1100">
                <a:solidFill>
                  <a:srgbClr val="C792EA"/>
                </a:solidFill>
                <a:latin typeface="Consolas"/>
              </a:rPr>
              <a:t>virtual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C792EA"/>
                </a:solidFill>
                <a:latin typeface="Consolas"/>
              </a:rPr>
              <a:t>void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equip</a:t>
            </a:r>
            <a:r>
              <a:rPr sz="1100">
                <a:solidFill>
                  <a:srgbClr val="D6DEEA"/>
                </a:solidFill>
                <a:latin typeface="Consolas"/>
              </a:rPr>
              <a:t>(</a:t>
            </a:r>
            <a:r>
              <a:rPr sz="1100">
                <a:solidFill>
                  <a:srgbClr val="82AAFF"/>
                </a:solidFill>
                <a:latin typeface="Consolas"/>
              </a:rPr>
              <a:t>AMateria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*</a:t>
            </a:r>
            <a:r>
              <a:rPr sz="1100">
                <a:solidFill>
                  <a:srgbClr val="D6DEEA"/>
                </a:solidFill>
                <a:latin typeface="Consolas"/>
              </a:rPr>
              <a:t>m</a:t>
            </a:r>
            <a:r>
              <a:rPr sz="1100">
                <a:solidFill>
                  <a:srgbClr val="D6DEEA"/>
                </a:solidFill>
                <a:latin typeface="Consolas"/>
              </a:rPr>
              <a:t>)</a:t>
            </a:r>
            <a:r>
              <a:rPr sz="11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</a:t>
            </a:r>
            <a:r>
              <a:rPr sz="1100">
                <a:solidFill>
                  <a:srgbClr val="C792EA"/>
                </a:solidFill>
                <a:latin typeface="Consolas"/>
              </a:rPr>
              <a:t>virtual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C792EA"/>
                </a:solidFill>
                <a:latin typeface="Consolas"/>
              </a:rPr>
              <a:t>void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unequip</a:t>
            </a:r>
            <a:r>
              <a:rPr sz="1100">
                <a:solidFill>
                  <a:srgbClr val="D6DEEA"/>
                </a:solidFill>
                <a:latin typeface="Consolas"/>
              </a:rPr>
              <a:t>(</a:t>
            </a:r>
            <a:r>
              <a:rPr sz="1100">
                <a:solidFill>
                  <a:srgbClr val="C792EA"/>
                </a:solidFill>
                <a:latin typeface="Consolas"/>
              </a:rPr>
              <a:t>int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idx</a:t>
            </a:r>
            <a:r>
              <a:rPr sz="1100">
                <a:solidFill>
                  <a:srgbClr val="D6DEEA"/>
                </a:solidFill>
                <a:latin typeface="Consolas"/>
              </a:rPr>
              <a:t>)</a:t>
            </a:r>
            <a:r>
              <a:rPr sz="11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</a:t>
            </a:r>
            <a:r>
              <a:rPr sz="1100">
                <a:solidFill>
                  <a:srgbClr val="C792EA"/>
                </a:solidFill>
                <a:latin typeface="Consolas"/>
              </a:rPr>
              <a:t>virtual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C792EA"/>
                </a:solidFill>
                <a:latin typeface="Consolas"/>
              </a:rPr>
              <a:t>void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use</a:t>
            </a:r>
            <a:r>
              <a:rPr sz="1100">
                <a:solidFill>
                  <a:srgbClr val="D6DEEA"/>
                </a:solidFill>
                <a:latin typeface="Consolas"/>
              </a:rPr>
              <a:t>(</a:t>
            </a:r>
            <a:r>
              <a:rPr sz="1100">
                <a:solidFill>
                  <a:srgbClr val="C792EA"/>
                </a:solidFill>
                <a:latin typeface="Consolas"/>
              </a:rPr>
              <a:t>int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idx</a:t>
            </a:r>
            <a:r>
              <a:rPr sz="1100">
                <a:solidFill>
                  <a:srgbClr val="D6DEEA"/>
                </a:solidFill>
                <a:latin typeface="Consolas"/>
              </a:rPr>
              <a:t>,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82AAFF"/>
                </a:solidFill>
                <a:latin typeface="Consolas"/>
              </a:rPr>
              <a:t>ICharacter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&amp;</a:t>
            </a:r>
            <a:r>
              <a:rPr sz="1100">
                <a:solidFill>
                  <a:srgbClr val="D6DEEA"/>
                </a:solidFill>
                <a:latin typeface="Consolas"/>
              </a:rPr>
              <a:t>target</a:t>
            </a:r>
            <a:r>
              <a:rPr sz="1100">
                <a:solidFill>
                  <a:srgbClr val="D6DEEA"/>
                </a:solidFill>
                <a:latin typeface="Consolas"/>
              </a:rPr>
              <a:t>)</a:t>
            </a:r>
            <a:r>
              <a:rPr sz="11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</a:t>
            </a:r>
            <a:r>
              <a:rPr sz="1100">
                <a:solidFill>
                  <a:srgbClr val="82AAFF"/>
                </a:solidFill>
                <a:latin typeface="Consolas"/>
              </a:rPr>
              <a:t>AMateria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*</a:t>
            </a:r>
            <a:r>
              <a:rPr sz="1100">
                <a:solidFill>
                  <a:srgbClr val="D6DEEA"/>
                </a:solidFill>
                <a:latin typeface="Consolas"/>
              </a:rPr>
              <a:t>getMateria</a:t>
            </a:r>
            <a:r>
              <a:rPr sz="1100">
                <a:solidFill>
                  <a:srgbClr val="D6DEEA"/>
                </a:solidFill>
                <a:latin typeface="Consolas"/>
              </a:rPr>
              <a:t>(</a:t>
            </a:r>
            <a:r>
              <a:rPr sz="1100">
                <a:solidFill>
                  <a:srgbClr val="C792EA"/>
                </a:solidFill>
                <a:latin typeface="Consolas"/>
              </a:rPr>
              <a:t>int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idx</a:t>
            </a:r>
            <a:r>
              <a:rPr sz="1100">
                <a:solidFill>
                  <a:srgbClr val="D6DEEA"/>
                </a:solidFill>
                <a:latin typeface="Consolas"/>
              </a:rPr>
              <a:t>)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C792EA"/>
                </a:solidFill>
                <a:latin typeface="Consolas"/>
              </a:rPr>
              <a:t>const</a:t>
            </a:r>
            <a:r>
              <a:rPr sz="11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C792EA"/>
                </a:solidFill>
                <a:latin typeface="Consolas"/>
              </a:rPr>
              <a:t>private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</a:t>
            </a:r>
            <a:r>
              <a:rPr sz="1100">
                <a:solidFill>
                  <a:srgbClr val="C792EA"/>
                </a:solidFill>
                <a:latin typeface="Consolas"/>
              </a:rPr>
              <a:t>std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C792EA"/>
                </a:solidFill>
                <a:latin typeface="Consolas"/>
              </a:rPr>
              <a:t>string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name_</a:t>
            </a:r>
            <a:r>
              <a:rPr sz="11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</a:t>
            </a:r>
            <a:r>
              <a:rPr sz="1100">
                <a:solidFill>
                  <a:srgbClr val="82AAFF"/>
                </a:solidFill>
                <a:latin typeface="Consolas"/>
              </a:rPr>
              <a:t>AMateria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*</a:t>
            </a:r>
            <a:r>
              <a:rPr sz="1100">
                <a:solidFill>
                  <a:srgbClr val="D6DEEA"/>
                </a:solidFill>
                <a:latin typeface="Consolas"/>
              </a:rPr>
              <a:t>inventory_</a:t>
            </a:r>
            <a:r>
              <a:rPr sz="1100">
                <a:solidFill>
                  <a:srgbClr val="D6DEEA"/>
                </a:solidFill>
                <a:latin typeface="Consolas"/>
              </a:rPr>
              <a:t>[</a:t>
            </a:r>
            <a:r>
              <a:rPr sz="1100">
                <a:solidFill>
                  <a:srgbClr val="F78C6C"/>
                </a:solidFill>
                <a:latin typeface="Consolas"/>
              </a:rPr>
              <a:t>4</a:t>
            </a:r>
            <a:r>
              <a:rPr sz="1100">
                <a:solidFill>
                  <a:srgbClr val="D6DEEA"/>
                </a:solidFill>
                <a:latin typeface="Consolas"/>
              </a:rPr>
              <a:t>]</a:t>
            </a:r>
            <a:r>
              <a:rPr sz="11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}</a:t>
            </a:r>
            <a:r>
              <a:rPr sz="1100">
                <a:solidFill>
                  <a:srgbClr val="D6DEEA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963" y="1444752"/>
            <a:ext cx="499949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9283" y="1762963"/>
            <a:ext cx="472517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A plain array of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4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pointers — no STL yet (module 08).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9283" y="2081174"/>
            <a:ext cx="472517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0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is the “empty slot” marker, because C++98 has no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nullptr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9283" y="2399385"/>
            <a:ext cx="472517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array is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not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initialised in the header: the constructor does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963" y="2717596"/>
            <a:ext cx="499949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Every method is `virtual`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9283" y="3035807"/>
            <a:ext cx="47251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class implements the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ICharacter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contract — the compiler checks that all four pure virtual methods are there.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9283" y="3582618"/>
            <a:ext cx="47251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Because the destructor of the interface is virtual,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delete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through an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ICharacter *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is safe.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963" y="4129429"/>
            <a:ext cx="499949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9283" y="4447640"/>
            <a:ext cx="47251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name_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is a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std::string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stored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by value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copying a character copies the string, no pointer involved.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468112"/>
            <a:ext cx="10637215" cy="731520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468112"/>
            <a:ext cx="50292" cy="73152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5586984"/>
            <a:ext cx="1023487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E8871A"/>
                </a:solidFill>
                <a:latin typeface="Segoe UI Semibold"/>
              </a:rPr>
              <a:t>Why the slots are raw pointers, and not a std::vector&lt;AMateria *&gt;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Module 04 is C++98 and the 42 Norms forbid the containers of the standard library here (they come back in module 08). A fixed array of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4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pointers also matches the subject exactly: *“the character has 4 materia slots”*.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EX03 ·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</a:t>
            </a:r>
            <a:r>
              <a:rPr b="0" sz="2538" i="0">
                <a:solidFill>
                  <a:srgbClr val="1F8A7A"/>
                </a:solidFill>
                <a:latin typeface="Consolas"/>
              </a:rPr>
              <a:t>equip()</a:t>
            </a:r>
            <a:r>
              <a:rPr b="1" sz="2700" i="0">
                <a:solidFill>
                  <a:srgbClr val="0E1B2E"/>
                </a:solidFill>
                <a:latin typeface="Segoe UI Semibold"/>
              </a:rPr>
              <a:t> and </a:t>
            </a:r>
            <a:r>
              <a:rPr b="0" sz="2538" i="0">
                <a:solidFill>
                  <a:srgbClr val="1F8A7A"/>
                </a:solidFill>
                <a:latin typeface="Consolas"/>
              </a:rPr>
              <a:t>unequip()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318607" cy="4543425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318607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0625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src/Character.cpp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044287" cy="39764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C792EA"/>
                </a:solidFill>
                <a:latin typeface="Consolas"/>
              </a:rPr>
              <a:t>void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82AAFF"/>
                </a:solidFill>
                <a:latin typeface="Consolas"/>
              </a:rPr>
              <a:t>Character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D6DEEA"/>
                </a:solidFill>
                <a:latin typeface="Consolas"/>
              </a:rPr>
              <a:t>equip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82AAFF"/>
                </a:solidFill>
                <a:latin typeface="Consolas"/>
              </a:rPr>
              <a:t>AMateria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*</a:t>
            </a:r>
            <a:r>
              <a:rPr sz="1050">
                <a:solidFill>
                  <a:srgbClr val="D6DEEA"/>
                </a:solidFill>
                <a:latin typeface="Consolas"/>
              </a:rPr>
              <a:t>m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C792EA"/>
                </a:solidFill>
                <a:latin typeface="Consolas"/>
              </a:rPr>
              <a:t>if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D6DEEA"/>
                </a:solidFill>
                <a:latin typeface="Consolas"/>
              </a:rPr>
              <a:t>!</a:t>
            </a:r>
            <a:r>
              <a:rPr sz="1050">
                <a:solidFill>
                  <a:srgbClr val="D6DEEA"/>
                </a:solidFill>
                <a:latin typeface="Consolas"/>
              </a:rPr>
              <a:t>m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	</a:t>
            </a:r>
            <a:r>
              <a:rPr sz="1050">
                <a:solidFill>
                  <a:srgbClr val="C792EA"/>
                </a:solidFill>
                <a:latin typeface="Consolas"/>
              </a:rPr>
              <a:t>return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C792EA"/>
                </a:solidFill>
                <a:latin typeface="Consolas"/>
              </a:rPr>
              <a:t>for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C792EA"/>
                </a:solidFill>
                <a:latin typeface="Consolas"/>
              </a:rPr>
              <a:t>int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i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=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F78C6C"/>
                </a:solidFill>
                <a:latin typeface="Consolas"/>
              </a:rPr>
              <a:t>0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i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&lt;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F78C6C"/>
                </a:solidFill>
                <a:latin typeface="Consolas"/>
              </a:rPr>
              <a:t>4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i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	</a:t>
            </a:r>
            <a:r>
              <a:rPr sz="1050">
                <a:solidFill>
                  <a:srgbClr val="C792EA"/>
                </a:solidFill>
                <a:latin typeface="Consolas"/>
              </a:rPr>
              <a:t>if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D6DEEA"/>
                </a:solidFill>
                <a:latin typeface="Consolas"/>
              </a:rPr>
              <a:t>!</a:t>
            </a:r>
            <a:r>
              <a:rPr sz="1050">
                <a:solidFill>
                  <a:srgbClr val="D6DEEA"/>
                </a:solidFill>
                <a:latin typeface="Consolas"/>
              </a:rPr>
              <a:t>inventory_</a:t>
            </a:r>
            <a:r>
              <a:rPr sz="1050">
                <a:solidFill>
                  <a:srgbClr val="D6DEEA"/>
                </a:solidFill>
                <a:latin typeface="Consolas"/>
              </a:rPr>
              <a:t>[</a:t>
            </a:r>
            <a:r>
              <a:rPr sz="1050">
                <a:solidFill>
                  <a:srgbClr val="D6DEEA"/>
                </a:solidFill>
                <a:latin typeface="Consolas"/>
              </a:rPr>
              <a:t>i</a:t>
            </a:r>
            <a:r>
              <a:rPr sz="1050">
                <a:solidFill>
                  <a:srgbClr val="D6DEEA"/>
                </a:solidFill>
                <a:latin typeface="Consolas"/>
              </a:rPr>
              <a:t>]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	</a:t>
            </a:r>
            <a:r>
              <a:rPr sz="10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		</a:t>
            </a:r>
            <a:r>
              <a:rPr sz="1050">
                <a:solidFill>
                  <a:srgbClr val="D6DEEA"/>
                </a:solidFill>
                <a:latin typeface="Consolas"/>
              </a:rPr>
              <a:t>inventory_</a:t>
            </a:r>
            <a:r>
              <a:rPr sz="1050">
                <a:solidFill>
                  <a:srgbClr val="D6DEEA"/>
                </a:solidFill>
                <a:latin typeface="Consolas"/>
              </a:rPr>
              <a:t>[</a:t>
            </a:r>
            <a:r>
              <a:rPr sz="1050">
                <a:solidFill>
                  <a:srgbClr val="D6DEEA"/>
                </a:solidFill>
                <a:latin typeface="Consolas"/>
              </a:rPr>
              <a:t>i</a:t>
            </a:r>
            <a:r>
              <a:rPr sz="1050">
                <a:solidFill>
                  <a:srgbClr val="D6DEEA"/>
                </a:solidFill>
                <a:latin typeface="Consolas"/>
              </a:rPr>
              <a:t>]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=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m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		</a:t>
            </a:r>
            <a:r>
              <a:rPr sz="1050">
                <a:solidFill>
                  <a:srgbClr val="C792EA"/>
                </a:solidFill>
                <a:latin typeface="Consolas"/>
              </a:rPr>
              <a:t>return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	</a:t>
            </a:r>
            <a:r>
              <a:rPr sz="105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 i="1">
                <a:solidFill>
                  <a:srgbClr val="62738A"/>
                </a:solidFill>
                <a:latin typeface="Consolas"/>
              </a:rPr>
              <a:t>//  the inventory is full: the caller keeps the materia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C792EA"/>
                </a:solidFill>
                <a:latin typeface="Consolas"/>
              </a:rPr>
              <a:t>void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82AAFF"/>
                </a:solidFill>
                <a:latin typeface="Consolas"/>
              </a:rPr>
              <a:t>Character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D6DEEA"/>
                </a:solidFill>
                <a:latin typeface="Consolas"/>
              </a:rPr>
              <a:t>unequip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C792EA"/>
                </a:solidFill>
                <a:latin typeface="Consolas"/>
              </a:rPr>
              <a:t>int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idx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C792EA"/>
                </a:solidFill>
                <a:latin typeface="Consolas"/>
              </a:rPr>
              <a:t>if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D6DEEA"/>
                </a:solidFill>
                <a:latin typeface="Consolas"/>
              </a:rPr>
              <a:t>idx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&lt;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F78C6C"/>
                </a:solidFill>
                <a:latin typeface="Consolas"/>
              </a:rPr>
              <a:t>0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|</a:t>
            </a:r>
            <a:r>
              <a:rPr sz="1050">
                <a:solidFill>
                  <a:srgbClr val="D6DEEA"/>
                </a:solidFill>
                <a:latin typeface="Consolas"/>
              </a:rPr>
              <a:t>|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idx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&gt;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F78C6C"/>
                </a:solidFill>
                <a:latin typeface="Consolas"/>
              </a:rPr>
              <a:t>3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|</a:t>
            </a:r>
            <a:r>
              <a:rPr sz="1050">
                <a:solidFill>
                  <a:srgbClr val="D6DEEA"/>
                </a:solidFill>
                <a:latin typeface="Consolas"/>
              </a:rPr>
              <a:t>|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!</a:t>
            </a:r>
            <a:r>
              <a:rPr sz="1050">
                <a:solidFill>
                  <a:srgbClr val="D6DEEA"/>
                </a:solidFill>
                <a:latin typeface="Consolas"/>
              </a:rPr>
              <a:t>inventory_</a:t>
            </a:r>
            <a:r>
              <a:rPr sz="1050">
                <a:solidFill>
                  <a:srgbClr val="D6DEEA"/>
                </a:solidFill>
                <a:latin typeface="Consolas"/>
              </a:rPr>
              <a:t>[</a:t>
            </a:r>
            <a:r>
              <a:rPr sz="1050">
                <a:solidFill>
                  <a:srgbClr val="D6DEEA"/>
                </a:solidFill>
                <a:latin typeface="Consolas"/>
              </a:rPr>
              <a:t>idx</a:t>
            </a:r>
            <a:r>
              <a:rPr sz="1050">
                <a:solidFill>
                  <a:srgbClr val="D6DEEA"/>
                </a:solidFill>
                <a:latin typeface="Consolas"/>
              </a:rPr>
              <a:t>]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	</a:t>
            </a:r>
            <a:r>
              <a:rPr sz="1050">
                <a:solidFill>
                  <a:srgbClr val="C792EA"/>
                </a:solidFill>
                <a:latin typeface="Consolas"/>
              </a:rPr>
              <a:t>return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D6DEEA"/>
                </a:solidFill>
                <a:latin typeface="Consolas"/>
              </a:rPr>
              <a:t>inventory_</a:t>
            </a:r>
            <a:r>
              <a:rPr sz="1050">
                <a:solidFill>
                  <a:srgbClr val="D6DEEA"/>
                </a:solidFill>
                <a:latin typeface="Consolas"/>
              </a:rPr>
              <a:t>[</a:t>
            </a:r>
            <a:r>
              <a:rPr sz="1050">
                <a:solidFill>
                  <a:srgbClr val="D6DEEA"/>
                </a:solidFill>
                <a:latin typeface="Consolas"/>
              </a:rPr>
              <a:t>idx</a:t>
            </a:r>
            <a:r>
              <a:rPr sz="1050">
                <a:solidFill>
                  <a:srgbClr val="D6DEEA"/>
                </a:solidFill>
                <a:latin typeface="Consolas"/>
              </a:rPr>
              <a:t>]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=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F78C6C"/>
                </a:solidFill>
                <a:latin typeface="Consolas"/>
              </a:rPr>
              <a:t>0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  <a:r>
              <a:rPr sz="1050">
                <a:solidFill>
                  <a:srgbClr val="D6DEEA"/>
                </a:solidFill>
                <a:latin typeface="Consolas"/>
              </a:rPr>
              <a:t>   </a:t>
            </a:r>
            <a:r>
              <a:rPr sz="1050" i="1">
                <a:solidFill>
                  <a:srgbClr val="62738A"/>
                </a:solidFill>
                <a:latin typeface="Consolas"/>
              </a:rPr>
              <a:t>//  NOT deleted: left on the floor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963" y="1444752"/>
            <a:ext cx="499949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`equip()` takes 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9283" y="1708785"/>
            <a:ext cx="472517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character stores the pointer → the character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deletes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it in its destructor.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9283" y="1972818"/>
            <a:ext cx="472517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If the inventory is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full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the materia is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not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taken: it stays the property of the caller.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963" y="2436876"/>
            <a:ext cx="499949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`unequip()` does not 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9283" y="2700909"/>
            <a:ext cx="472517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slot is emptied but the Materia is left alive — the caller becomes the owner.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9283" y="3164967"/>
            <a:ext cx="472517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This asymmetry is the trickiest part of the exercise, and the subject asks for it explicitly.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4963" y="3629025"/>
            <a:ext cx="499949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Both are defensive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9283" y="3893058"/>
            <a:ext cx="472517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986" i="0">
                <a:solidFill>
                  <a:srgbClr val="1F8A7A"/>
                </a:solidFill>
                <a:latin typeface="Consolas"/>
              </a:rPr>
              <a:t>equip(0)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is ignored, and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unequip()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rejects an index outside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0..3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or an empty slot → no crash, no out-of-bounds write.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4963" y="4846320"/>
            <a:ext cx="4999491" cy="105156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14963" y="4846320"/>
            <a:ext cx="50292" cy="105156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4419" y="4965192"/>
            <a:ext cx="4597155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1F8A7A"/>
                </a:solidFill>
                <a:latin typeface="Segoe UI Semibold"/>
              </a:rPr>
              <a:t>The contract in one line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034" i="0">
                <a:solidFill>
                  <a:srgbClr val="1F8A7A"/>
                </a:solidFill>
                <a:latin typeface="Consolas"/>
              </a:rPr>
              <a:t>equip()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consumes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the pointer,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unequip()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returns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it: ownership moves, and it is always explicit.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EX03 ·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MateriaSource: the factory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212235" cy="4754422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212235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9562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include/MateriaSource.hpp  +  src/MateriaSource.cpp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937915" cy="41874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C792EA"/>
                </a:solidFill>
                <a:latin typeface="Consolas"/>
              </a:rPr>
              <a:t>class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82AAFF"/>
                </a:solidFill>
                <a:latin typeface="Consolas"/>
              </a:rPr>
              <a:t>MateriaSource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: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C792EA"/>
                </a:solidFill>
                <a:latin typeface="Consolas"/>
              </a:rPr>
              <a:t>public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82AAFF"/>
                </a:solidFill>
                <a:latin typeface="Consolas"/>
              </a:rPr>
              <a:t>IMateriaSource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C792EA"/>
                </a:solidFill>
                <a:latin typeface="Consolas"/>
              </a:rPr>
              <a:t>public</a:t>
            </a:r>
            <a:r>
              <a:rPr sz="644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</a:t>
            </a:r>
            <a:r>
              <a:rPr sz="644">
                <a:solidFill>
                  <a:srgbClr val="82AAFF"/>
                </a:solidFill>
                <a:latin typeface="Consolas"/>
              </a:rPr>
              <a:t>MateriaSource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</a:t>
            </a:r>
            <a:r>
              <a:rPr sz="644">
                <a:solidFill>
                  <a:srgbClr val="C792EA"/>
                </a:solidFill>
                <a:latin typeface="Consolas"/>
              </a:rPr>
              <a:t>virtual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C792EA"/>
                </a:solidFill>
                <a:latin typeface="Consolas"/>
              </a:rPr>
              <a:t>void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learnMateria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82AAFF"/>
                </a:solidFill>
                <a:latin typeface="Consolas"/>
              </a:rPr>
              <a:t>AMateria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*</a:t>
            </a:r>
            <a:r>
              <a:rPr sz="644">
                <a:solidFill>
                  <a:srgbClr val="D6DEEA"/>
                </a:solidFill>
                <a:latin typeface="Consolas"/>
              </a:rPr>
              <a:t>m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</a:t>
            </a:r>
            <a:r>
              <a:rPr sz="644">
                <a:solidFill>
                  <a:srgbClr val="C792EA"/>
                </a:solidFill>
                <a:latin typeface="Consolas"/>
              </a:rPr>
              <a:t>virtual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82AAFF"/>
                </a:solidFill>
                <a:latin typeface="Consolas"/>
              </a:rPr>
              <a:t>AMateria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*</a:t>
            </a:r>
            <a:r>
              <a:rPr sz="644">
                <a:solidFill>
                  <a:srgbClr val="D6DEEA"/>
                </a:solidFill>
                <a:latin typeface="Consolas"/>
              </a:rPr>
              <a:t>createMateria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C792EA"/>
                </a:solidFill>
                <a:latin typeface="Consolas"/>
              </a:rPr>
              <a:t>std</a:t>
            </a:r>
            <a:r>
              <a:rPr sz="644">
                <a:solidFill>
                  <a:srgbClr val="D6DEEA"/>
                </a:solidFill>
                <a:latin typeface="Consolas"/>
              </a:rPr>
              <a:t>:</a:t>
            </a:r>
            <a:r>
              <a:rPr sz="644">
                <a:solidFill>
                  <a:srgbClr val="D6DEEA"/>
                </a:solidFill>
                <a:latin typeface="Consolas"/>
              </a:rPr>
              <a:t>:</a:t>
            </a:r>
            <a:r>
              <a:rPr sz="644">
                <a:solidFill>
                  <a:srgbClr val="C792EA"/>
                </a:solidFill>
                <a:latin typeface="Consolas"/>
              </a:rPr>
              <a:t>string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C792EA"/>
                </a:solidFill>
                <a:latin typeface="Consolas"/>
              </a:rPr>
              <a:t>const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&amp;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type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C792EA"/>
                </a:solidFill>
                <a:latin typeface="Consolas"/>
              </a:rPr>
              <a:t>private</a:t>
            </a:r>
            <a:r>
              <a:rPr sz="644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</a:t>
            </a:r>
            <a:r>
              <a:rPr sz="644">
                <a:solidFill>
                  <a:srgbClr val="82AAFF"/>
                </a:solidFill>
                <a:latin typeface="Consolas"/>
              </a:rPr>
              <a:t>AMateria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*</a:t>
            </a:r>
            <a:r>
              <a:rPr sz="644">
                <a:solidFill>
                  <a:srgbClr val="D6DEEA"/>
                </a:solidFill>
                <a:latin typeface="Consolas"/>
              </a:rPr>
              <a:t>learned_</a:t>
            </a:r>
            <a:r>
              <a:rPr sz="644">
                <a:solidFill>
                  <a:srgbClr val="D6DEEA"/>
                </a:solidFill>
                <a:latin typeface="Consolas"/>
              </a:rPr>
              <a:t>[</a:t>
            </a:r>
            <a:r>
              <a:rPr sz="644">
                <a:solidFill>
                  <a:srgbClr val="F78C6C"/>
                </a:solidFill>
                <a:latin typeface="Consolas"/>
              </a:rPr>
              <a:t>4</a:t>
            </a:r>
            <a:r>
              <a:rPr sz="644">
                <a:solidFill>
                  <a:srgbClr val="D6DEEA"/>
                </a:solidFill>
                <a:latin typeface="Consolas"/>
              </a:rPr>
              <a:t>]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}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C792EA"/>
                </a:solidFill>
                <a:latin typeface="Consolas"/>
              </a:rPr>
              <a:t>void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82AAFF"/>
                </a:solidFill>
                <a:latin typeface="Consolas"/>
              </a:rPr>
              <a:t>MateriaSource</a:t>
            </a:r>
            <a:r>
              <a:rPr sz="644">
                <a:solidFill>
                  <a:srgbClr val="D6DEEA"/>
                </a:solidFill>
                <a:latin typeface="Consolas"/>
              </a:rPr>
              <a:t>:</a:t>
            </a:r>
            <a:r>
              <a:rPr sz="644">
                <a:solidFill>
                  <a:srgbClr val="D6DEEA"/>
                </a:solidFill>
                <a:latin typeface="Consolas"/>
              </a:rPr>
              <a:t>:</a:t>
            </a:r>
            <a:r>
              <a:rPr sz="644">
                <a:solidFill>
                  <a:srgbClr val="D6DEEA"/>
                </a:solidFill>
                <a:latin typeface="Consolas"/>
              </a:rPr>
              <a:t>learnMateria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82AAFF"/>
                </a:solidFill>
                <a:latin typeface="Consolas"/>
              </a:rPr>
              <a:t>AMateria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*</a:t>
            </a:r>
            <a:r>
              <a:rPr sz="644">
                <a:solidFill>
                  <a:srgbClr val="D6DEEA"/>
                </a:solidFill>
                <a:latin typeface="Consolas"/>
              </a:rPr>
              <a:t>m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</a:t>
            </a:r>
            <a:r>
              <a:rPr sz="644">
                <a:solidFill>
                  <a:srgbClr val="C792EA"/>
                </a:solidFill>
                <a:latin typeface="Consolas"/>
              </a:rPr>
              <a:t>if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D6DEEA"/>
                </a:solidFill>
                <a:latin typeface="Consolas"/>
              </a:rPr>
              <a:t>!</a:t>
            </a:r>
            <a:r>
              <a:rPr sz="644">
                <a:solidFill>
                  <a:srgbClr val="D6DEEA"/>
                </a:solidFill>
                <a:latin typeface="Consolas"/>
              </a:rPr>
              <a:t>m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	</a:t>
            </a:r>
            <a:r>
              <a:rPr sz="644">
                <a:solidFill>
                  <a:srgbClr val="C792EA"/>
                </a:solidFill>
                <a:latin typeface="Consolas"/>
              </a:rPr>
              <a:t>return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</a:t>
            </a:r>
            <a:r>
              <a:rPr sz="644">
                <a:solidFill>
                  <a:srgbClr val="C792EA"/>
                </a:solidFill>
                <a:latin typeface="Consolas"/>
              </a:rPr>
              <a:t>for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C792EA"/>
                </a:solidFill>
                <a:latin typeface="Consolas"/>
              </a:rPr>
              <a:t>int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i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=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F78C6C"/>
                </a:solidFill>
                <a:latin typeface="Consolas"/>
              </a:rPr>
              <a:t>0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i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&lt;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F78C6C"/>
                </a:solidFill>
                <a:latin typeface="Consolas"/>
              </a:rPr>
              <a:t>4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i</a:t>
            </a:r>
            <a:r>
              <a:rPr sz="644">
                <a:solidFill>
                  <a:srgbClr val="D6DEEA"/>
                </a:solidFill>
                <a:latin typeface="Consolas"/>
              </a:rPr>
              <a:t>+</a:t>
            </a:r>
            <a:r>
              <a:rPr sz="644">
                <a:solidFill>
                  <a:srgbClr val="D6DEEA"/>
                </a:solidFill>
                <a:latin typeface="Consolas"/>
              </a:rPr>
              <a:t>+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</a:t>
            </a:r>
            <a:r>
              <a:rPr sz="644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	</a:t>
            </a:r>
            <a:r>
              <a:rPr sz="644">
                <a:solidFill>
                  <a:srgbClr val="C792EA"/>
                </a:solidFill>
                <a:latin typeface="Consolas"/>
              </a:rPr>
              <a:t>if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D6DEEA"/>
                </a:solidFill>
                <a:latin typeface="Consolas"/>
              </a:rPr>
              <a:t>!</a:t>
            </a:r>
            <a:r>
              <a:rPr sz="644">
                <a:solidFill>
                  <a:srgbClr val="D6DEEA"/>
                </a:solidFill>
                <a:latin typeface="Consolas"/>
              </a:rPr>
              <a:t>learned_</a:t>
            </a:r>
            <a:r>
              <a:rPr sz="644">
                <a:solidFill>
                  <a:srgbClr val="D6DEEA"/>
                </a:solidFill>
                <a:latin typeface="Consolas"/>
              </a:rPr>
              <a:t>[</a:t>
            </a:r>
            <a:r>
              <a:rPr sz="644">
                <a:solidFill>
                  <a:srgbClr val="D6DEEA"/>
                </a:solidFill>
                <a:latin typeface="Consolas"/>
              </a:rPr>
              <a:t>i</a:t>
            </a:r>
            <a:r>
              <a:rPr sz="644">
                <a:solidFill>
                  <a:srgbClr val="D6DEEA"/>
                </a:solidFill>
                <a:latin typeface="Consolas"/>
              </a:rPr>
              <a:t>]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	</a:t>
            </a:r>
            <a:r>
              <a:rPr sz="644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		</a:t>
            </a:r>
            <a:r>
              <a:rPr sz="644">
                <a:solidFill>
                  <a:srgbClr val="D6DEEA"/>
                </a:solidFill>
                <a:latin typeface="Consolas"/>
              </a:rPr>
              <a:t>learned_</a:t>
            </a:r>
            <a:r>
              <a:rPr sz="644">
                <a:solidFill>
                  <a:srgbClr val="D6DEEA"/>
                </a:solidFill>
                <a:latin typeface="Consolas"/>
              </a:rPr>
              <a:t>[</a:t>
            </a:r>
            <a:r>
              <a:rPr sz="644">
                <a:solidFill>
                  <a:srgbClr val="D6DEEA"/>
                </a:solidFill>
                <a:latin typeface="Consolas"/>
              </a:rPr>
              <a:t>i</a:t>
            </a:r>
            <a:r>
              <a:rPr sz="644">
                <a:solidFill>
                  <a:srgbClr val="D6DEEA"/>
                </a:solidFill>
                <a:latin typeface="Consolas"/>
              </a:rPr>
              <a:t>]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=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m</a:t>
            </a:r>
            <a:r>
              <a:rPr sz="644">
                <a:solidFill>
                  <a:srgbClr val="D6DEEA"/>
                </a:solidFill>
                <a:latin typeface="Consolas"/>
              </a:rPr>
              <a:t>-</a:t>
            </a:r>
            <a:r>
              <a:rPr sz="644">
                <a:solidFill>
                  <a:srgbClr val="D6DEEA"/>
                </a:solidFill>
                <a:latin typeface="Consolas"/>
              </a:rPr>
              <a:t>&gt;</a:t>
            </a:r>
            <a:r>
              <a:rPr sz="644">
                <a:solidFill>
                  <a:srgbClr val="D6DEEA"/>
                </a:solidFill>
                <a:latin typeface="Consolas"/>
              </a:rPr>
              <a:t>clone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  <a:r>
              <a:rPr sz="644">
                <a:solidFill>
                  <a:srgbClr val="D6DEEA"/>
                </a:solidFill>
                <a:latin typeface="Consolas"/>
              </a:rPr>
              <a:t>   </a:t>
            </a:r>
            <a:r>
              <a:rPr sz="644" i="1">
                <a:solidFill>
                  <a:srgbClr val="62738A"/>
                </a:solidFill>
                <a:latin typeface="Consolas"/>
              </a:rPr>
              <a:t>//  keep a template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		</a:t>
            </a:r>
            <a:r>
              <a:rPr sz="644">
                <a:solidFill>
                  <a:srgbClr val="C792EA"/>
                </a:solidFill>
                <a:latin typeface="Consolas"/>
              </a:rPr>
              <a:t>delete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m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  <a:r>
              <a:rPr sz="644">
                <a:solidFill>
                  <a:srgbClr val="D6DEEA"/>
                </a:solidFill>
                <a:latin typeface="Consolas"/>
              </a:rPr>
              <a:t>                   </a:t>
            </a:r>
            <a:r>
              <a:rPr sz="644" i="1">
                <a:solidFill>
                  <a:srgbClr val="62738A"/>
                </a:solidFill>
                <a:latin typeface="Consolas"/>
              </a:rPr>
              <a:t>//  release the original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		</a:t>
            </a:r>
            <a:r>
              <a:rPr sz="644">
                <a:solidFill>
                  <a:srgbClr val="C792EA"/>
                </a:solidFill>
                <a:latin typeface="Consolas"/>
              </a:rPr>
              <a:t>return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	</a:t>
            </a:r>
            <a:r>
              <a:rPr sz="644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</a:t>
            </a:r>
            <a:r>
              <a:rPr sz="644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</a:t>
            </a:r>
            <a:r>
              <a:rPr sz="644">
                <a:solidFill>
                  <a:srgbClr val="C792EA"/>
                </a:solidFill>
                <a:latin typeface="Consolas"/>
              </a:rPr>
              <a:t>delete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m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  <a:r>
              <a:rPr sz="644">
                <a:solidFill>
                  <a:srgbClr val="D6DEEA"/>
                </a:solidFill>
                <a:latin typeface="Consolas"/>
              </a:rPr>
              <a:t>   </a:t>
            </a:r>
            <a:r>
              <a:rPr sz="644" i="1">
                <a:solidFill>
                  <a:srgbClr val="62738A"/>
                </a:solidFill>
                <a:latin typeface="Consolas"/>
              </a:rPr>
              <a:t>//  the source is full: the materia is released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82AAFF"/>
                </a:solidFill>
                <a:latin typeface="Consolas"/>
              </a:rPr>
              <a:t>AMateria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*</a:t>
            </a:r>
            <a:r>
              <a:rPr sz="644">
                <a:solidFill>
                  <a:srgbClr val="82AAFF"/>
                </a:solidFill>
                <a:latin typeface="Consolas"/>
              </a:rPr>
              <a:t>MateriaSource</a:t>
            </a:r>
            <a:r>
              <a:rPr sz="644">
                <a:solidFill>
                  <a:srgbClr val="D6DEEA"/>
                </a:solidFill>
                <a:latin typeface="Consolas"/>
              </a:rPr>
              <a:t>:</a:t>
            </a:r>
            <a:r>
              <a:rPr sz="644">
                <a:solidFill>
                  <a:srgbClr val="D6DEEA"/>
                </a:solidFill>
                <a:latin typeface="Consolas"/>
              </a:rPr>
              <a:t>:</a:t>
            </a:r>
            <a:r>
              <a:rPr sz="644">
                <a:solidFill>
                  <a:srgbClr val="D6DEEA"/>
                </a:solidFill>
                <a:latin typeface="Consolas"/>
              </a:rPr>
              <a:t>createMateria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C792EA"/>
                </a:solidFill>
                <a:latin typeface="Consolas"/>
              </a:rPr>
              <a:t>std</a:t>
            </a:r>
            <a:r>
              <a:rPr sz="644">
                <a:solidFill>
                  <a:srgbClr val="D6DEEA"/>
                </a:solidFill>
                <a:latin typeface="Consolas"/>
              </a:rPr>
              <a:t>:</a:t>
            </a:r>
            <a:r>
              <a:rPr sz="644">
                <a:solidFill>
                  <a:srgbClr val="D6DEEA"/>
                </a:solidFill>
                <a:latin typeface="Consolas"/>
              </a:rPr>
              <a:t>:</a:t>
            </a:r>
            <a:r>
              <a:rPr sz="644">
                <a:solidFill>
                  <a:srgbClr val="C792EA"/>
                </a:solidFill>
                <a:latin typeface="Consolas"/>
              </a:rPr>
              <a:t>string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C792EA"/>
                </a:solidFill>
                <a:latin typeface="Consolas"/>
              </a:rPr>
              <a:t>const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&amp;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type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</a:t>
            </a:r>
            <a:r>
              <a:rPr sz="644">
                <a:solidFill>
                  <a:srgbClr val="C792EA"/>
                </a:solidFill>
                <a:latin typeface="Consolas"/>
              </a:rPr>
              <a:t>for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C792EA"/>
                </a:solidFill>
                <a:latin typeface="Consolas"/>
              </a:rPr>
              <a:t>int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i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=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F78C6C"/>
                </a:solidFill>
                <a:latin typeface="Consolas"/>
              </a:rPr>
              <a:t>0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i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&lt;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F78C6C"/>
                </a:solidFill>
                <a:latin typeface="Consolas"/>
              </a:rPr>
              <a:t>4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i</a:t>
            </a:r>
            <a:r>
              <a:rPr sz="644">
                <a:solidFill>
                  <a:srgbClr val="D6DEEA"/>
                </a:solidFill>
                <a:latin typeface="Consolas"/>
              </a:rPr>
              <a:t>+</a:t>
            </a:r>
            <a:r>
              <a:rPr sz="644">
                <a:solidFill>
                  <a:srgbClr val="D6DEEA"/>
                </a:solidFill>
                <a:latin typeface="Consolas"/>
              </a:rPr>
              <a:t>+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</a:t>
            </a:r>
            <a:r>
              <a:rPr sz="644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	</a:t>
            </a:r>
            <a:r>
              <a:rPr sz="644">
                <a:solidFill>
                  <a:srgbClr val="C792EA"/>
                </a:solidFill>
                <a:latin typeface="Consolas"/>
              </a:rPr>
              <a:t>if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D6DEEA"/>
                </a:solidFill>
                <a:latin typeface="Consolas"/>
              </a:rPr>
              <a:t>learned_</a:t>
            </a:r>
            <a:r>
              <a:rPr sz="644">
                <a:solidFill>
                  <a:srgbClr val="D6DEEA"/>
                </a:solidFill>
                <a:latin typeface="Consolas"/>
              </a:rPr>
              <a:t>[</a:t>
            </a:r>
            <a:r>
              <a:rPr sz="644">
                <a:solidFill>
                  <a:srgbClr val="D6DEEA"/>
                </a:solidFill>
                <a:latin typeface="Consolas"/>
              </a:rPr>
              <a:t>i</a:t>
            </a:r>
            <a:r>
              <a:rPr sz="644">
                <a:solidFill>
                  <a:srgbClr val="D6DEEA"/>
                </a:solidFill>
                <a:latin typeface="Consolas"/>
              </a:rPr>
              <a:t>]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&amp;</a:t>
            </a:r>
            <a:r>
              <a:rPr sz="644">
                <a:solidFill>
                  <a:srgbClr val="D6DEEA"/>
                </a:solidFill>
                <a:latin typeface="Consolas"/>
              </a:rPr>
              <a:t>&amp;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learned_</a:t>
            </a:r>
            <a:r>
              <a:rPr sz="644">
                <a:solidFill>
                  <a:srgbClr val="D6DEEA"/>
                </a:solidFill>
                <a:latin typeface="Consolas"/>
              </a:rPr>
              <a:t>[</a:t>
            </a:r>
            <a:r>
              <a:rPr sz="644">
                <a:solidFill>
                  <a:srgbClr val="D6DEEA"/>
                </a:solidFill>
                <a:latin typeface="Consolas"/>
              </a:rPr>
              <a:t>i</a:t>
            </a:r>
            <a:r>
              <a:rPr sz="644">
                <a:solidFill>
                  <a:srgbClr val="D6DEEA"/>
                </a:solidFill>
                <a:latin typeface="Consolas"/>
              </a:rPr>
              <a:t>]</a:t>
            </a:r>
            <a:r>
              <a:rPr sz="644">
                <a:solidFill>
                  <a:srgbClr val="D6DEEA"/>
                </a:solidFill>
                <a:latin typeface="Consolas"/>
              </a:rPr>
              <a:t>-</a:t>
            </a:r>
            <a:r>
              <a:rPr sz="644">
                <a:solidFill>
                  <a:srgbClr val="D6DEEA"/>
                </a:solidFill>
                <a:latin typeface="Consolas"/>
              </a:rPr>
              <a:t>&gt;</a:t>
            </a:r>
            <a:r>
              <a:rPr sz="644">
                <a:solidFill>
                  <a:srgbClr val="D6DEEA"/>
                </a:solidFill>
                <a:latin typeface="Consolas"/>
              </a:rPr>
              <a:t>getType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=</a:t>
            </a:r>
            <a:r>
              <a:rPr sz="644">
                <a:solidFill>
                  <a:srgbClr val="D6DEEA"/>
                </a:solidFill>
                <a:latin typeface="Consolas"/>
              </a:rPr>
              <a:t>=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type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		</a:t>
            </a:r>
            <a:r>
              <a:rPr sz="644">
                <a:solidFill>
                  <a:srgbClr val="C792EA"/>
                </a:solidFill>
                <a:latin typeface="Consolas"/>
              </a:rPr>
              <a:t>return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D6DEEA"/>
                </a:solidFill>
                <a:latin typeface="Consolas"/>
              </a:rPr>
              <a:t>learned_</a:t>
            </a:r>
            <a:r>
              <a:rPr sz="644">
                <a:solidFill>
                  <a:srgbClr val="D6DEEA"/>
                </a:solidFill>
                <a:latin typeface="Consolas"/>
              </a:rPr>
              <a:t>[</a:t>
            </a:r>
            <a:r>
              <a:rPr sz="644">
                <a:solidFill>
                  <a:srgbClr val="D6DEEA"/>
                </a:solidFill>
                <a:latin typeface="Consolas"/>
              </a:rPr>
              <a:t>i</a:t>
            </a:r>
            <a:r>
              <a:rPr sz="644">
                <a:solidFill>
                  <a:srgbClr val="D6DEEA"/>
                </a:solidFill>
                <a:latin typeface="Consolas"/>
              </a:rPr>
              <a:t>]</a:t>
            </a:r>
            <a:r>
              <a:rPr sz="644">
                <a:solidFill>
                  <a:srgbClr val="D6DEEA"/>
                </a:solidFill>
                <a:latin typeface="Consolas"/>
              </a:rPr>
              <a:t>-</a:t>
            </a:r>
            <a:r>
              <a:rPr sz="644">
                <a:solidFill>
                  <a:srgbClr val="D6DEEA"/>
                </a:solidFill>
                <a:latin typeface="Consolas"/>
              </a:rPr>
              <a:t>&gt;</a:t>
            </a:r>
            <a:r>
              <a:rPr sz="644">
                <a:solidFill>
                  <a:srgbClr val="D6DEEA"/>
                </a:solidFill>
                <a:latin typeface="Consolas"/>
              </a:rPr>
              <a:t>clone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</a:t>
            </a:r>
            <a:r>
              <a:rPr sz="644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	</a:t>
            </a:r>
            <a:r>
              <a:rPr sz="644">
                <a:solidFill>
                  <a:srgbClr val="C792EA"/>
                </a:solidFill>
                <a:latin typeface="Consolas"/>
              </a:rPr>
              <a:t>return</a:t>
            </a:r>
            <a:r>
              <a:rPr sz="644">
                <a:solidFill>
                  <a:srgbClr val="D6DEEA"/>
                </a:solidFill>
                <a:latin typeface="Consolas"/>
              </a:rPr>
              <a:t> </a:t>
            </a:r>
            <a:r>
              <a:rPr sz="644">
                <a:solidFill>
                  <a:srgbClr val="D6DEEA"/>
                </a:solidFill>
                <a:latin typeface="Consolas"/>
              </a:rPr>
              <a:t>(</a:t>
            </a:r>
            <a:r>
              <a:rPr sz="644">
                <a:solidFill>
                  <a:srgbClr val="F78C6C"/>
                </a:solidFill>
                <a:latin typeface="Consolas"/>
              </a:rPr>
              <a:t>0</a:t>
            </a:r>
            <a:r>
              <a:rPr sz="644">
                <a:solidFill>
                  <a:srgbClr val="D6DEEA"/>
                </a:solidFill>
                <a:latin typeface="Consolas"/>
              </a:rPr>
              <a:t>)</a:t>
            </a:r>
            <a:r>
              <a:rPr sz="644">
                <a:solidFill>
                  <a:srgbClr val="D6DEEA"/>
                </a:solidFill>
                <a:latin typeface="Consolas"/>
              </a:rPr>
              <a:t>;</a:t>
            </a:r>
            <a:r>
              <a:rPr sz="644">
                <a:solidFill>
                  <a:srgbClr val="D6DEEA"/>
                </a:solidFill>
                <a:latin typeface="Consolas"/>
              </a:rPr>
              <a:t>   </a:t>
            </a:r>
            <a:r>
              <a:rPr sz="644" i="1">
                <a:solidFill>
                  <a:srgbClr val="62738A"/>
                </a:solidFill>
                <a:latin typeface="Consolas"/>
              </a:rPr>
              <a:t>//  unknown type</a:t>
            </a:r>
          </a:p>
          <a:p>
            <a:pPr>
              <a:lnSpc>
                <a:spcPct val="118000"/>
              </a:lnSpc>
              <a:buNone/>
            </a:pPr>
            <a:r>
              <a:rPr sz="644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8591" y="1444752"/>
            <a:ext cx="5105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`learnMateria()` takes 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2911" y="1764792"/>
            <a:ext cx="4831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subject's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main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writes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src-&gt;learnMateria(new Ice());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the temporary is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never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deleted by the caller.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2911" y="2313432"/>
            <a:ext cx="4831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So the source must take ownership: it keeps a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clone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as a template and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deletes the original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2911" y="2862072"/>
            <a:ext cx="483154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Without that, the subject's own example would leak.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8591" y="3182112"/>
            <a:ext cx="5105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`createMateria()` is a factory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2911" y="3502152"/>
            <a:ext cx="4831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It looks for a learned template of that type and returns a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clone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of it — a brand new Materia the caller owns.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2911" y="4050792"/>
            <a:ext cx="483154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An unknown type returns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`0`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exactly as the subject asks.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8591" y="4370832"/>
            <a:ext cx="5105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Why clone and not share?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2911" y="4690872"/>
            <a:ext cx="4831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Two characters must never share the same Materia, otherwise unequipping it in one would break the other.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EX03 · THE KEY DESIGN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Ownership: who deletes what?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44752"/>
          <a:ext cx="10637213" cy="314553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34404"/>
                <a:gridCol w="4218205"/>
                <a:gridCol w="3484604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FFFFFF"/>
                          </a:solidFill>
                          <a:latin typeface="Segoe UI Semibold"/>
                        </a:rPr>
                        <a:t>Call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FFFFFF"/>
                          </a:solidFill>
                          <a:latin typeface="Segoe UI Semibold"/>
                        </a:rPr>
                        <a:t>Who owns the Materia afterwards?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FFFFFF"/>
                          </a:solidFill>
                          <a:latin typeface="Segoe UI Semibold"/>
                        </a:rPr>
                        <a:t>Who deletes it?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me.equip(m)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— the slot is free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the character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the character, in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~Character()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me.equip(m)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— the inventory is full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the caller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(unchanged)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the caller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me.unequip(0)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the caller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(it is left on the floor)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the caller, if it wants to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src-&gt;learnMateria(new Ice())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the source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(it keeps a clone)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the source releases the original at once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src-&gt;createMateria("ice")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the caller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the caller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AMateria *c = m-&gt;clone();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the caller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the caller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4800600"/>
            <a:ext cx="5159049" cy="109728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4800600"/>
            <a:ext cx="50292" cy="109728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4919472"/>
            <a:ext cx="4756713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1F8A7A"/>
                </a:solidFill>
                <a:latin typeface="Segoe UI Semibold"/>
              </a:rPr>
              <a:t>The rule I follow everywhere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1" sz="1100" i="0">
                <a:solidFill>
                  <a:srgbClr val="1C2738"/>
                </a:solidFill>
                <a:latin typeface="Segoe UI"/>
              </a:rPr>
              <a:t>Every function says who owns the pointer.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equip()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takes it,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unequip()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gives it back,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learnMateria()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takes it,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createMateria()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gives one. There is never a moment where nobody knows.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405" y="4800600"/>
            <a:ext cx="5159049" cy="1097280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5405" y="4800600"/>
            <a:ext cx="50292" cy="109728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4861" y="4919472"/>
            <a:ext cx="4756713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E8871A"/>
                </a:solidFill>
                <a:latin typeface="Segoe UI Semibold"/>
              </a:rPr>
              <a:t>Why the deep copy matters here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The copy constructor of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Character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clones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every Materia of the other character, and the assignment operator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deletes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its own Materias first. Two characters never share a Materia — that is what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clone()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is for.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EX03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Runtime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956840" cy="4051096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956840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700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terminal  ·  ./ex03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682520" cy="348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D6DEEA"/>
                </a:solidFill>
                <a:latin typeface="Consolas"/>
              </a:rPr>
              <a:t>=</a:t>
            </a:r>
            <a:r>
              <a:rPr sz="919">
                <a:solidFill>
                  <a:srgbClr val="D6DEEA"/>
                </a:solidFill>
                <a:latin typeface="Consolas"/>
              </a:rPr>
              <a:t>=</a:t>
            </a:r>
            <a:r>
              <a:rPr sz="919">
                <a:solidFill>
                  <a:srgbClr val="D6DEEA"/>
                </a:solidFill>
                <a:latin typeface="Consolas"/>
              </a:rPr>
              <a:t>=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82AAFF"/>
                </a:solidFill>
                <a:latin typeface="Consolas"/>
              </a:rPr>
              <a:t>Module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F78C6C"/>
                </a:solidFill>
                <a:latin typeface="Consolas"/>
              </a:rPr>
              <a:t>04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ex03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82AAFF"/>
                </a:solidFill>
                <a:latin typeface="Consolas"/>
              </a:rPr>
              <a:t>Interface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&amp;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recap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=</a:t>
            </a:r>
            <a:r>
              <a:rPr sz="919">
                <a:solidFill>
                  <a:srgbClr val="D6DEEA"/>
                </a:solidFill>
                <a:latin typeface="Consolas"/>
              </a:rPr>
              <a:t>=</a:t>
            </a:r>
            <a:r>
              <a:rPr sz="919">
                <a:solidFill>
                  <a:srgbClr val="D6DEEA"/>
                </a:solidFill>
                <a:latin typeface="Consolas"/>
              </a:rPr>
              <a:t>=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testSubjectExample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82AAFF"/>
                </a:solidFill>
                <a:latin typeface="Consolas"/>
              </a:rPr>
              <a:t>MateriaSource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C792EA"/>
                </a:solidFill>
                <a:latin typeface="Consolas"/>
              </a:rPr>
              <a:t>new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ice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materia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has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been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learned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82AAFF"/>
                </a:solidFill>
                <a:latin typeface="Consolas"/>
              </a:rPr>
              <a:t>MateriaSource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C792EA"/>
                </a:solidFill>
                <a:latin typeface="Consolas"/>
              </a:rPr>
              <a:t>new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cure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materia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has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been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learned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82AAFF"/>
                </a:solidFill>
                <a:latin typeface="Consolas"/>
              </a:rPr>
              <a:t>Character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me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has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been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created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82AAFF"/>
                </a:solidFill>
                <a:latin typeface="Consolas"/>
              </a:rPr>
              <a:t>Character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me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equips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ice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materia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in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slot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F78C6C"/>
                </a:solidFill>
                <a:latin typeface="Consolas"/>
              </a:rPr>
              <a:t>0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82AAFF"/>
                </a:solidFill>
                <a:latin typeface="Consolas"/>
              </a:rPr>
              <a:t>Character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me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equips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cure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materia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in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slot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F78C6C"/>
                </a:solidFill>
                <a:latin typeface="Consolas"/>
              </a:rPr>
              <a:t>1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82AAFF"/>
                </a:solidFill>
                <a:latin typeface="Consolas"/>
              </a:rPr>
              <a:t>Character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bob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has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been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created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D6DEEA"/>
                </a:solidFill>
                <a:latin typeface="Consolas"/>
              </a:rPr>
              <a:t>*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shoots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an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ice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bolt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at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bob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*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D6DEEA"/>
                </a:solidFill>
                <a:latin typeface="Consolas"/>
              </a:rPr>
              <a:t>*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heals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bob</a:t>
            </a:r>
            <a:r>
              <a:rPr sz="919">
                <a:solidFill>
                  <a:srgbClr val="D6DEEA"/>
                </a:solidFill>
                <a:latin typeface="Consolas"/>
              </a:rPr>
              <a:t>'</a:t>
            </a:r>
            <a:r>
              <a:rPr sz="919">
                <a:solidFill>
                  <a:srgbClr val="D6DEEA"/>
                </a:solidFill>
                <a:latin typeface="Consolas"/>
              </a:rPr>
              <a:t>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wounds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*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testFullInventory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82AAFF"/>
                </a:solidFill>
                <a:latin typeface="Consolas"/>
              </a:rPr>
              <a:t>Character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me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equips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ice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materia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in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slot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F78C6C"/>
                </a:solidFill>
                <a:latin typeface="Consolas"/>
              </a:rPr>
              <a:t>0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82AAFF"/>
                </a:solidFill>
                <a:latin typeface="Consolas"/>
              </a:rPr>
              <a:t>Character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me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cannot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equip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that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materia</a:t>
            </a:r>
            <a:r>
              <a:rPr sz="919">
                <a:solidFill>
                  <a:srgbClr val="D6DEEA"/>
                </a:solidFill>
                <a:latin typeface="Consolas"/>
              </a:rPr>
              <a:t>,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the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inventory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is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full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testUnknownMateria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82AAFF"/>
                </a:solidFill>
                <a:latin typeface="Consolas"/>
              </a:rPr>
              <a:t>MateriaSource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the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type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unknown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is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unknown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D6DEEA"/>
                </a:solidFill>
                <a:latin typeface="Consolas"/>
              </a:rPr>
              <a:t>the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unknown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materia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could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not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be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created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testDeepCopy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  <a:r>
              <a:rPr sz="919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D6DEEA"/>
                </a:solidFill>
                <a:latin typeface="Consolas"/>
              </a:rPr>
              <a:t>the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copy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owns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its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own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materia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deep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copy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D6DEEA"/>
                </a:solidFill>
                <a:latin typeface="Consolas"/>
              </a:rPr>
              <a:t>the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assigned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character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owns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its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own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materia</a:t>
            </a:r>
            <a:r>
              <a:rPr sz="919">
                <a:solidFill>
                  <a:srgbClr val="D6DEEA"/>
                </a:solidFill>
                <a:latin typeface="Consolas"/>
              </a:rPr>
              <a:t>: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deep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copy</a:t>
            </a:r>
            <a:r>
              <a:rPr sz="919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19">
                <a:solidFill>
                  <a:srgbClr val="D6DEEA"/>
                </a:solidFill>
                <a:latin typeface="Consolas"/>
              </a:rPr>
              <a:t>=</a:t>
            </a:r>
            <a:r>
              <a:rPr sz="919">
                <a:solidFill>
                  <a:srgbClr val="D6DEEA"/>
                </a:solidFill>
                <a:latin typeface="Consolas"/>
              </a:rPr>
              <a:t>=</a:t>
            </a:r>
            <a:r>
              <a:rPr sz="919">
                <a:solidFill>
                  <a:srgbClr val="D6DEEA"/>
                </a:solidFill>
                <a:latin typeface="Consolas"/>
              </a:rPr>
              <a:t>=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ex03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done</a:t>
            </a:r>
            <a:r>
              <a:rPr sz="919">
                <a:solidFill>
                  <a:srgbClr val="D6DEEA"/>
                </a:solidFill>
                <a:latin typeface="Consolas"/>
              </a:rPr>
              <a:t> </a:t>
            </a:r>
            <a:r>
              <a:rPr sz="919">
                <a:solidFill>
                  <a:srgbClr val="D6DEEA"/>
                </a:solidFill>
                <a:latin typeface="Consolas"/>
              </a:rPr>
              <a:t>=</a:t>
            </a:r>
            <a:r>
              <a:rPr sz="919">
                <a:solidFill>
                  <a:srgbClr val="D6DEEA"/>
                </a:solidFill>
                <a:latin typeface="Consolas"/>
              </a:rPr>
              <a:t>=</a:t>
            </a:r>
            <a:r>
              <a:rPr sz="919">
                <a:solidFill>
                  <a:srgbClr val="D6DEEA"/>
                </a:solidFill>
                <a:latin typeface="Consolas"/>
              </a:rP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10" y="1444752"/>
            <a:ext cx="441444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What the output proves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4330" y="1783461"/>
            <a:ext cx="4140124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subject's scenario works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through the interfaces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: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IMateriaSource *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ICharacter *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are enough to run the whole thing.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4330" y="2598420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two Materias behave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differently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through the same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use()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call → polymorphism.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4330" y="3175254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5th Materia is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refused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when the inventory is full, and the caller keeps it.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4330" y="3752088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An unknown type returns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0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the caller checks the pointer.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4330" y="4328922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copy owns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its own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Materias → deep copy, thanks to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clone()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253D60"/>
                </a:solidFill>
                <a:latin typeface="Segoe UI Semibold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The complete design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4680374" cy="2731007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4680374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42434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the two hierarchies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406054" cy="2164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  </a:t>
            </a:r>
            <a:r>
              <a:rPr sz="1000">
                <a:solidFill>
                  <a:srgbClr val="D6DEEA"/>
                </a:solidFill>
                <a:latin typeface="Consolas"/>
              </a:rPr>
              <a:t>ex00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ex02</a:t>
            </a:r>
            <a:r>
              <a:rPr sz="1000">
                <a:solidFill>
                  <a:srgbClr val="D6DEEA"/>
                </a:solidFill>
                <a:latin typeface="Consolas"/>
              </a:rPr>
              <a:t>                     </a:t>
            </a:r>
            <a:r>
              <a:rPr sz="1000">
                <a:solidFill>
                  <a:srgbClr val="D6DEEA"/>
                </a:solidFill>
                <a:latin typeface="Consolas"/>
              </a:rPr>
              <a:t>ex03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  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                    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  <a:r>
              <a:rPr sz="100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        </a:t>
            </a:r>
            <a:r>
              <a:rPr sz="1000">
                <a:solidFill>
                  <a:srgbClr val="82AAFF"/>
                </a:solidFill>
                <a:latin typeface="Consolas"/>
              </a:rPr>
              <a:t>Animal</a:t>
            </a:r>
            <a:r>
              <a:rPr sz="1000">
                <a:solidFill>
                  <a:srgbClr val="D6DEEA"/>
                </a:solidFill>
                <a:latin typeface="Consolas"/>
              </a:rPr>
              <a:t>                 </a:t>
            </a:r>
            <a:r>
              <a:rPr sz="1000">
                <a:solidFill>
                  <a:srgbClr val="82AAFF"/>
                </a:solidFill>
                <a:latin typeface="Consolas"/>
              </a:rPr>
              <a:t>AMateria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(</a:t>
            </a:r>
            <a:r>
              <a:rPr sz="1000">
                <a:solidFill>
                  <a:srgbClr val="D6DEEA"/>
                </a:solidFill>
                <a:latin typeface="Consolas"/>
              </a:rPr>
              <a:t>abstract</a:t>
            </a:r>
            <a:r>
              <a:rPr sz="100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        </a:t>
            </a:r>
            <a:r>
              <a:rPr sz="1000">
                <a:solidFill>
                  <a:srgbClr val="D6DEEA"/>
                </a:solidFill>
                <a:latin typeface="Consolas"/>
              </a:rPr>
              <a:t>/</a:t>
            </a:r>
            <a:r>
              <a:rPr sz="1000">
                <a:solidFill>
                  <a:srgbClr val="D6DEEA"/>
                </a:solidFill>
                <a:latin typeface="Consolas"/>
              </a:rPr>
              <a:t>    </a:t>
            </a:r>
            <a:r>
              <a:rPr sz="1000">
                <a:solidFill>
                  <a:srgbClr val="D6DEEA"/>
                </a:solidFill>
                <a:latin typeface="Consolas"/>
              </a:rPr>
              <a:t>\</a:t>
            </a:r>
            <a:r>
              <a:rPr sz="1000">
                <a:solidFill>
                  <a:srgbClr val="D6DEEA"/>
                </a:solidFill>
                <a:latin typeface="Consolas"/>
              </a:rPr>
              <a:t>                 </a:t>
            </a:r>
            <a:r>
              <a:rPr sz="1000">
                <a:solidFill>
                  <a:srgbClr val="D6DEEA"/>
                </a:solidFill>
                <a:latin typeface="Consolas"/>
              </a:rPr>
              <a:t>/</a:t>
            </a:r>
            <a:r>
              <a:rPr sz="1000">
                <a:solidFill>
                  <a:srgbClr val="D6DEEA"/>
                </a:solidFill>
                <a:latin typeface="Consolas"/>
              </a:rPr>
              <a:t>            </a:t>
            </a:r>
            <a:r>
              <a:rPr sz="1000">
                <a:solidFill>
                  <a:srgbClr val="D6DEEA"/>
                </a:solidFill>
                <a:latin typeface="Consolas"/>
              </a:rPr>
              <a:t>\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   </a:t>
            </a:r>
            <a:r>
              <a:rPr sz="1000">
                <a:solidFill>
                  <a:srgbClr val="82AAFF"/>
                </a:solidFill>
                <a:latin typeface="Consolas"/>
              </a:rPr>
              <a:t>Dog</a:t>
            </a:r>
            <a:r>
              <a:rPr sz="1000">
                <a:solidFill>
                  <a:srgbClr val="D6DEEA"/>
                </a:solidFill>
                <a:latin typeface="Consolas"/>
              </a:rPr>
              <a:t>        </a:t>
            </a:r>
            <a:r>
              <a:rPr sz="1000">
                <a:solidFill>
                  <a:srgbClr val="82AAFF"/>
                </a:solidFill>
                <a:latin typeface="Consolas"/>
              </a:rPr>
              <a:t>Cat</a:t>
            </a:r>
            <a:r>
              <a:rPr sz="1000">
                <a:solidFill>
                  <a:srgbClr val="D6DEEA"/>
                </a:solidFill>
                <a:latin typeface="Consolas"/>
              </a:rPr>
              <a:t>            </a:t>
            </a:r>
            <a:r>
              <a:rPr sz="1000">
                <a:solidFill>
                  <a:srgbClr val="82AAFF"/>
                </a:solidFill>
                <a:latin typeface="Consolas"/>
              </a:rPr>
              <a:t>Ice</a:t>
            </a:r>
            <a:r>
              <a:rPr sz="1000">
                <a:solidFill>
                  <a:srgbClr val="D6DEEA"/>
                </a:solidFill>
                <a:latin typeface="Consolas"/>
              </a:rPr>
              <a:t>            </a:t>
            </a:r>
            <a:r>
              <a:rPr sz="1000">
                <a:solidFill>
                  <a:srgbClr val="82AAFF"/>
                </a:solidFill>
                <a:latin typeface="Consolas"/>
              </a:rPr>
              <a:t>Cure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                                   </a:t>
            </a:r>
            <a:r>
              <a:rPr sz="1000">
                <a:solidFill>
                  <a:srgbClr val="D6DEEA"/>
                </a:solidFill>
                <a:latin typeface="Consolas"/>
              </a:rPr>
              <a:t>(</a:t>
            </a:r>
            <a:r>
              <a:rPr sz="1000">
                <a:solidFill>
                  <a:srgbClr val="D6DEEA"/>
                </a:solidFill>
                <a:latin typeface="Consolas"/>
              </a:rPr>
              <a:t>clone</a:t>
            </a:r>
            <a:r>
              <a:rPr sz="1000">
                <a:solidFill>
                  <a:srgbClr val="D6DEEA"/>
                </a:solidFill>
                <a:latin typeface="Consolas"/>
              </a:rPr>
              <a:t>,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use</a:t>
            </a:r>
            <a:r>
              <a:rPr sz="100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  </a:t>
            </a:r>
            <a:r>
              <a:rPr sz="1000">
                <a:solidFill>
                  <a:srgbClr val="82AAFF"/>
                </a:solidFill>
                <a:latin typeface="Consolas"/>
              </a:rPr>
              <a:t>WrongAnimal</a:t>
            </a:r>
            <a:r>
              <a:rPr sz="1000">
                <a:solidFill>
                  <a:srgbClr val="D6DEEA"/>
                </a:solidFill>
                <a:latin typeface="Consolas"/>
              </a:rPr>
              <a:t>                </a:t>
            </a:r>
            <a:r>
              <a:rPr sz="1000">
                <a:solidFill>
                  <a:srgbClr val="82AAFF"/>
                </a:solidFill>
                <a:latin typeface="Consolas"/>
              </a:rPr>
              <a:t>ICharacter</a:t>
            </a:r>
            <a:r>
              <a:rPr sz="1000">
                <a:solidFill>
                  <a:srgbClr val="D6DEEA"/>
                </a:solidFill>
                <a:latin typeface="Consolas"/>
              </a:rPr>
              <a:t>        </a:t>
            </a:r>
            <a:r>
              <a:rPr sz="1000">
                <a:solidFill>
                  <a:srgbClr val="82AAFF"/>
                </a:solidFill>
                <a:latin typeface="Consolas"/>
              </a:rPr>
              <a:t>IMateriaSource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       </a:t>
            </a:r>
            <a:r>
              <a:rPr sz="1000">
                <a:solidFill>
                  <a:srgbClr val="D6DEEA"/>
                </a:solidFill>
                <a:latin typeface="Consolas"/>
              </a:rPr>
              <a:t>|</a:t>
            </a:r>
            <a:r>
              <a:rPr sz="1000">
                <a:solidFill>
                  <a:srgbClr val="D6DEEA"/>
                </a:solidFill>
                <a:latin typeface="Consolas"/>
              </a:rPr>
              <a:t>                     </a:t>
            </a:r>
            <a:r>
              <a:rPr sz="1000">
                <a:solidFill>
                  <a:srgbClr val="D6DEEA"/>
                </a:solidFill>
                <a:latin typeface="Consolas"/>
              </a:rPr>
              <a:t>(</a:t>
            </a:r>
            <a:r>
              <a:rPr sz="1000">
                <a:solidFill>
                  <a:srgbClr val="D6DEEA"/>
                </a:solidFill>
                <a:latin typeface="Consolas"/>
              </a:rPr>
              <a:t>interface</a:t>
            </a:r>
            <a:r>
              <a:rPr sz="1000">
                <a:solidFill>
                  <a:srgbClr val="D6DEEA"/>
                </a:solidFill>
                <a:latin typeface="Consolas"/>
              </a:rPr>
              <a:t>)</a:t>
            </a:r>
            <a:r>
              <a:rPr sz="1000">
                <a:solidFill>
                  <a:srgbClr val="D6DEEA"/>
                </a:solidFill>
                <a:latin typeface="Consolas"/>
              </a:rPr>
              <a:t>        </a:t>
            </a:r>
            <a:r>
              <a:rPr sz="1000">
                <a:solidFill>
                  <a:srgbClr val="D6DEEA"/>
                </a:solidFill>
                <a:latin typeface="Consolas"/>
              </a:rPr>
              <a:t>(</a:t>
            </a:r>
            <a:r>
              <a:rPr sz="1000">
                <a:solidFill>
                  <a:srgbClr val="D6DEEA"/>
                </a:solidFill>
                <a:latin typeface="Consolas"/>
              </a:rPr>
              <a:t>interface</a:t>
            </a:r>
            <a:r>
              <a:rPr sz="100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  </a:t>
            </a:r>
            <a:r>
              <a:rPr sz="1000">
                <a:solidFill>
                  <a:srgbClr val="82AAFF"/>
                </a:solidFill>
                <a:latin typeface="Consolas"/>
              </a:rPr>
              <a:t>WrongCat</a:t>
            </a:r>
            <a:r>
              <a:rPr sz="1000">
                <a:solidFill>
                  <a:srgbClr val="D6DEEA"/>
                </a:solidFill>
                <a:latin typeface="Consolas"/>
              </a:rPr>
              <a:t>                    </a:t>
            </a:r>
            <a:r>
              <a:rPr sz="1000">
                <a:solidFill>
                  <a:srgbClr val="D6DEEA"/>
                </a:solidFill>
                <a:latin typeface="Consolas"/>
              </a:rPr>
              <a:t>|</a:t>
            </a:r>
            <a:r>
              <a:rPr sz="1000">
                <a:solidFill>
                  <a:srgbClr val="D6DEEA"/>
                </a:solidFill>
                <a:latin typeface="Consolas"/>
              </a:rPr>
              <a:t>                    </a:t>
            </a:r>
            <a:r>
              <a:rPr sz="1000">
                <a:solidFill>
                  <a:srgbClr val="D6DEEA"/>
                </a:solidFill>
                <a:latin typeface="Consolas"/>
              </a:rPr>
              <a:t>|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  </a:t>
            </a:r>
            <a:r>
              <a:rPr sz="1000">
                <a:solidFill>
                  <a:srgbClr val="D6DEEA"/>
                </a:solidFill>
                <a:latin typeface="Consolas"/>
              </a:rPr>
              <a:t>(</a:t>
            </a:r>
            <a:r>
              <a:rPr sz="1000">
                <a:solidFill>
                  <a:srgbClr val="D6DEEA"/>
                </a:solidFill>
                <a:latin typeface="Consolas"/>
              </a:rPr>
              <a:t>no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C792EA"/>
                </a:solidFill>
                <a:latin typeface="Consolas"/>
              </a:rPr>
              <a:t>override</a:t>
            </a:r>
            <a:r>
              <a:rPr sz="1000">
                <a:solidFill>
                  <a:srgbClr val="D6DEEA"/>
                </a:solidFill>
                <a:latin typeface="Consolas"/>
              </a:rPr>
              <a:t>)</a:t>
            </a:r>
            <a:r>
              <a:rPr sz="1000">
                <a:solidFill>
                  <a:srgbClr val="D6DEEA"/>
                </a:solidFill>
                <a:latin typeface="Consolas"/>
              </a:rPr>
              <a:t>          </a:t>
            </a:r>
            <a:r>
              <a:rPr sz="1000">
                <a:solidFill>
                  <a:srgbClr val="82AAFF"/>
                </a:solidFill>
                <a:latin typeface="Consolas"/>
              </a:rPr>
              <a:t>Character</a:t>
            </a:r>
            <a:r>
              <a:rPr sz="1000">
                <a:solidFill>
                  <a:srgbClr val="D6DEEA"/>
                </a:solidFill>
                <a:latin typeface="Consolas"/>
              </a:rPr>
              <a:t>            </a:t>
            </a:r>
            <a:r>
              <a:rPr sz="1000">
                <a:solidFill>
                  <a:srgbClr val="82AAFF"/>
                </a:solidFill>
                <a:latin typeface="Consolas"/>
              </a:rPr>
              <a:t>MateriaSource</a:t>
            </a:r>
          </a:p>
          <a:p>
            <a:pPr>
              <a:lnSpc>
                <a:spcPct val="118000"/>
              </a:lnSpc>
              <a:buNone/>
            </a:pPr>
            <a:r>
              <a:rPr sz="1000">
                <a:solidFill>
                  <a:srgbClr val="D6DEEA"/>
                </a:solidFill>
                <a:latin typeface="Consolas"/>
              </a:rPr>
              <a:t>                        </a:t>
            </a:r>
            <a:r>
              <a:rPr sz="1000">
                <a:solidFill>
                  <a:srgbClr val="D6DEEA"/>
                </a:solidFill>
                <a:latin typeface="Consolas"/>
              </a:rPr>
              <a:t>(</a:t>
            </a:r>
            <a:r>
              <a:rPr sz="1000">
                <a:solidFill>
                  <a:srgbClr val="F78C6C"/>
                </a:solidFill>
                <a:latin typeface="Consolas"/>
              </a:rPr>
              <a:t>4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slots</a:t>
            </a:r>
            <a:r>
              <a:rPr sz="1000">
                <a:solidFill>
                  <a:srgbClr val="D6DEEA"/>
                </a:solidFill>
                <a:latin typeface="Consolas"/>
              </a:rPr>
              <a:t>)</a:t>
            </a:r>
            <a:r>
              <a:rPr sz="1000">
                <a:solidFill>
                  <a:srgbClr val="D6DEEA"/>
                </a:solidFill>
                <a:latin typeface="Consolas"/>
              </a:rPr>
              <a:t>             </a:t>
            </a:r>
            <a:r>
              <a:rPr sz="1000">
                <a:solidFill>
                  <a:srgbClr val="D6DEEA"/>
                </a:solidFill>
                <a:latin typeface="Consolas"/>
              </a:rPr>
              <a:t>(</a:t>
            </a:r>
            <a:r>
              <a:rPr sz="1000">
                <a:solidFill>
                  <a:srgbClr val="F78C6C"/>
                </a:solidFill>
                <a:latin typeface="Consolas"/>
              </a:rPr>
              <a:t>4</a:t>
            </a:r>
            <a:r>
              <a:rPr sz="1000">
                <a:solidFill>
                  <a:srgbClr val="D6DEEA"/>
                </a:solidFill>
                <a:latin typeface="Consolas"/>
              </a:rPr>
              <a:t> </a:t>
            </a:r>
            <a:r>
              <a:rPr sz="1000">
                <a:solidFill>
                  <a:srgbClr val="D6DEEA"/>
                </a:solidFill>
                <a:latin typeface="Consolas"/>
              </a:rPr>
              <a:t>templates</a:t>
            </a:r>
            <a:r>
              <a:rPr sz="1000">
                <a:solidFill>
                  <a:srgbClr val="D6DEEA"/>
                </a:solidFill>
                <a:latin typeface="Consolas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6731" y="1444752"/>
            <a:ext cx="5637723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Who owns 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1051" y="1783461"/>
            <a:ext cx="5363403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Animal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owns the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type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;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Dog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Cat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own a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Brain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1051" y="2122170"/>
            <a:ext cx="5363403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AMateria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owns the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type_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;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Character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owns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4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Materias;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MateriaSource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owns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4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templates.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6731" y="2699004"/>
            <a:ext cx="5637723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The four techniques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1051" y="3037713"/>
            <a:ext cx="5363403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`virtual`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the behaviour depends on the real type (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makeSound()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use()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1051" y="3614547"/>
            <a:ext cx="5363403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`= 0`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the abstract classes (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AMateria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Animal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in ex02).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1051" y="3953256"/>
            <a:ext cx="5363403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Pure virtual interfaces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the contracts (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ICharacter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IMateriaSource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1051" y="4530090"/>
            <a:ext cx="5363403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`clone()`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the polymorphic copy constructor.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1051" y="4868799"/>
            <a:ext cx="5363403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The Rule of Three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the deep copy of every owned pointer.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SUMMARY ·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Cheat sheet — the C++ knowledge this module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44752"/>
          <a:ext cx="10637212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06938"/>
                <a:gridCol w="2304729"/>
                <a:gridCol w="4786746"/>
                <a:gridCol w="2038799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00" i="0">
                          <a:solidFill>
                            <a:srgbClr val="FFFFFF"/>
                          </a:solidFill>
                          <a:latin typeface="Segoe UI Semibold"/>
                        </a:rPr>
                        <a:t>Concept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00" i="0">
                          <a:solidFill>
                            <a:srgbClr val="FFFFFF"/>
                          </a:solidFill>
                          <a:latin typeface="Segoe UI Semibold"/>
                        </a:rPr>
                        <a:t>The syntax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00" i="0">
                          <a:solidFill>
                            <a:srgbClr val="FFFFFF"/>
                          </a:solidFill>
                          <a:latin typeface="Segoe UI Semibold"/>
                        </a:rPr>
                        <a:t>What it really does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00" i="0">
                          <a:solidFill>
                            <a:srgbClr val="FFFFFF"/>
                          </a:solidFill>
                          <a:latin typeface="Segoe UI Semibold"/>
                        </a:rPr>
                        <a:t>Where I used it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Inheritance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class D : public B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D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reuses and extends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B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; it gets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B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's public and protected members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Dog, Cat, AMateria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Virtual function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virtual void f();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The call is resolved on the </a:t>
                      </a:r>
                      <a:r>
                        <a:rPr b="1" sz="1100" i="0">
                          <a:solidFill>
                            <a:srgbClr val="1C2738"/>
                          </a:solidFill>
                          <a:latin typeface="Segoe UI"/>
                        </a:rPr>
                        <a:t>real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type of the object (dynamic binding)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makeSound()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,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use()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Pure virtual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virtual void f() = 0;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Makes the class </a:t>
                      </a:r>
                      <a:r>
                        <a:rPr b="1" sz="1100" i="0">
                          <a:solidFill>
                            <a:srgbClr val="1C2738"/>
                          </a:solidFill>
                          <a:latin typeface="Segoe UI"/>
                        </a:rPr>
                        <a:t>abstract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— it cannot be instantiated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Animal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(ex02),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AMateria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Interface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a class with only pure virtuals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A pure </a:t>
                      </a:r>
                      <a:r>
                        <a:rPr b="1" sz="1100" i="0">
                          <a:solidFill>
                            <a:srgbClr val="1C2738"/>
                          </a:solidFill>
                          <a:latin typeface="Segoe UI"/>
                        </a:rPr>
                        <a:t>contract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that the implementations must honour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ICharacter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,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IMateriaSource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Virtual destructor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virtual ~B();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Makes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delete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through a base pointer destroy the </a:t>
                      </a:r>
                      <a:r>
                        <a:rPr b="1" sz="1100" i="0">
                          <a:solidFill>
                            <a:srgbClr val="1C2738"/>
                          </a:solidFill>
                          <a:latin typeface="Segoe UI"/>
                        </a:rPr>
                        <a:t>whole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object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~Animal()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,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~AMateria()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Polymorphic copy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virtual B *clone() const;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Returns a new object of the </a:t>
                      </a:r>
                      <a:r>
                        <a:rPr b="1" sz="1100" i="0">
                          <a:solidFill>
                            <a:srgbClr val="1C2738"/>
                          </a:solidFill>
                          <a:latin typeface="Segoe UI"/>
                        </a:rPr>
                        <a:t>dynamic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type — the C++98 copy constructor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Ice::clone()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,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Cure::clone()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Rule of Three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copy ctor +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operator=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+ dtor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Makes the copy </a:t>
                      </a:r>
                      <a:r>
                        <a:rPr b="1" sz="1100" i="0">
                          <a:solidFill>
                            <a:srgbClr val="1C2738"/>
                          </a:solidFill>
                          <a:latin typeface="Segoe UI"/>
                        </a:rPr>
                        <a:t>deep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and the ownership consistent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Brain, Character, MateriaSource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Empty marker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0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(C++98 has no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nullptr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Means *“no pointer / empty slot”*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the inventories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486400"/>
            <a:ext cx="10637215" cy="73152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486400"/>
            <a:ext cx="50292" cy="73152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5605272"/>
            <a:ext cx="1023487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1F8A7A"/>
                </a:solidFill>
                <a:latin typeface="Segoe UI Semibold"/>
              </a:rPr>
              <a:t>If you remember only three things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1" sz="1100" i="0">
                <a:solidFill>
                  <a:srgbClr val="1C2738"/>
                </a:solidFill>
                <a:latin typeface="Segoe UI"/>
              </a:rPr>
              <a:t>1.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= the *real* type decides.  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2.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= 0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= the class becomes abstract and the compiler checks the contract.  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3.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A class that owns a pointer needs a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deep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copy — copy ctor, assignment and destructor, all three.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C0392B"/>
                </a:solidFill>
                <a:latin typeface="Segoe UI Semibold"/>
              </a:rPr>
              <a:t>SUMMARY ·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Common pitfalls — and how I avoided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44752"/>
          <a:ext cx="10637214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9303"/>
                <a:gridCol w="3723025"/>
                <a:gridCol w="4254886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FFFFFF"/>
                          </a:solidFill>
                          <a:latin typeface="Segoe UI Semibold"/>
                        </a:rPr>
                        <a:t>Pitfall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FFFFFF"/>
                          </a:solidFill>
                          <a:latin typeface="Segoe UI Semibold"/>
                        </a:rPr>
                        <a:t>What goes wrong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FFFFFF"/>
                          </a:solidFill>
                          <a:latin typeface="Segoe UI Semibold"/>
                        </a:rPr>
                        <a:t>How my code avoids it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A non-virtual destructor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delete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through a base pointer → the derived part leaks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virtual ~Animal();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and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virtual ~AMateria();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Forgetting to override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base's behaviour is silently used (the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WrongCat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case)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Every concrete class overrides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makeSound()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/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use()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A shallow copy of an owned pointer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Double free — caught by ASan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new Brain(*other.brain)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,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inventory_[i]-&gt;clone()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Forgetting to delete before re-assigning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old resource leaks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delete brain;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</a:t>
                      </a:r>
                      <a:r>
                        <a:rPr b="1" sz="1050" i="0">
                          <a:solidFill>
                            <a:srgbClr val="1C2738"/>
                          </a:solidFill>
                          <a:latin typeface="Segoe UI"/>
                        </a:rPr>
                        <a:t>then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new Brain(...)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in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operator=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An abstract class instantiated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Compile error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Animal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is only used through a pointer in ex02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Defining a function in a header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Forbidden by the 42 Norms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interface destructors are defined in a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.cpp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A raw pointer with no owner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Leak or double free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Every function documents </a:t>
                      </a:r>
                      <a:r>
                        <a:rPr b="1" sz="1050" i="0">
                          <a:solidFill>
                            <a:srgbClr val="1C2738"/>
                          </a:solidFill>
                          <a:latin typeface="Segoe UI"/>
                        </a:rPr>
                        <a:t>who owns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the Materia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Using C++11 features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Does not compile with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-std=c++98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No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nullptr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, no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override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, no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auto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, no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unique_ptr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SUMMARY · NORMS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42 Norms — the rules I respected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52122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Compilation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53819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-Wall -Wextra -Werror -std=c++98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zero warnings, zero errors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62886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Also verified with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-Wshadow -pedantic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(no warning).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71953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Each exercise builds with its own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Makefile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(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make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make clean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make re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81020"/>
            <a:ext cx="52122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Coding standards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90087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No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using namespace std;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every call is fully qualified.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299154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No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friend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no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printf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no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malloc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/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free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08221"/>
            <a:ext cx="49379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No STL container and no algorithm (modules 08 / 09 only): the inventories are plain fixed size arrays.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45888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Include guards on every header, and each header is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self-contained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454955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All the implementation lives in the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.cpp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files, not in the headers.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2219" y="1444752"/>
            <a:ext cx="521223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Object oriented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539" y="1774317"/>
            <a:ext cx="493791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Encapsulation: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type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is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the ideas and the inventories are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private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539" y="2342007"/>
            <a:ext cx="493791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Orthodox Canonical Form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on every class: default ctor, copy ctor,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operator=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destructor.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539" y="2909697"/>
            <a:ext cx="493791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No memory leak: verified with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-fsanitize=address,undefined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(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0 errors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on all four exercises).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2219" y="3477387"/>
            <a:ext cx="521223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Project hygiene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6539" y="3806952"/>
            <a:ext cx="493791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One directory per exercise, each one self-contained.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6539" y="4136517"/>
            <a:ext cx="493791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A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README.md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documenting the module, the design notes and the rules followed.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6539" y="4704207"/>
            <a:ext cx="493791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Only the standard library is used — no external dependency.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349240"/>
            <a:ext cx="10637215" cy="868680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49240"/>
            <a:ext cx="50292" cy="86868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" y="5468112"/>
            <a:ext cx="10234879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E8871A"/>
                </a:solidFill>
                <a:latin typeface="Segoe UI Semibold"/>
              </a:rPr>
              <a:t>One design decision I want to defend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The subject's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main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writes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src-&gt;learnMateria(new Ice());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— the temporary is never deleted by the caller. My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learnMateria()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therefore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takes ownership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: it keeps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clone()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as a template and releases the original. Without that, the subject's own example would leak — and my code is leak-free under AddressSanitizer.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SUMMARY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Testing &amp; quality assurance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4999491" cy="3028568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499949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7434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the commands I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725171" cy="24616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F07178"/>
                </a:solidFill>
                <a:latin typeface="Consolas"/>
              </a:rPr>
              <a:t>#  build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run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every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exercise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cd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ex00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make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.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ex00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cd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ex01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make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.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ex01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cd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ex02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make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.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ex02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cd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ex03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make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.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ex03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F07178"/>
                </a:solidFill>
                <a:latin typeface="Consolas"/>
              </a:rPr>
              <a:t>#  strict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warnings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D6DEEA"/>
                </a:solidFill>
                <a:latin typeface="Consolas"/>
              </a:rPr>
              <a:t>must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stay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silent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g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82AAFF"/>
                </a:solidFill>
                <a:latin typeface="Consolas"/>
              </a:rPr>
              <a:t>Wall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82AAFF"/>
                </a:solidFill>
                <a:latin typeface="Consolas"/>
              </a:rPr>
              <a:t>Wextra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82AAFF"/>
                </a:solidFill>
                <a:latin typeface="Consolas"/>
              </a:rPr>
              <a:t>Werror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82AAFF"/>
                </a:solidFill>
                <a:latin typeface="Consolas"/>
              </a:rPr>
              <a:t>Wshadow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D6DEEA"/>
                </a:solidFill>
                <a:latin typeface="Consolas"/>
              </a:rPr>
              <a:t>pedantic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\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C792EA"/>
                </a:solidFill>
                <a:latin typeface="Consolas"/>
              </a:rPr>
              <a:t>std</a:t>
            </a:r>
            <a:r>
              <a:rPr sz="1050">
                <a:solidFill>
                  <a:srgbClr val="D6DEEA"/>
                </a:solidFill>
                <a:latin typeface="Consolas"/>
              </a:rPr>
              <a:t>=</a:t>
            </a:r>
            <a:r>
              <a:rPr sz="1050">
                <a:solidFill>
                  <a:srgbClr val="D6DEEA"/>
                </a:solidFill>
                <a:latin typeface="Consolas"/>
              </a:rPr>
              <a:t>c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F78C6C"/>
                </a:solidFill>
                <a:latin typeface="Consolas"/>
              </a:rPr>
              <a:t>98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82AAFF"/>
                </a:solidFill>
                <a:latin typeface="Consolas"/>
              </a:rPr>
              <a:t>I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include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src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*</a:t>
            </a:r>
            <a:r>
              <a:rPr sz="1050">
                <a:solidFill>
                  <a:srgbClr val="D6DEEA"/>
                </a:solidFill>
                <a:latin typeface="Consolas"/>
              </a:rPr>
              <a:t>.</a:t>
            </a:r>
            <a:r>
              <a:rPr sz="1050">
                <a:solidFill>
                  <a:srgbClr val="D6DEEA"/>
                </a:solidFill>
                <a:latin typeface="Consolas"/>
              </a:rPr>
              <a:t>cpp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D6DEEA"/>
                </a:solidFill>
                <a:latin typeface="Consolas"/>
              </a:rPr>
              <a:t>o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test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F07178"/>
                </a:solidFill>
                <a:latin typeface="Consolas"/>
              </a:rPr>
              <a:t>#  sanitizers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memory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undefined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behaviour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g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D6DEEA"/>
                </a:solidFill>
                <a:latin typeface="Consolas"/>
              </a:rPr>
              <a:t>fsanitize</a:t>
            </a:r>
            <a:r>
              <a:rPr sz="1050">
                <a:solidFill>
                  <a:srgbClr val="D6DEEA"/>
                </a:solidFill>
                <a:latin typeface="Consolas"/>
              </a:rPr>
              <a:t>=</a:t>
            </a:r>
            <a:r>
              <a:rPr sz="1050">
                <a:solidFill>
                  <a:srgbClr val="D6DEEA"/>
                </a:solidFill>
                <a:latin typeface="Consolas"/>
              </a:rPr>
              <a:t>address</a:t>
            </a:r>
            <a:r>
              <a:rPr sz="1050">
                <a:solidFill>
                  <a:srgbClr val="D6DEEA"/>
                </a:solidFill>
                <a:latin typeface="Consolas"/>
              </a:rPr>
              <a:t>,</a:t>
            </a:r>
            <a:r>
              <a:rPr sz="1050">
                <a:solidFill>
                  <a:srgbClr val="D6DEEA"/>
                </a:solidFill>
                <a:latin typeface="Consolas"/>
              </a:rPr>
              <a:t>undefined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C792EA"/>
                </a:solidFill>
                <a:latin typeface="Consolas"/>
              </a:rPr>
              <a:t>std</a:t>
            </a:r>
            <a:r>
              <a:rPr sz="1050">
                <a:solidFill>
                  <a:srgbClr val="D6DEEA"/>
                </a:solidFill>
                <a:latin typeface="Consolas"/>
              </a:rPr>
              <a:t>=</a:t>
            </a:r>
            <a:r>
              <a:rPr sz="1050">
                <a:solidFill>
                  <a:srgbClr val="D6DEEA"/>
                </a:solidFill>
                <a:latin typeface="Consolas"/>
              </a:rPr>
              <a:t>c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F78C6C"/>
                </a:solidFill>
                <a:latin typeface="Consolas"/>
              </a:rPr>
              <a:t>98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\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82AAFF"/>
                </a:solidFill>
                <a:latin typeface="Consolas"/>
              </a:rPr>
              <a:t>I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include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src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*</a:t>
            </a:r>
            <a:r>
              <a:rPr sz="1050">
                <a:solidFill>
                  <a:srgbClr val="D6DEEA"/>
                </a:solidFill>
                <a:latin typeface="Consolas"/>
              </a:rPr>
              <a:t>.</a:t>
            </a:r>
            <a:r>
              <a:rPr sz="1050">
                <a:solidFill>
                  <a:srgbClr val="D6DEEA"/>
                </a:solidFill>
                <a:latin typeface="Consolas"/>
              </a:rPr>
              <a:t>cpp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D6DEEA"/>
                </a:solidFill>
                <a:latin typeface="Consolas"/>
              </a:rPr>
              <a:t>o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test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.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8591" y="1444752"/>
            <a:ext cx="5105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1 — Functional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2911" y="1762963"/>
            <a:ext cx="4831543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Each exercise has several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static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test functions covering the nominal case and the edge cases (wrong cat, full inventory, invalid slot, unknown type, copy).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8591" y="2538374"/>
            <a:ext cx="5105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2 — Strict compilation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2911" y="2856585"/>
            <a:ext cx="48315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-Wall -Wextra -Werror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catches almost everything;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-Wshadow -pedantic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confirms the code is clean beyond the required flags.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8591" y="3403396"/>
            <a:ext cx="5105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3 — Sanitizers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2911" y="3721607"/>
            <a:ext cx="483154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-fsanitize=address,undefined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→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no leak, no UB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on any exercise.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8591" y="4039818"/>
            <a:ext cx="5105863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4 — Deliberate bug experiments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2911" y="4358029"/>
            <a:ext cx="4831543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I compiled the *wrong* versions on purpose (no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shallow copy, abstract instantiation) to capture the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real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compiler and sanitizer messages shown in this deck.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92040"/>
            <a:ext cx="4999491" cy="82296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92040"/>
            <a:ext cx="50292" cy="82296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" y="5010912"/>
            <a:ext cx="45971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200" i="0">
                <a:solidFill>
                  <a:srgbClr val="1F8A7A"/>
                </a:solidFill>
                <a:latin typeface="Segoe UI Semibold"/>
              </a:rPr>
              <a:t>Result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50" i="0">
                <a:solidFill>
                  <a:srgbClr val="1C2738"/>
                </a:solidFill>
                <a:latin typeface="Segoe UI"/>
              </a:rPr>
              <a:t>ex00 </a:t>
            </a:r>
            <a:r>
              <a:rPr b="0" sz="1150" i="0">
                <a:solidFill>
                  <a:srgbClr val="1C2738"/>
                </a:solidFill>
                <a:latin typeface="Segoe UI Symbol"/>
              </a:rPr>
              <a:t>✔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  ex01 </a:t>
            </a:r>
            <a:r>
              <a:rPr b="0" sz="1150" i="0">
                <a:solidFill>
                  <a:srgbClr val="1C2738"/>
                </a:solidFill>
                <a:latin typeface="Segoe UI Symbol"/>
              </a:rPr>
              <a:t>✔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  ex02 </a:t>
            </a:r>
            <a:r>
              <a:rPr b="0" sz="1150" i="0">
                <a:solidFill>
                  <a:srgbClr val="1C2738"/>
                </a:solidFill>
                <a:latin typeface="Segoe UI Symbol"/>
              </a:rPr>
              <a:t>✔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  ex03 </a:t>
            </a:r>
            <a:r>
              <a:rPr b="0" sz="1150" i="0">
                <a:solidFill>
                  <a:srgbClr val="1C2738"/>
                </a:solidFill>
                <a:latin typeface="Segoe UI Symbol"/>
              </a:rPr>
              <a:t>✔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 — all four build without a single warning, run clean, and are leak-free under AddressSanitizer.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04  ·  Polymorphism, Abstract Classes &amp; Interfaces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6382329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What the module taught 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38807"/>
            <a:ext cx="6108009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150" i="0">
                <a:solidFill>
                  <a:srgbClr val="5E6E84"/>
                </a:solidFill>
                <a:latin typeface="Segoe UI"/>
              </a:rPr>
              <a:t>Subtype polymorphism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is the heart of it: through a base pointer, the *real* type of the object decides the behaviour — one interface, many behaviours.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51937"/>
            <a:ext cx="6108009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150" i="0">
                <a:solidFill>
                  <a:srgbClr val="5E6E84"/>
                </a:solidFill>
                <a:latin typeface="Segoe UI"/>
              </a:rPr>
              <a:t>`virtual`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is the keyword that buys it, and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`virtual ~Base()`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is the one that makes the memory safe.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65067"/>
            <a:ext cx="6108009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150" i="0">
                <a:solidFill>
                  <a:srgbClr val="5E6E84"/>
                </a:solidFill>
                <a:latin typeface="Segoe UI"/>
              </a:rPr>
              <a:t>`= 0`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turns a class into a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contract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: the compiler then guarantees that every concrete child implements the missing behaviour.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78197"/>
            <a:ext cx="6108009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150" i="0">
                <a:solidFill>
                  <a:srgbClr val="5E6E84"/>
                </a:solidFill>
                <a:latin typeface="Segoe UI"/>
              </a:rPr>
              <a:t>Interfaces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(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ICharacter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IMateriaSource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) are the purest form of that: a class made only of promises, with no state at 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791327"/>
            <a:ext cx="6108009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150" i="0">
                <a:solidFill>
                  <a:srgbClr val="5E6E84"/>
                </a:solidFill>
                <a:latin typeface="Segoe UI"/>
              </a:rPr>
              <a:t>Ownership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is the other half of the module: as soon as a class owns a pointer, the copy must be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deep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and every function must say who deletes what.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04457"/>
            <a:ext cx="6382329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What I am proud 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98512"/>
            <a:ext cx="6108009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Four exercises that compile with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zero warnings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under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-Wall -Wextra -Werror -std=c++98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and are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leak-free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under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-fsanitize=address,undefined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111642"/>
            <a:ext cx="6108009" cy="657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Every subtle decision is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explained and justified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— especially the three that the subject leaves open: the ownership of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learnMateria()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, the asymmetry of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equip()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/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unequip()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, and the name of the abstract class.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5057" y="1444752"/>
            <a:ext cx="3829397" cy="4114800"/>
          </a:xfrm>
          <a:prstGeom prst="roundRect">
            <a:avLst>
              <a:gd name="adj" fmla="val 3000"/>
            </a:avLst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7665" y="1737360"/>
            <a:ext cx="32441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THE MODULE IN ONE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7665" y="2221992"/>
            <a:ext cx="3244181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b="1" sz="2000" i="0">
                <a:solidFill>
                  <a:srgbClr val="FFFFFF"/>
                </a:solidFill>
                <a:latin typeface="Segoe UI Semibold"/>
              </a:rPr>
              <a:t>One contract,</a:t>
            </a:r>
            <a:br/>
            <a:r>
              <a:rPr b="1" sz="2000" i="0">
                <a:solidFill>
                  <a:srgbClr val="FFFFFF"/>
                </a:solidFill>
                <a:latin typeface="Segoe UI Semibold"/>
              </a:rPr>
              <a:t>many implementations —</a:t>
            </a:r>
            <a:br/>
            <a:r>
              <a:rPr b="1" sz="2000" i="0">
                <a:solidFill>
                  <a:srgbClr val="FFFFFF"/>
                </a:solidFill>
                <a:latin typeface="Segoe UI Semibold"/>
              </a:rPr>
              <a:t>and every owner knows</a:t>
            </a:r>
            <a:br/>
            <a:r>
              <a:rPr b="1" sz="2000" i="0">
                <a:solidFill>
                  <a:srgbClr val="FFFFFF"/>
                </a:solidFill>
                <a:latin typeface="Segoe UI Semibold"/>
              </a:rPr>
              <a:t>what it owns.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82735" y="0"/>
            <a:ext cx="3108960" cy="6858000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94215" y="192024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14839" y="192024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5463" y="192024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56087" y="192024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76711" y="192024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97335" y="192024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94215" y="23408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14839" y="23408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5463" y="23408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56087" y="23408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76711" y="23408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97335" y="23408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94215" y="276148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14839" y="276148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5463" y="276148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56087" y="276148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76711" y="276148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97335" y="276148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4215" y="31821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14839" y="31821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35463" y="31821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56087" y="31821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76711" y="31821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97335" y="31821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214884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5400" i="0">
                <a:solidFill>
                  <a:srgbClr val="FFFFFF"/>
                </a:solidFill>
                <a:latin typeface="Segoe UI Semibold"/>
              </a:rPr>
              <a:t>Thank you!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3273552"/>
            <a:ext cx="1188720" cy="54864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547872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b="0" sz="1500" i="0">
                <a:solidFill>
                  <a:srgbClr val="9FB3CC"/>
                </a:solidFill>
                <a:latin typeface="Segoe UI"/>
              </a:rPr>
              <a:t>Questions &amp; discussion</a:t>
            </a:r>
            <a:br/>
            <a:r>
              <a:rPr b="0" sz="1500" i="0">
                <a:solidFill>
                  <a:srgbClr val="9FB3CC"/>
                </a:solidFill>
                <a:latin typeface="Segoe UI"/>
              </a:rPr>
              <a:t>CPP Module 04 — Polymorphism, Abstract Classes &amp; Interfaces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98348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1400" i="0">
                <a:solidFill>
                  <a:srgbClr val="5E738C"/>
                </a:solidFill>
                <a:latin typeface="Consolas"/>
              </a:rPr>
              <a:t>Animal  →  Dog, Cat      AMateria  →  Ice, Cure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