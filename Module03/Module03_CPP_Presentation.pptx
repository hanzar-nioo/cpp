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71255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91879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12503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933127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53751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4375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94999" y="96012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71255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91879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12503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33127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53751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774375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94999" y="134416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71255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91879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12503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33127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353751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774375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194999" y="1728216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671255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091879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12503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33127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53751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74375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94999" y="21122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71255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091879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12503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933127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353751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4375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194999" y="24963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78847" y="480060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10167" y="566928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47527" y="5669280"/>
            <a:ext cx="768096" cy="384048"/>
          </a:xfrm>
          <a:prstGeom prst="roundRect">
            <a:avLst>
              <a:gd name="adj" fmla="val 18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200" i="0">
                <a:solidFill>
                  <a:srgbClr val="E8871A"/>
                </a:solidFill>
                <a:latin typeface="Segoe UI Semibold"/>
              </a:rPr>
              <a:t>42 SCHOOL  ·  C++ MODULE 03  ·  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1664208"/>
            <a:ext cx="7498079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sz="4000" i="0">
                <a:solidFill>
                  <a:srgbClr val="FFFFFF"/>
                </a:solidFill>
                <a:latin typeface="Segoe UI Semibold"/>
              </a:rPr>
              <a:t>Inheritance,</a:t>
            </a:r>
            <a:br/>
            <a:r>
              <a:rPr b="1" sz="4000" i="0">
                <a:solidFill>
                  <a:srgbClr val="FFFFFF"/>
                </a:solidFill>
                <a:latin typeface="Segoe UI Semibold"/>
              </a:rPr>
              <a:t>Interfaces &amp;</a:t>
            </a:r>
            <a:br/>
            <a:r>
              <a:rPr b="1" sz="4000" i="0">
                <a:solidFill>
                  <a:srgbClr val="FFFFFF"/>
                </a:solidFill>
                <a:latin typeface="Segoe UI Semibold"/>
              </a:rPr>
              <a:t>Polymorphism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680" y="3950208"/>
            <a:ext cx="1188720" cy="54864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418795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600" i="0">
                <a:solidFill>
                  <a:srgbClr val="9FB3CC"/>
                </a:solidFill>
                <a:latin typeface="Consolas"/>
              </a:rPr>
              <a:t>ClapTrap  →  ScavTrap  →  FragTrap  →  DiamondTrap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" y="4736592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b="0" sz="1250" i="0">
                <a:solidFill>
                  <a:srgbClr val="768BA6"/>
                </a:solidFill>
                <a:latin typeface="Segoe UI"/>
              </a:rPr>
              <a:t>Step-by-step implementation, design decisions and runtime proof</a:t>
            </a:r>
            <a:br/>
            <a:r>
              <a:rPr b="0" sz="1250" i="0">
                <a:solidFill>
                  <a:srgbClr val="768BA6"/>
                </a:solidFill>
                <a:latin typeface="Segoe UI"/>
              </a:rPr>
              <a:t>of exercises ex00 – ex03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" y="5760720"/>
            <a:ext cx="5669280" cy="9525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943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100" i="0">
                <a:solidFill>
                  <a:srgbClr val="5E738C"/>
                </a:solidFill>
                <a:latin typeface="Segoe UI"/>
              </a:rPr>
              <a:t>Name: ____________     Promotion: ____________     Date: 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WHAT THIS PRESENTATION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1 — 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3032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What Module 03 asks, in one slide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5896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The class hierarchy we are going to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1468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2 — The knowledge you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987040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Inheritance, virtual functions, dynamic binding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372612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The Diamond problem and virtual inheritance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5818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Access specifiers, abstract classes, the Rule of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63" y="144475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3 — Implementation, step by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183032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ex00 — ClapTrap: the base 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2215896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ex01 — ScavTrap: the first inheritance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2601468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ex02 — FragTrap: the second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283" y="2987040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ex03 — DiamondTrap: the diamond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963" y="3372612"/>
            <a:ext cx="499949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400" i="0">
                <a:solidFill>
                  <a:srgbClr val="1C2738"/>
                </a:solidFill>
                <a:latin typeface="Segoe UI"/>
              </a:rPr>
              <a:t>Part 4 — Proof and reflection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9283" y="3758184"/>
            <a:ext cx="4725171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400" i="0">
                <a:solidFill>
                  <a:srgbClr val="5E6E84"/>
                </a:solidFill>
                <a:latin typeface="Segoe UI"/>
              </a:rPr>
              <a:t>Runtime output, norms, pitfalls, conclusion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10637215" cy="91440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5074920"/>
            <a:ext cx="50292" cy="91440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5193792"/>
            <a:ext cx="10234879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50" i="0">
                <a:solidFill>
                  <a:srgbClr val="1F8A7A"/>
                </a:solidFill>
                <a:latin typeface="Segoe UI Semibold"/>
              </a:rPr>
              <a:t>The one-sentence version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200" i="0">
                <a:solidFill>
                  <a:srgbClr val="1C2738"/>
                </a:solidFill>
                <a:latin typeface="Segoe UI"/>
              </a:rPr>
              <a:t>This module teaches how to 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reuse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 a class (inheritance), how to make one function behave differently depending on the real object (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polymorphism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), and how to solve the </a:t>
            </a:r>
            <a:r>
              <a:rPr b="1" sz="1200" i="0">
                <a:solidFill>
                  <a:srgbClr val="1C2738"/>
                </a:solidFill>
                <a:latin typeface="Segoe UI"/>
              </a:rPr>
              <a:t>Diamond problem</a:t>
            </a:r>
            <a:r>
              <a:rPr b="0" sz="1200" i="0">
                <a:solidFill>
                  <a:srgbClr val="1C2738"/>
                </a:solidFill>
                <a:latin typeface="Segoe UI"/>
              </a:rPr>
              <a:t> that appears as soon as two branches of a hierarchy meet.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1 · THE SUBJECT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Module 03 subject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3" cy="37307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4825"/>
                <a:gridCol w="1614577"/>
                <a:gridCol w="6553284"/>
                <a:gridCol w="1804527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Ex.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Subject name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What it asks for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50" i="0">
                          <a:solidFill>
                            <a:srgbClr val="FFFFFF"/>
                          </a:solidFill>
                          <a:latin typeface="Segoe UI Semibold"/>
                        </a:rPr>
                        <a:t>New concept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Aaaaand... OPEN!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: name, 10 HP, 10 energy, 0 damage;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attack()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takeDamage()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beRepaired()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private attributes + getters/setters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Class design,</a:t>
                      </a:r>
                      <a:br/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encapsulation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ex01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Serena, my love!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that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inherits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overrides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attack()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adds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guardGate()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100 HP / 50 energy / 20 damage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Inheritance,</a:t>
                      </a:r>
                      <a:br/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overriding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ex02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Repetitive work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that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also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inherits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adds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highFivesGuys()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; 100 HP / 100 energy / 30 damage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Code reuse,</a:t>
                      </a:r>
                      <a:br/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sub-classing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ex03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Now it's weird!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A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inheriting </a:t>
                      </a:r>
                      <a:r>
                        <a:rPr b="1" sz="1150" i="0">
                          <a:solidFill>
                            <a:srgbClr val="1C2738"/>
                          </a:solidFill>
                          <a:latin typeface="Segoe UI"/>
                        </a:rPr>
                        <a:t>both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, with </a:t>
                      </a:r>
                      <a:r>
                        <a:rPr b="0" sz="1080" i="0">
                          <a:solidFill>
                            <a:srgbClr val="1F8A7A"/>
                          </a:solidFill>
                          <a:latin typeface="Consolas"/>
                        </a:rPr>
                        <a:t>whoAmI()</a:t>
                      </a: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 printing both names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The Diamond,</a:t>
                      </a:r>
                      <a:br/>
                      <a:r>
                        <a:rPr b="0" sz="1150" i="0">
                          <a:solidFill>
                            <a:srgbClr val="1C2738"/>
                          </a:solidFill>
                          <a:latin typeface="Segoe UI"/>
                        </a:rPr>
                        <a:t>virtual inheritance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349240"/>
            <a:ext cx="5159049" cy="8686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349240"/>
            <a:ext cx="50292" cy="8686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468112"/>
            <a:ext cx="475671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“Interfaces” in the title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Not a Java-style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interface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keyword: it is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set of public methods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(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attack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takeDamage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beRepaired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) shared by every trap, and that we use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polymorphically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through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405" y="5349240"/>
            <a:ext cx="5159049" cy="8686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5405" y="5349240"/>
            <a:ext cx="50292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4861" y="5468112"/>
            <a:ext cx="4756713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Mandatory build flags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034" i="0">
                <a:solidFill>
                  <a:srgbClr val="1F8A7A"/>
                </a:solidFill>
                <a:latin typeface="Consolas"/>
              </a:rPr>
              <a:t>c++ -Wall -Wextra -Werror -std=c++98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— every warning is an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error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 C++98 means: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nullptr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override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auto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 range-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for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1 ·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class hierarchy we are going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78527" y="1645920"/>
            <a:ext cx="283464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78527" y="1645920"/>
            <a:ext cx="2834640" cy="365760"/>
          </a:xfrm>
          <a:prstGeom prst="roundRect">
            <a:avLst>
              <a:gd name="adj" fmla="val 30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78527" y="1828800"/>
            <a:ext cx="2834640" cy="18288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78527" y="1645920"/>
            <a:ext cx="45720" cy="1143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3119" y="17282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500" i="0">
                <a:solidFill>
                  <a:srgbClr val="FFFFFF"/>
                </a:solidFill>
                <a:latin typeface="Segoe UI Semibold"/>
              </a:rPr>
              <a:t>ClapTrap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3119" y="2103120"/>
            <a:ext cx="2560320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name_, hitPoints_,</a:t>
            </a:r>
          </a:p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energyPoints_, attackDamage_</a:t>
            </a:r>
          </a:p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virtual void attack()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3967" y="34290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83967" y="3429000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83967" y="3611880"/>
            <a:ext cx="2743200" cy="1828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3967" y="3429000"/>
            <a:ext cx="45720" cy="9144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8559" y="3511296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ScavTrap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8559" y="388620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guardGate()</a:t>
            </a:r>
          </a:p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void attack()   // override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4527" y="342900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64527" y="3429000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64527" y="3611880"/>
            <a:ext cx="2743200" cy="1828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64527" y="3429000"/>
            <a:ext cx="45720" cy="9144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29119" y="3511296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FragTrap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29119" y="3886200"/>
            <a:ext cx="246888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highFivesGuys()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87087" y="493776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87087" y="4937760"/>
            <a:ext cx="3017520" cy="365760"/>
          </a:xfrm>
          <a:prstGeom prst="roundRect">
            <a:avLst>
              <a:gd name="adj" fmla="val 30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87087" y="5120640"/>
            <a:ext cx="3017520" cy="182880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87087" y="4937760"/>
            <a:ext cx="45720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1679" y="5020056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DiamondTrap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1679" y="5394960"/>
            <a:ext cx="274320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50" i="0">
                <a:solidFill>
                  <a:srgbClr val="1C2738"/>
                </a:solidFill>
                <a:latin typeface="Consolas"/>
              </a:rPr>
              <a:t>whoAmI()  +  name_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3855567" y="2788920"/>
            <a:ext cx="1508760" cy="640080"/>
          </a:xfrm>
          <a:prstGeom prst="line">
            <a:avLst/>
          </a:prstGeom>
          <a:ln w="19050">
            <a:solidFill>
              <a:srgbClr val="18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4020677">
            <a:off x="5188709" y="2733191"/>
            <a:ext cx="182880" cy="182880"/>
          </a:xfrm>
          <a:prstGeom prst="triangle">
            <a:avLst/>
          </a:prstGeom>
          <a:noFill/>
          <a:ln w="19050">
            <a:solidFill>
              <a:srgbClr val="18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6827367" y="2788920"/>
            <a:ext cx="1508760" cy="640080"/>
          </a:xfrm>
          <a:prstGeom prst="line">
            <a:avLst/>
          </a:prstGeom>
          <a:ln w="19050">
            <a:solidFill>
              <a:srgbClr val="182B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7579323">
            <a:off x="6820105" y="2733191"/>
            <a:ext cx="182880" cy="182880"/>
          </a:xfrm>
          <a:prstGeom prst="triangle">
            <a:avLst/>
          </a:prstGeom>
          <a:noFill/>
          <a:ln w="19050">
            <a:solidFill>
              <a:srgbClr val="182B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4267047" y="4343400"/>
            <a:ext cx="868680" cy="594360"/>
          </a:xfrm>
          <a:prstGeom prst="line">
            <a:avLst/>
          </a:prstGeom>
          <a:ln w="19050">
            <a:solidFill>
              <a:srgbClr val="253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8262821">
            <a:off x="4251073" y="4303594"/>
            <a:ext cx="182880" cy="182880"/>
          </a:xfrm>
          <a:prstGeom prst="triangle">
            <a:avLst/>
          </a:prstGeom>
          <a:noFill/>
          <a:ln w="19050">
            <a:solidFill>
              <a:srgbClr val="25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7055967" y="4343400"/>
            <a:ext cx="868680" cy="594360"/>
          </a:xfrm>
          <a:prstGeom prst="line">
            <a:avLst/>
          </a:prstGeom>
          <a:ln w="19050">
            <a:solidFill>
              <a:srgbClr val="253D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3337179">
            <a:off x="7757741" y="4303594"/>
            <a:ext cx="182880" cy="182880"/>
          </a:xfrm>
          <a:prstGeom prst="triangle">
            <a:avLst/>
          </a:prstGeom>
          <a:noFill/>
          <a:ln w="19050">
            <a:solidFill>
              <a:srgbClr val="253D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5778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One base class, two branches,</a:t>
            </a:r>
            <a:br/>
            <a:r>
              <a:rPr b="0" sz="1250" i="0">
                <a:solidFill>
                  <a:srgbClr val="5E6E84"/>
                </a:solidFill>
                <a:latin typeface="Segoe UI"/>
              </a:rPr>
              <a:t>one shared 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47007" y="172821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9AA8BA"/>
                </a:solidFill>
                <a:latin typeface="Segoe UI Semibold"/>
              </a:rPr>
              <a:t>ex00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89607" y="351129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9AA8BA"/>
                </a:solidFill>
                <a:latin typeface="Segoe UI Semibold"/>
              </a:rPr>
              <a:t>ex01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3367" y="351129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9AA8BA"/>
                </a:solidFill>
                <a:latin typeface="Segoe UI Semibold"/>
              </a:rPr>
              <a:t>ex02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47007" y="5020056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9AA8BA"/>
                </a:solidFill>
                <a:latin typeface="Segoe UI Semibold"/>
              </a:rPr>
              <a:t>ex03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1 —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Inheritance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= deriving a new class from an existing one to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reuse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and </a:t>
            </a:r>
            <a:r>
              <a:rPr b="1" sz="1150" i="0">
                <a:solidFill>
                  <a:srgbClr val="1C2738"/>
                </a:solidFill>
                <a:latin typeface="Segoe UI"/>
              </a:rPr>
              <a:t>extend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5788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relation is *“is-a”*: a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is-a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1937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Syntax: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class Derived : public Base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5992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the derived class gets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840047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All the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public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and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protected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members of the base, for free.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34102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base's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private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members are *not* accessible → we need the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setters.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4723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base constructor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must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be called, in the initializer list.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41287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C++ specifics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3534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There is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no `super`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: the base is called by name,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ClapTrap(name)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29397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In a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class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everything is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private by default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823452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base is built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before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the derived one, and destroyed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after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83103" y="1444752"/>
            <a:ext cx="5531351" cy="429996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inheritance in 8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0263" y="1874520"/>
            <a:ext cx="5257031" cy="3733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ScavTrap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82AAFF"/>
                </a:solidFill>
                <a:latin typeface="Consolas"/>
              </a:rPr>
              <a:t>ScavTrap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name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guardGate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private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 </a:t>
            </a:r>
            <a:r>
              <a:rPr sz="1150">
                <a:solidFill>
                  <a:srgbClr val="D6DEEA"/>
                </a:solidFill>
                <a:latin typeface="Consolas"/>
              </a:rPr>
              <a:t>myOwnData_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the base is called by name,</a:t>
            </a:r>
          </a:p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in the initializer list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82AAFF"/>
                </a:solidFill>
                <a:latin typeface="Consolas"/>
              </a:rPr>
              <a:t>ScavTrap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82AAFF"/>
                </a:solidFill>
                <a:latin typeface="Consolas"/>
              </a:rPr>
              <a:t>ScavTrap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name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name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D6DEEA"/>
                </a:solidFill>
                <a:latin typeface="Consolas"/>
              </a:rPr>
              <a:t>myOwnData_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230368"/>
            <a:ext cx="4786746" cy="8686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230368"/>
            <a:ext cx="50292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" y="5349240"/>
            <a:ext cx="438441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Encapsulation is preserved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derived class gets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behaviour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not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data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: it must go through the public / protected interface of the 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2 — Virtual functions &amp; dynamic binding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050" i="0">
                <a:solidFill>
                  <a:srgbClr val="1C2738"/>
                </a:solidFill>
                <a:latin typeface="Segoe UI"/>
              </a:rPr>
              <a:t>A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`virtual`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method can be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overridden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by a derived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base declares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 void attack(std::string const &amp;);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the derived class redeclares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same signature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2843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Static binding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(compile 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36876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Without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the function is chosen from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type of the pointer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ClapTrap::attack()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always.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00934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Dynamic binding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(run time)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64967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the function is chosen from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real type of the object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pointing to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ScavTrap::attack()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29025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Under the hood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893058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compiler adds a hidden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vtable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(virtual function table) and a pointer to it inside every object with virtual methods.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57116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rule I must never forget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21149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050" i="0">
                <a:solidFill>
                  <a:srgbClr val="5E6E84"/>
                </a:solidFill>
                <a:latin typeface="Segoe UI"/>
              </a:rPr>
              <a:t>The destructor must be `virtual`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as soon as the class is used polymorphically, otherwise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on a base pointer leaks.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429996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virtual in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37330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virtual -&gt; the derived classes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may replace this behaviour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attack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target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virtual -&gt; delete through a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ClapTrap* destroys everything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~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ScavTrap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same signature -&gt; an OVERRIDE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attack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target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3 — Abstract classes &amp; interfaces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100" i="0">
                <a:solidFill>
                  <a:srgbClr val="1C2738"/>
                </a:solidFill>
                <a:latin typeface="Segoe UI"/>
              </a:rPr>
              <a:t>A class that declares at least one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pure 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function is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abstract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18310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Syntax: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 void f() = 0;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— 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= 0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is the marker.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91868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An abstract class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cannot be instantiated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Base b;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is a compile error.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74976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is a pure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contract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: *“every child must implement this”*.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8534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Why the subject does not use one 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22092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ex00 requires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object to be created (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 robot("Clappy");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) →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must be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concrete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05200"/>
            <a:ext cx="451242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So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is declared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but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not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pure virtual.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78758"/>
            <a:ext cx="4786746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00" i="0">
                <a:solidFill>
                  <a:srgbClr val="1C2738"/>
                </a:solidFill>
                <a:latin typeface="Segoe UI"/>
              </a:rPr>
              <a:t>The “interface” of the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52316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It is the set of public methods shared by all the traps: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takeDamage()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beRepaired()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35424"/>
            <a:ext cx="4512426" cy="419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00" i="0">
                <a:solidFill>
                  <a:srgbClr val="5E6E84"/>
                </a:solidFill>
                <a:latin typeface="Segoe UI"/>
              </a:rPr>
              <a:t>We manipulate them through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→ the </a:t>
            </a:r>
            <a:r>
              <a:rPr b="1" sz="1100" i="0">
                <a:solidFill>
                  <a:srgbClr val="5E6E84"/>
                </a:solidFill>
                <a:latin typeface="Segoe UI"/>
              </a:rPr>
              <a:t>polymorphic</a:t>
            </a:r>
            <a:r>
              <a:rPr b="0" sz="1100" i="0">
                <a:solidFill>
                  <a:srgbClr val="5E6E84"/>
                </a:solidFill>
                <a:latin typeface="Segoe UI"/>
              </a:rPr>
              <a:t> usage the module title refers 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83103" y="1444752"/>
            <a:ext cx="5531351" cy="4507356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pure virtual vs. virtual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0263" y="1874520"/>
            <a:ext cx="5257031" cy="394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an ABSTRACT class = an interface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Robot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attack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beRepaired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unsigned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   </a:t>
            </a:r>
            <a:r>
              <a:rPr sz="1150">
                <a:solidFill>
                  <a:srgbClr val="D6DEEA"/>
                </a:solidFill>
                <a:latin typeface="Consolas"/>
              </a:rPr>
              <a:t>=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F78C6C"/>
                </a:solidFill>
                <a:latin typeface="Consolas"/>
              </a:rPr>
              <a:t>0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~</a:t>
            </a:r>
            <a:r>
              <a:rPr sz="1150">
                <a:solidFill>
                  <a:srgbClr val="82AAFF"/>
                </a:solidFill>
                <a:latin typeface="Consolas"/>
              </a:rPr>
              <a:t>Robot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Robot r;   &lt;-- ERROR: cannot</a:t>
            </a:r>
          </a:p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             instantiate an abstract class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 i="1">
                <a:solidFill>
                  <a:srgbClr val="62738A"/>
                </a:solidFill>
                <a:latin typeface="Consolas"/>
              </a:rPr>
              <a:t>//  a CONCRETE class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Robot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attack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target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beRepaired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unsigned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amount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4 — Access specifiers &amp; encapsulation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`public`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— accessible from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everywhere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(the interface).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08785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`protected`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— accessible from the class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and its derived classes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72818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`private`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— accessible from the class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only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36851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rule of thumb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00884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Data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always.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64917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Behaviour the outside world needs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28950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Helpers meant for the children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92983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Inheritance and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557016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inheritance, the base's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members stay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in the derived class, and its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ones stay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021074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base's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members are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never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accessible, not even from a derived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8513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How I applied it here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49165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hitPoints_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…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(the subject requires it).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13198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setHitPoints()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hasEnergy()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consumeEnergy()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277231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getName()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…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83103" y="1444752"/>
            <a:ext cx="5531351" cy="4507356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three sections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0263" y="1874520"/>
            <a:ext cx="5257031" cy="39404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class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private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only ClapTrap itself can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touch these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 </a:t>
            </a:r>
            <a:r>
              <a:rPr sz="1150">
                <a:solidFill>
                  <a:srgbClr val="D6DEEA"/>
                </a:solidFill>
                <a:latin typeface="Consolas"/>
              </a:rPr>
              <a:t>name_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unsigned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hitPoints_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public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everybody can use these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virtual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attack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target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std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  <a:r>
              <a:rPr sz="1150">
                <a:solidFill>
                  <a:srgbClr val="C792EA"/>
                </a:solidFill>
                <a:latin typeface="Consolas"/>
              </a:rPr>
              <a:t>string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&amp;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getName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C792EA"/>
                </a:solidFill>
                <a:latin typeface="Consolas"/>
              </a:rPr>
              <a:t>protected</a:t>
            </a:r>
            <a:r>
              <a:rPr sz="11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ClapTrap AND its children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 i="1">
                <a:solidFill>
                  <a:srgbClr val="62738A"/>
                </a:solidFill>
                <a:latin typeface="Consolas"/>
              </a:rPr>
              <a:t>//  (ScavTrap, FragTrap, ...)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void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setHitPoints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C792EA"/>
                </a:solidFill>
                <a:latin typeface="Consolas"/>
              </a:rPr>
              <a:t>unsigned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int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hitPoints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	</a:t>
            </a:r>
            <a:r>
              <a:rPr sz="1150">
                <a:solidFill>
                  <a:srgbClr val="C792EA"/>
                </a:solidFill>
                <a:latin typeface="Consolas"/>
              </a:rPr>
              <a:t>bool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D6DEEA"/>
                </a:solidFill>
                <a:latin typeface="Consolas"/>
              </a:rPr>
              <a:t>hasEnergy</a:t>
            </a:r>
            <a:r>
              <a:rPr sz="1150">
                <a:solidFill>
                  <a:srgbClr val="D6DEEA"/>
                </a:solidFill>
                <a:latin typeface="Consolas"/>
              </a:rPr>
              <a:t>(</a:t>
            </a:r>
            <a:r>
              <a:rPr sz="1150">
                <a:solidFill>
                  <a:srgbClr val="D6DEEA"/>
                </a:solidFill>
                <a:latin typeface="Consolas"/>
              </a:rPr>
              <a:t>)</a:t>
            </a:r>
            <a:r>
              <a:rPr sz="1150">
                <a:solidFill>
                  <a:srgbClr val="D6DEEA"/>
                </a:solidFill>
                <a:latin typeface="Consolas"/>
              </a:rPr>
              <a:t> </a:t>
            </a:r>
            <a:r>
              <a:rPr sz="1150">
                <a:solidFill>
                  <a:srgbClr val="C792EA"/>
                </a:solidFill>
                <a:latin typeface="Consolas"/>
              </a:rPr>
              <a:t>const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50">
                <a:solidFill>
                  <a:srgbClr val="D6DEEA"/>
                </a:solidFill>
                <a:latin typeface="Consolas"/>
              </a:rPr>
              <a:t>}</a:t>
            </a:r>
            <a:r>
              <a:rPr sz="11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2 · THE KNOWLEDGE YOU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Concept 5 — The Rule of Three (Orthodox Canonical Form)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050" i="0">
                <a:solidFill>
                  <a:srgbClr val="1C2738"/>
                </a:solidFill>
                <a:latin typeface="Segoe UI"/>
              </a:rPr>
              <a:t>A class that owns a resource must manage </a:t>
            </a:r>
            <a:r>
              <a:rPr b="1" sz="1050" i="0">
                <a:solidFill>
                  <a:srgbClr val="1C2738"/>
                </a:solidFill>
                <a:latin typeface="Segoe UI"/>
              </a:rPr>
              <a:t>three</a:t>
            </a:r>
            <a:r>
              <a:rPr b="0" sz="1050" i="0">
                <a:solidFill>
                  <a:srgbClr val="1C2738"/>
                </a:solidFill>
                <a:latin typeface="Segoe UI"/>
              </a:rPr>
              <a:t> things: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08785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destructor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to release the resource,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972818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copy constructor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to copy it deeply,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36851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copy assignment operator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to assign it deeply.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500884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Plus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default constructor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which the 42 subject asks for explicitly.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64917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028950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If the compiler generates them it copies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pointers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not the data → two objects share the same memory →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double free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or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leak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493008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Here the member is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std::string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which manages its own memory — but the subject demands the three methods, so I write them by hand.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57066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two rules of `operator=`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1099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Check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if (this != &amp;other)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to avoid the self-assignment bug.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485132"/>
            <a:ext cx="451242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Return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*this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so that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a = b = c;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works (chaining).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49165"/>
            <a:ext cx="478674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Inheritance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013198"/>
            <a:ext cx="4512426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A derived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operator=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must call the base's one explicitly: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ClapTrap::operator=(other);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otherwise the base part is not copied.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83103" y="1444752"/>
            <a:ext cx="5531351" cy="453440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83103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11119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copy semantics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0263" y="1874520"/>
            <a:ext cx="5257031" cy="3967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  </a:t>
            </a:r>
            <a:r>
              <a:rPr sz="1100">
                <a:solidFill>
                  <a:srgbClr val="D6DEEA"/>
                </a:solidFill>
                <a:latin typeface="Consolas"/>
              </a:rPr>
              <a:t>hitPoints_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hitPoints_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  </a:t>
            </a:r>
            <a:r>
              <a:rPr sz="110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  </a:t>
            </a:r>
            <a:r>
              <a:rPr sz="110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std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cout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ECC48D"/>
                </a:solidFill>
                <a:latin typeface="Consolas"/>
              </a:rPr>
              <a:t>"ClapTrap: a copy of "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		  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ECC48D"/>
                </a:solidFill>
                <a:latin typeface="Consolas"/>
              </a:rPr>
              <a:t>" has been created."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&lt;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std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endl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D6DEEA"/>
                </a:solidFill>
                <a:latin typeface="Consolas"/>
              </a:rPr>
              <a:t>:</a:t>
            </a:r>
            <a:r>
              <a:rPr sz="1100">
                <a:solidFill>
                  <a:srgbClr val="C792EA"/>
                </a:solidFill>
                <a:latin typeface="Consolas"/>
              </a:rPr>
              <a:t>operator</a:t>
            </a:r>
            <a:r>
              <a:rPr sz="1100">
                <a:solidFill>
                  <a:srgbClr val="D6DEEA"/>
                </a:solidFill>
                <a:latin typeface="Consolas"/>
              </a:rPr>
              <a:t>=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82AAFF"/>
                </a:solidFill>
                <a:latin typeface="Consolas"/>
              </a:rPr>
              <a:t>ClapTrap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C792EA"/>
                </a:solidFill>
                <a:latin typeface="Consolas"/>
              </a:rPr>
              <a:t>const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if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C792EA"/>
                </a:solidFill>
                <a:latin typeface="Consolas"/>
              </a:rPr>
              <a:t>this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!</a:t>
            </a:r>
            <a:r>
              <a:rPr sz="1100">
                <a:solidFill>
                  <a:srgbClr val="D6DEEA"/>
                </a:solidFill>
                <a:latin typeface="Consolas"/>
              </a:rPr>
              <a:t>=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&amp;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	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=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name_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	</a:t>
            </a:r>
            <a:r>
              <a:rPr sz="1100">
                <a:solidFill>
                  <a:srgbClr val="D6DEEA"/>
                </a:solidFill>
                <a:latin typeface="Consolas"/>
              </a:rPr>
              <a:t>hitPoints_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=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other</a:t>
            </a:r>
            <a:r>
              <a:rPr sz="1100">
                <a:solidFill>
                  <a:srgbClr val="D6DEEA"/>
                </a:solidFill>
                <a:latin typeface="Consolas"/>
              </a:rPr>
              <a:t>.</a:t>
            </a:r>
            <a:r>
              <a:rPr sz="1100">
                <a:solidFill>
                  <a:srgbClr val="D6DEEA"/>
                </a:solidFill>
                <a:latin typeface="Consolas"/>
              </a:rPr>
              <a:t>hitPoints_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	</a:t>
            </a:r>
            <a:r>
              <a:rPr sz="1100" i="1">
                <a:solidFill>
                  <a:srgbClr val="62738A"/>
                </a:solidFill>
                <a:latin typeface="Consolas"/>
              </a:rPr>
              <a:t>//  ...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	</a:t>
            </a:r>
            <a:r>
              <a:rPr sz="1100">
                <a:solidFill>
                  <a:srgbClr val="C792EA"/>
                </a:solidFill>
                <a:latin typeface="Consolas"/>
              </a:rPr>
              <a:t>return</a:t>
            </a:r>
            <a:r>
              <a:rPr sz="1100">
                <a:solidFill>
                  <a:srgbClr val="D6DEEA"/>
                </a:solidFill>
                <a:latin typeface="Consolas"/>
              </a:rPr>
              <a:t> </a:t>
            </a:r>
            <a:r>
              <a:rPr sz="1100">
                <a:solidFill>
                  <a:srgbClr val="D6DEEA"/>
                </a:solidFill>
                <a:latin typeface="Consolas"/>
              </a:rPr>
              <a:t>(</a:t>
            </a:r>
            <a:r>
              <a:rPr sz="1100">
                <a:solidFill>
                  <a:srgbClr val="D6DEEA"/>
                </a:solidFill>
                <a:latin typeface="Consolas"/>
              </a:rPr>
              <a:t>*</a:t>
            </a:r>
            <a:r>
              <a:rPr sz="1100">
                <a:solidFill>
                  <a:srgbClr val="C792EA"/>
                </a:solidFill>
                <a:latin typeface="Consolas"/>
              </a:rPr>
              <a:t>this</a:t>
            </a:r>
            <a:r>
              <a:rPr sz="1100">
                <a:solidFill>
                  <a:srgbClr val="D6DEEA"/>
                </a:solidFill>
                <a:latin typeface="Consolas"/>
              </a:rPr>
              <a:t>)</a:t>
            </a:r>
            <a:r>
              <a:rPr sz="11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10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3 · EX00 · THE BASE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Aaaaand... OPEN!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46763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40636"/>
            <a:ext cx="419331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with a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private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name,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10 HP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10 energy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0 damage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5595"/>
            <a:ext cx="419331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Public: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takeDamage()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beRepaired()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+ the getters.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51479"/>
            <a:ext cx="419331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ctor, dtor,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copy ctor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and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`operator=`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all print a message.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47363"/>
            <a:ext cx="4467630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What I add on top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143247"/>
            <a:ext cx="4193310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is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from the very first exercise — the foundation of ex01 / ex02 / ex03.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58206"/>
            <a:ext cx="4193310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attributes stay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; the derived classes update them through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setters — exactly *“update ClapTrap accordingly”*.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3986" y="1444752"/>
            <a:ext cx="5850468" cy="4462271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63986" y="1444752"/>
            <a:ext cx="585046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92002" y="1485900"/>
            <a:ext cx="55944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include/ClapTrap.hpp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01146" y="1874520"/>
            <a:ext cx="5576148" cy="38953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C792EA"/>
                </a:solidFill>
                <a:latin typeface="Consolas"/>
              </a:rPr>
              <a:t>class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C792EA"/>
                </a:solidFill>
                <a:latin typeface="Consolas"/>
              </a:rPr>
              <a:t>private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std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C792EA"/>
                </a:solidFill>
                <a:latin typeface="Consolas"/>
              </a:rPr>
              <a:t>string</a:t>
            </a:r>
            <a:r>
              <a:rPr sz="800">
                <a:solidFill>
                  <a:srgbClr val="D6DEEA"/>
                </a:solidFill>
                <a:latin typeface="Consolas"/>
              </a:rPr>
              <a:t>  </a:t>
            </a:r>
            <a:r>
              <a:rPr sz="800">
                <a:solidFill>
                  <a:srgbClr val="D6DEEA"/>
                </a:solidFill>
                <a:latin typeface="Consolas"/>
              </a:rPr>
              <a:t>name_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hitPoints_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C792EA"/>
                </a:solidFill>
                <a:latin typeface="Consolas"/>
              </a:rPr>
              <a:t>public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std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C792EA"/>
                </a:solidFill>
                <a:latin typeface="Consolas"/>
              </a:rPr>
              <a:t>string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name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other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operator</a:t>
            </a:r>
            <a:r>
              <a:rPr sz="800">
                <a:solidFill>
                  <a:srgbClr val="D6DEEA"/>
                </a:solidFill>
                <a:latin typeface="Consolas"/>
              </a:rPr>
              <a:t>=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other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virtual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~</a:t>
            </a:r>
            <a:r>
              <a:rPr sz="800">
                <a:solidFill>
                  <a:srgbClr val="82AAFF"/>
                </a:solidFill>
                <a:latin typeface="Consolas"/>
              </a:rPr>
              <a:t>ClapTrap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virtual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attack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std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C792EA"/>
                </a:solidFill>
                <a:latin typeface="Consolas"/>
              </a:rPr>
              <a:t>string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target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takeDamage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amount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beRepaired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amount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std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  <a:r>
              <a:rPr sz="800">
                <a:solidFill>
                  <a:srgbClr val="C792EA"/>
                </a:solidFill>
                <a:latin typeface="Consolas"/>
              </a:rPr>
              <a:t>string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&amp;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getName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getHitPoints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const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  <a:r>
              <a:rPr sz="800">
                <a:solidFill>
                  <a:srgbClr val="D6DEEA"/>
                </a:solidFill>
                <a:latin typeface="Consolas"/>
              </a:rPr>
              <a:t>   </a:t>
            </a:r>
            <a:r>
              <a:rPr sz="800" i="1">
                <a:solidFill>
                  <a:srgbClr val="62738A"/>
                </a:solidFill>
                <a:latin typeface="Consolas"/>
              </a:rPr>
              <a:t>// + the 3 other getters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C792EA"/>
                </a:solidFill>
                <a:latin typeface="Consolas"/>
              </a:rPr>
              <a:t>protected</a:t>
            </a:r>
            <a:r>
              <a:rPr sz="80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setHitPoints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hitPoints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energyPoints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	</a:t>
            </a:r>
            <a:r>
              <a:rPr sz="800">
                <a:solidFill>
                  <a:srgbClr val="C792EA"/>
                </a:solidFill>
                <a:latin typeface="Consolas"/>
              </a:rPr>
              <a:t>void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800">
                <a:solidFill>
                  <a:srgbClr val="D6DEEA"/>
                </a:solidFill>
                <a:latin typeface="Consolas"/>
              </a:rPr>
              <a:t>(</a:t>
            </a:r>
            <a:r>
              <a:rPr sz="800">
                <a:solidFill>
                  <a:srgbClr val="C792EA"/>
                </a:solidFill>
                <a:latin typeface="Consolas"/>
              </a:rPr>
              <a:t>unsigned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C792EA"/>
                </a:solidFill>
                <a:latin typeface="Consolas"/>
              </a:rPr>
              <a:t>int</a:t>
            </a:r>
            <a:r>
              <a:rPr sz="800">
                <a:solidFill>
                  <a:srgbClr val="D6DEEA"/>
                </a:solidFill>
                <a:latin typeface="Consolas"/>
              </a:rPr>
              <a:t> </a:t>
            </a:r>
            <a:r>
              <a:rPr sz="800">
                <a:solidFill>
                  <a:srgbClr val="D6DEEA"/>
                </a:solidFill>
                <a:latin typeface="Consolas"/>
              </a:rPr>
              <a:t>attackDamage</a:t>
            </a:r>
            <a:r>
              <a:rPr sz="800">
                <a:solidFill>
                  <a:srgbClr val="D6DEEA"/>
                </a:solidFill>
                <a:latin typeface="Consolas"/>
              </a:rPr>
              <a:t>)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00">
                <a:solidFill>
                  <a:srgbClr val="D6DEEA"/>
                </a:solidFill>
                <a:latin typeface="Consolas"/>
              </a:rPr>
              <a:t>}</a:t>
            </a:r>
            <a:r>
              <a:rPr sz="80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17720"/>
            <a:ext cx="4467630" cy="114300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617720"/>
            <a:ext cx="50292" cy="114300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4736592"/>
            <a:ext cx="4065294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Why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1" sz="1150" i="0">
                <a:solidFill>
                  <a:srgbClr val="1F8A7A"/>
                </a:solidFill>
                <a:latin typeface="Segoe UI Semibold"/>
              </a:rPr>
              <a:t> already in ex00?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subject does not require it in this exercise, but it is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foundation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of the three next ones: without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on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could not override it and no polymorphism would be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Constructors and the initializer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279412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src/ClapTrap.cpp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222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82AAFF"/>
                </a:solidFill>
                <a:latin typeface="Consolas"/>
              </a:rPr>
              <a:t>ClapTrap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82AAFF"/>
                </a:solidFill>
                <a:latin typeface="Consolas"/>
              </a:rPr>
              <a:t>ClapTrap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C792EA"/>
                </a:solidFill>
                <a:latin typeface="Consolas"/>
              </a:rPr>
              <a:t>std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C792EA"/>
                </a:solidFill>
                <a:latin typeface="Consolas"/>
              </a:rPr>
              <a:t>string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const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&amp;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name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name_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name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hitPoints_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F78C6C"/>
                </a:solidFill>
                <a:latin typeface="Consolas"/>
              </a:rPr>
              <a:t>10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F78C6C"/>
                </a:solidFill>
                <a:latin typeface="Consolas"/>
              </a:rPr>
              <a:t>10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F78C6C"/>
                </a:solidFill>
                <a:latin typeface="Consolas"/>
              </a:rPr>
              <a:t>0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C792EA"/>
                </a:solidFill>
                <a:latin typeface="Consolas"/>
              </a:rPr>
              <a:t>std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cout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ECC48D"/>
                </a:solidFill>
                <a:latin typeface="Consolas"/>
              </a:rPr>
              <a:t>"ClapTrap: "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		 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ECC48D"/>
                </a:solidFill>
                <a:latin typeface="Consolas"/>
              </a:rPr>
              <a:t>" has been created."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std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endl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82AAFF"/>
                </a:solidFill>
                <a:latin typeface="Consolas"/>
              </a:rPr>
              <a:t>ClapTrap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82AAFF"/>
                </a:solidFill>
                <a:latin typeface="Consolas"/>
              </a:rPr>
              <a:t>ClapTrap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82AAFF"/>
                </a:solidFill>
                <a:latin typeface="Consolas"/>
              </a:rPr>
              <a:t>ClapTrap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const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&amp;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other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name_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other</a:t>
            </a:r>
            <a:r>
              <a:rPr sz="650">
                <a:solidFill>
                  <a:srgbClr val="D6DEEA"/>
                </a:solidFill>
                <a:latin typeface="Consolas"/>
              </a:rPr>
              <a:t>.</a:t>
            </a:r>
            <a:r>
              <a:rPr sz="650">
                <a:solidFill>
                  <a:srgbClr val="D6DEEA"/>
                </a:solidFill>
                <a:latin typeface="Consolas"/>
              </a:rPr>
              <a:t>name_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hitPoints_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other</a:t>
            </a:r>
            <a:r>
              <a:rPr sz="650">
                <a:solidFill>
                  <a:srgbClr val="D6DEEA"/>
                </a:solidFill>
                <a:latin typeface="Consolas"/>
              </a:rPr>
              <a:t>.</a:t>
            </a:r>
            <a:r>
              <a:rPr sz="650">
                <a:solidFill>
                  <a:srgbClr val="D6DEEA"/>
                </a:solidFill>
                <a:latin typeface="Consolas"/>
              </a:rPr>
              <a:t>hitPoints_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other</a:t>
            </a:r>
            <a:r>
              <a:rPr sz="650">
                <a:solidFill>
                  <a:srgbClr val="D6DEEA"/>
                </a:solidFill>
                <a:latin typeface="Consolas"/>
              </a:rPr>
              <a:t>.</a:t>
            </a:r>
            <a:r>
              <a:rPr sz="650">
                <a:solidFill>
                  <a:srgbClr val="D6DEEA"/>
                </a:solidFill>
                <a:latin typeface="Consolas"/>
              </a:rPr>
              <a:t>energyPoints_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  <a:r>
              <a:rPr sz="650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  </a:t>
            </a:r>
            <a:r>
              <a:rPr sz="65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650">
                <a:solidFill>
                  <a:srgbClr val="D6DEEA"/>
                </a:solidFill>
                <a:latin typeface="Consolas"/>
              </a:rPr>
              <a:t>(</a:t>
            </a:r>
            <a:r>
              <a:rPr sz="650">
                <a:solidFill>
                  <a:srgbClr val="D6DEEA"/>
                </a:solidFill>
                <a:latin typeface="Consolas"/>
              </a:rPr>
              <a:t>other</a:t>
            </a:r>
            <a:r>
              <a:rPr sz="650">
                <a:solidFill>
                  <a:srgbClr val="D6DEEA"/>
                </a:solidFill>
                <a:latin typeface="Consolas"/>
              </a:rPr>
              <a:t>.</a:t>
            </a:r>
            <a:r>
              <a:rPr sz="650">
                <a:solidFill>
                  <a:srgbClr val="D6DEEA"/>
                </a:solidFill>
                <a:latin typeface="Consolas"/>
              </a:rPr>
              <a:t>attackDamage_</a:t>
            </a:r>
            <a:r>
              <a:rPr sz="6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</a:t>
            </a:r>
            <a:r>
              <a:rPr sz="650">
                <a:solidFill>
                  <a:srgbClr val="C792EA"/>
                </a:solidFill>
                <a:latin typeface="Consolas"/>
              </a:rPr>
              <a:t>std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cout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ECC48D"/>
                </a:solidFill>
                <a:latin typeface="Consolas"/>
              </a:rPr>
              <a:t>"ClapTrap: a copy of "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			 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ECC48D"/>
                </a:solidFill>
                <a:latin typeface="Consolas"/>
              </a:rPr>
              <a:t>" has been created."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&lt;</a:t>
            </a:r>
            <a:r>
              <a:rPr sz="650">
                <a:solidFill>
                  <a:srgbClr val="D6DEEA"/>
                </a:solidFill>
                <a:latin typeface="Consolas"/>
              </a:rPr>
              <a:t> </a:t>
            </a:r>
            <a:r>
              <a:rPr sz="650">
                <a:solidFill>
                  <a:srgbClr val="C792EA"/>
                </a:solidFill>
                <a:latin typeface="Consolas"/>
              </a:rPr>
              <a:t>std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:</a:t>
            </a:r>
            <a:r>
              <a:rPr sz="650">
                <a:solidFill>
                  <a:srgbClr val="D6DEEA"/>
                </a:solidFill>
                <a:latin typeface="Consolas"/>
              </a:rPr>
              <a:t>endl</a:t>
            </a:r>
            <a:r>
              <a:rPr sz="6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the initializer list?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08785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Members are initialised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before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the constructor body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1972818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It avoids a temporary + an assignment, and it is the only way to initialise a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const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member.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963" y="2436876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Order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2700909"/>
            <a:ext cx="4725171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Members are initialised in their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declaration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order — a different order triggers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-Wreorder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and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-Werror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turns that into a build failure.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963" y="3164967"/>
            <a:ext cx="499949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The four special members (Rule of Three + default ctor)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3429000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Default ctor → the *“naked”* robot.   Copy ctor → copies the four members.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9283" y="3693033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operator=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→ member by member, guarded by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if (this != &amp;other)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9283" y="3957066"/>
            <a:ext cx="472517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Destructor →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so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through a base pointer is safe.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26280"/>
            <a:ext cx="5318607" cy="96012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26280"/>
            <a:ext cx="50292" cy="96012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645152"/>
            <a:ext cx="4916271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Copy ctor vs. assignment operator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copy constructor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builds a new object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from an existing one; the assignment operator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overwrites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an existing object. The subject wants a message in both cases, so both print 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963" y="4526280"/>
            <a:ext cx="4999491" cy="96012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4963" y="4526280"/>
            <a:ext cx="50292" cy="96012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4419" y="4645152"/>
            <a:ext cx="4597155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The self-assignment guard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034" i="0">
                <a:solidFill>
                  <a:srgbClr val="1F8A7A"/>
                </a:solidFill>
                <a:latin typeface="Consolas"/>
              </a:rPr>
              <a:t>if (this != &amp;other)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avoids copying an object onto itself. Without it,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 = a;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could destroy the data before copying it. The operator also returns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*this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so that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a = b = c;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attack(), takeDamage() and beRepaired()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531351" cy="3767061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src/ClapTrap.cpp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257031" cy="32001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C792EA"/>
                </a:solidFill>
                <a:latin typeface="Consolas"/>
              </a:rPr>
              <a:t>void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82AAFF"/>
                </a:solidFill>
                <a:latin typeface="Consolas"/>
              </a:rPr>
              <a:t>ClapTrap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attack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C792EA"/>
                </a:solidFill>
                <a:latin typeface="Consolas"/>
              </a:rPr>
              <a:t>string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C792EA"/>
                </a:solidFill>
                <a:latin typeface="Consolas"/>
              </a:rPr>
              <a:t>const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&amp;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target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C792EA"/>
                </a:solidFill>
                <a:latin typeface="Consolas"/>
              </a:rPr>
              <a:t>if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D6DEEA"/>
                </a:solidFill>
                <a:latin typeface="Consolas"/>
              </a:rPr>
              <a:t>!</a:t>
            </a:r>
            <a:r>
              <a:rPr sz="844">
                <a:solidFill>
                  <a:srgbClr val="D6DEEA"/>
                </a:solidFill>
                <a:latin typeface="Consolas"/>
              </a:rPr>
              <a:t>hasHitPoints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cout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"ClapTrap 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 is out of hit points and cannot attack."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endl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</a:t>
            </a:r>
            <a:r>
              <a:rPr sz="844">
                <a:solidFill>
                  <a:srgbClr val="C792EA"/>
                </a:solidFill>
                <a:latin typeface="Consolas"/>
              </a:rPr>
              <a:t>return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C792EA"/>
                </a:solidFill>
                <a:latin typeface="Consolas"/>
              </a:rPr>
              <a:t>if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D6DEEA"/>
                </a:solidFill>
                <a:latin typeface="Consolas"/>
              </a:rPr>
              <a:t>!</a:t>
            </a:r>
            <a:r>
              <a:rPr sz="844">
                <a:solidFill>
                  <a:srgbClr val="D6DEEA"/>
                </a:solidFill>
                <a:latin typeface="Consolas"/>
              </a:rPr>
              <a:t>hasEnergy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cout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"ClapTrap 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 is out of energy and cannot attack."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endl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</a:t>
            </a:r>
            <a:r>
              <a:rPr sz="844">
                <a:solidFill>
                  <a:srgbClr val="C792EA"/>
                </a:solidFill>
                <a:latin typeface="Consolas"/>
              </a:rPr>
              <a:t>return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D6DEEA"/>
                </a:solidFill>
                <a:latin typeface="Consolas"/>
              </a:rPr>
              <a:t>consumeEnergy</a:t>
            </a:r>
            <a:r>
              <a:rPr sz="844">
                <a:solidFill>
                  <a:srgbClr val="D6DEEA"/>
                </a:solidFill>
                <a:latin typeface="Consolas"/>
              </a:rPr>
              <a:t>(</a:t>
            </a:r>
            <a:r>
              <a:rPr sz="844">
                <a:solidFill>
                  <a:srgbClr val="D6DEEA"/>
                </a:solidFill>
                <a:latin typeface="Consolas"/>
              </a:rPr>
              <a:t>)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cout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"ClapTrap 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name_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 attacks 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target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", causing 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attackDamage_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			 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ECC48D"/>
                </a:solidFill>
                <a:latin typeface="Consolas"/>
              </a:rPr>
              <a:t>" points of damage!"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&lt;</a:t>
            </a:r>
            <a:r>
              <a:rPr sz="844">
                <a:solidFill>
                  <a:srgbClr val="D6DEEA"/>
                </a:solidFill>
                <a:latin typeface="Consolas"/>
              </a:rPr>
              <a:t> </a:t>
            </a:r>
            <a:r>
              <a:rPr sz="844">
                <a:solidFill>
                  <a:srgbClr val="C792EA"/>
                </a:solidFill>
                <a:latin typeface="Consolas"/>
              </a:rPr>
              <a:t>std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:</a:t>
            </a:r>
            <a:r>
              <a:rPr sz="844">
                <a:solidFill>
                  <a:srgbClr val="D6DEEA"/>
                </a:solidFill>
                <a:latin typeface="Consolas"/>
              </a:rPr>
              <a:t>endl</a:t>
            </a:r>
            <a:r>
              <a:rPr sz="84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44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7708" y="1444752"/>
            <a:ext cx="478674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rules of the subject, in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028" y="1761134"/>
            <a:ext cx="45124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hit points → nothing happens, we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return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early.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028" y="2077516"/>
            <a:ext cx="45124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energy → nothing happens, we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return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early.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028" y="2393898"/>
            <a:ext cx="4512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Otherwise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1 energy point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consumed and the damage is printed.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2028" y="2938880"/>
            <a:ext cx="4512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takeDamage()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never goes below 0: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if (amount &gt; hitPoints_) hitPoints_ = 0;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2028" y="3483862"/>
            <a:ext cx="45124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beRepaired()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also costs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1 energy point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adds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hit points.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7708" y="3800244"/>
            <a:ext cx="478674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Why the small protected helpers?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2028" y="4116626"/>
            <a:ext cx="4512426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hasHitPoints()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hasEnergy()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consumeEnergy()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are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so the derived classes reuse them instead of repeating the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3 · A KEY DESIGN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The </a:t>
            </a:r>
            <a:r>
              <a:rPr b="0" sz="253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1" sz="2700" i="0">
                <a:solidFill>
                  <a:srgbClr val="0E1B2E"/>
                </a:solidFill>
                <a:latin typeface="Segoe UI Semibold"/>
              </a:rPr>
              <a:t> setter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46803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0161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subject says the attributes are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private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5570"/>
            <a:ext cx="440605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… but ex01 / ex02 must give their robot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100 HP / 50 energy / 20 damage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589579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 derived class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cannot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touch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member of its 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4988"/>
            <a:ext cx="46803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Three possible solutions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200397"/>
            <a:ext cx="440605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A.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Make them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breaks the subject (they must be private).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34406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B.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Make them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→ breaks encapsulation, forbidden.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39815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C.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Keep them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+ add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setters →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what I did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68037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56073"/>
            <a:ext cx="440605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data stays invisible to the outside world.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420106"/>
            <a:ext cx="440605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986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setters are reachable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only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by the class and its children.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684139"/>
            <a:ext cx="440605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setter is the single controlled entry point — it can validate.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948172"/>
            <a:ext cx="440605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This is exactly the *“update ClapTrap accordingly”* of ex01 / ex02.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6731" y="1444752"/>
            <a:ext cx="5637723" cy="435406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776731" y="1444752"/>
            <a:ext cx="5637723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04747" y="1485900"/>
            <a:ext cx="53816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pattern in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13891" y="1874520"/>
            <a:ext cx="5363403" cy="37871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 i="1">
                <a:solidFill>
                  <a:srgbClr val="62738A"/>
                </a:solidFill>
                <a:latin typeface="Consolas"/>
              </a:rPr>
              <a:t>//  header - the protected section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protected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setHitPoints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unsigned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hitPoints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unsigned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energyPoints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unsigned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attackDamage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 i="1">
                <a:solidFill>
                  <a:srgbClr val="62738A"/>
                </a:solidFill>
                <a:latin typeface="Consolas"/>
              </a:rPr>
              <a:t>//  implementation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ClapTrap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setHitPoints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unsigned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hitPoints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hitPoints_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hitPoints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 i="1">
                <a:solidFill>
                  <a:srgbClr val="62738A"/>
                </a:solidFill>
                <a:latin typeface="Consolas"/>
              </a:rPr>
              <a:t>//  used by the derived classes (ex01 / ex02)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82AAFF"/>
                </a:solidFill>
                <a:latin typeface="Consolas"/>
              </a:rPr>
              <a:t>ScavTrap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82AAFF"/>
                </a:solidFill>
                <a:latin typeface="Consolas"/>
              </a:rPr>
              <a:t>ScavTrap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C792EA"/>
                </a:solidFill>
                <a:latin typeface="Consolas"/>
              </a:rPr>
              <a:t>string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const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name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ClapTrap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name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setHitPoints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F78C6C"/>
                </a:solidFill>
                <a:latin typeface="Consolas"/>
              </a:rPr>
              <a:t>100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F78C6C"/>
                </a:solidFill>
                <a:latin typeface="Consolas"/>
              </a:rPr>
              <a:t>50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F78C6C"/>
                </a:solidFill>
                <a:latin typeface="Consolas"/>
              </a:rPr>
              <a:t>20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main.cpp: how I 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531351" cy="286626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53135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2753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257031" cy="229933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C792EA"/>
                </a:solidFill>
                <a:latin typeface="Consolas"/>
              </a:rPr>
              <a:t>static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C792EA"/>
                </a:solidFill>
                <a:latin typeface="Consolas"/>
              </a:rPr>
              <a:t>void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testCombat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C792EA"/>
                </a:solidFill>
                <a:latin typeface="Consolas"/>
              </a:rPr>
              <a:t>std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cout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ECC48D"/>
                </a:solidFill>
                <a:latin typeface="Consolas"/>
              </a:rPr>
              <a:t>"--- testCombat: a ClapTrap fights ---"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C792EA"/>
                </a:solidFill>
                <a:latin typeface="Consolas"/>
              </a:rPr>
              <a:t>std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endl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82AAFF"/>
                </a:solidFill>
                <a:latin typeface="Consolas"/>
              </a:rPr>
              <a:t>ClapTrap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ECC48D"/>
                </a:solidFill>
                <a:latin typeface="Consolas"/>
              </a:rPr>
              <a:t>"Clappy"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attack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ECC48D"/>
                </a:solidFill>
                <a:latin typeface="Consolas"/>
              </a:rPr>
              <a:t>"target-1"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attack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ECC48D"/>
                </a:solidFill>
                <a:latin typeface="Consolas"/>
              </a:rPr>
              <a:t>"target-2"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takeDamage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F78C6C"/>
                </a:solidFill>
                <a:latin typeface="Consolas"/>
              </a:rPr>
              <a:t>4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beRepaired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F78C6C"/>
                </a:solidFill>
                <a:latin typeface="Consolas"/>
              </a:rPr>
              <a:t>2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</a:t>
            </a:r>
            <a:r>
              <a:rPr sz="850">
                <a:solidFill>
                  <a:srgbClr val="C792EA"/>
                </a:solidFill>
                <a:latin typeface="Consolas"/>
              </a:rPr>
              <a:t>std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cout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ECC48D"/>
                </a:solidFill>
                <a:latin typeface="Consolas"/>
              </a:rPr>
              <a:t>"Clappy now has "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getHitPoints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		 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ECC48D"/>
                </a:solidFill>
                <a:latin typeface="Consolas"/>
              </a:rPr>
              <a:t>" hit points, "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getEnergyPoints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		 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ECC48D"/>
                </a:solidFill>
                <a:latin typeface="Consolas"/>
              </a:rPr>
              <a:t>" energy points and "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robot</a:t>
            </a:r>
            <a:r>
              <a:rPr sz="850">
                <a:solidFill>
                  <a:srgbClr val="D6DEEA"/>
                </a:solidFill>
                <a:latin typeface="Consolas"/>
              </a:rPr>
              <a:t>.</a:t>
            </a:r>
            <a:r>
              <a:rPr sz="850">
                <a:solidFill>
                  <a:srgbClr val="D6DEEA"/>
                </a:solidFill>
                <a:latin typeface="Consolas"/>
              </a:rPr>
              <a:t>getAttackDamage</a:t>
            </a:r>
            <a:r>
              <a:rPr sz="850">
                <a:solidFill>
                  <a:srgbClr val="D6DEEA"/>
                </a:solidFill>
                <a:latin typeface="Consolas"/>
              </a:rPr>
              <a:t>(</a:t>
            </a:r>
            <a:r>
              <a:rPr sz="8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			 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ECC48D"/>
                </a:solidFill>
                <a:latin typeface="Consolas"/>
              </a:rPr>
              <a:t>" attack damage."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&lt;</a:t>
            </a:r>
            <a:r>
              <a:rPr sz="850">
                <a:solidFill>
                  <a:srgbClr val="D6DEEA"/>
                </a:solidFill>
                <a:latin typeface="Consolas"/>
              </a:rPr>
              <a:t> </a:t>
            </a:r>
            <a:r>
              <a:rPr sz="850">
                <a:solidFill>
                  <a:srgbClr val="C792EA"/>
                </a:solidFill>
                <a:latin typeface="Consolas"/>
              </a:rPr>
              <a:t>std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:</a:t>
            </a:r>
            <a:r>
              <a:rPr sz="850">
                <a:solidFill>
                  <a:srgbClr val="D6DEEA"/>
                </a:solidFill>
                <a:latin typeface="Consolas"/>
              </a:rPr>
              <a:t>endl</a:t>
            </a:r>
            <a:r>
              <a:rPr sz="8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7708" y="1444752"/>
            <a:ext cx="478674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4 test functions, each in its own scope `{ }`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028" y="1761134"/>
            <a:ext cx="45124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testCombat()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the nominal case: attack, take damage, repair.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2028" y="2077516"/>
            <a:ext cx="4512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testNoEnergy()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12 attacks in a row: the 11th and 12th must fail.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028" y="2622498"/>
            <a:ext cx="4512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testDestruction()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50 damage on 10 HP → 0 HP → attacking refused.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2028" y="3167480"/>
            <a:ext cx="451242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testCopy()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copy constructor and assignment operator.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7708" y="3483862"/>
            <a:ext cx="478674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Why it matters for the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2028" y="3800244"/>
            <a:ext cx="451242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It proves every rule of the subject, and the printed output is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proof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that the implementation behaves as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EX00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ex00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850468" cy="4462272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850468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5944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576148" cy="3895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Module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03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ex00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Aaaaand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OPEN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testCombat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fights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been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created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target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F78C6C"/>
                </a:solidFill>
                <a:latin typeface="Consolas"/>
              </a:rPr>
              <a:t>1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causing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target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F78C6C"/>
                </a:solidFill>
                <a:latin typeface="Consolas"/>
              </a:rPr>
              <a:t>2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causing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takes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4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6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left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repaired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2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8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now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8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energy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been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destroyed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testNoEnergy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energy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are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consumed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Energyless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wall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causing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  <a:r>
              <a:rPr sz="900">
                <a:solidFill>
                  <a:srgbClr val="D6DEEA"/>
                </a:solidFill>
                <a:latin typeface="Consolas"/>
              </a:rPr>
              <a:t>   </a:t>
            </a:r>
            <a:r>
              <a:rPr sz="900">
                <a:solidFill>
                  <a:srgbClr val="D6DEEA"/>
                </a:solidFill>
                <a:latin typeface="Consolas"/>
              </a:rPr>
              <a:t>(</a:t>
            </a:r>
            <a:r>
              <a:rPr sz="900">
                <a:solidFill>
                  <a:srgbClr val="D6DEEA"/>
                </a:solidFill>
                <a:latin typeface="Consolas"/>
              </a:rPr>
              <a:t>x10</a:t>
            </a:r>
            <a:r>
              <a:rPr sz="90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Energyless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energy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cannot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Energyless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energy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cannot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Energyless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energy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left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testDestruction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no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left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Doomed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takes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50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damage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left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Doomed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out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cannot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attack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Doomed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repaired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10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,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10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testCopy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copy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constructor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assignment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  <a:r>
              <a:rPr sz="90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copy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of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Original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been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created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copy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named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Original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: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Original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been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assigned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from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another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ClapTrap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assigned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is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named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82AAFF"/>
                </a:solidFill>
                <a:latin typeface="Consolas"/>
              </a:rPr>
              <a:t>Original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and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has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F78C6C"/>
                </a:solidFill>
                <a:latin typeface="Consolas"/>
              </a:rPr>
              <a:t>7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hit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points</a:t>
            </a:r>
            <a:r>
              <a:rPr sz="90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ex00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done</a:t>
            </a:r>
            <a:r>
              <a:rPr sz="900">
                <a:solidFill>
                  <a:srgbClr val="D6DEEA"/>
                </a:solidFill>
                <a:latin typeface="Consolas"/>
              </a:rPr>
              <a:t> 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  <a:r>
              <a:rPr sz="900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3638" y="1444752"/>
            <a:ext cx="4520816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7958" y="1783461"/>
            <a:ext cx="4246496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Clappy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starts with 10 HP; −4 → 6; repaired by 2 → 8.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67958" y="2122170"/>
            <a:ext cx="4246496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2 attacks + 1 repair consumed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3 energy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10 − 3 = 7.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67958" y="2699004"/>
            <a:ext cx="4246496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10 attacks succeed, the 11th and 12th are refused → energy is consumed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one point at a time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67958" y="3275838"/>
            <a:ext cx="4246496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50 damage on 10 HP leaves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exactly 0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HP, never negative.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7958" y="3852672"/>
            <a:ext cx="4246496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copy and the assignment both carry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7 HP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of the original.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7958" y="4429506"/>
            <a:ext cx="4246496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destructor message proves the object is destroyed at the end of each scope.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3 · EX01 · THE FIRST INHERITANCE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Serena, my love!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893118" cy="3136772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89311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6370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include/ScavTrap.hpp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618798" cy="25698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F07178"/>
                </a:solidFill>
                <a:latin typeface="Consolas"/>
              </a:rPr>
              <a:t>#ifndef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SCAVTRAP_HPP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F07178"/>
                </a:solidFill>
                <a:latin typeface="Consolas"/>
              </a:rPr>
              <a:t>#define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SCAVTRAP_HPP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F07178"/>
                </a:solidFill>
                <a:latin typeface="Consolas"/>
              </a:rPr>
              <a:t>#include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ECC48D"/>
                </a:solidFill>
                <a:latin typeface="Consolas"/>
              </a:rPr>
              <a:t>"ClapTrap.hpp"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class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C792EA"/>
                </a:solidFill>
                <a:latin typeface="Consolas"/>
              </a:rPr>
              <a:t>public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C792EA"/>
                </a:solidFill>
                <a:latin typeface="Consolas"/>
              </a:rPr>
              <a:t>string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name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other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operator</a:t>
            </a:r>
            <a:r>
              <a:rPr sz="750">
                <a:solidFill>
                  <a:srgbClr val="D6DEEA"/>
                </a:solidFill>
                <a:latin typeface="Consolas"/>
              </a:rPr>
              <a:t>=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other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~</a:t>
            </a:r>
            <a:r>
              <a:rPr sz="750">
                <a:solidFill>
                  <a:srgbClr val="82AAFF"/>
                </a:solidFill>
                <a:latin typeface="Consolas"/>
              </a:rPr>
              <a:t>ScavTrap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virtual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attack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C792EA"/>
                </a:solidFill>
                <a:latin typeface="Consolas"/>
              </a:rPr>
              <a:t>std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D6DEEA"/>
                </a:solidFill>
                <a:latin typeface="Consolas"/>
              </a:rPr>
              <a:t>:</a:t>
            </a:r>
            <a:r>
              <a:rPr sz="750">
                <a:solidFill>
                  <a:srgbClr val="C792EA"/>
                </a:solidFill>
                <a:latin typeface="Consolas"/>
              </a:rPr>
              <a:t>string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C792EA"/>
                </a:solidFill>
                <a:latin typeface="Consolas"/>
              </a:rPr>
              <a:t>const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&amp;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target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	</a:t>
            </a:r>
            <a:r>
              <a:rPr sz="750">
                <a:solidFill>
                  <a:srgbClr val="C792EA"/>
                </a:solidFill>
                <a:latin typeface="Consolas"/>
              </a:rPr>
              <a:t>void</a:t>
            </a:r>
            <a:r>
              <a:rPr sz="750">
                <a:solidFill>
                  <a:srgbClr val="D6DEEA"/>
                </a:solidFill>
                <a:latin typeface="Consolas"/>
              </a:rPr>
              <a:t> </a:t>
            </a:r>
            <a:r>
              <a:rPr sz="750">
                <a:solidFill>
                  <a:srgbClr val="D6DEEA"/>
                </a:solidFill>
                <a:latin typeface="Consolas"/>
              </a:rPr>
              <a:t>guardGate</a:t>
            </a:r>
            <a:r>
              <a:rPr sz="750">
                <a:solidFill>
                  <a:srgbClr val="D6DEEA"/>
                </a:solidFill>
                <a:latin typeface="Consolas"/>
              </a:rPr>
              <a:t>(</a:t>
            </a:r>
            <a:r>
              <a:rPr sz="750">
                <a:solidFill>
                  <a:srgbClr val="D6DEEA"/>
                </a:solidFill>
                <a:latin typeface="Consolas"/>
              </a:rPr>
              <a:t>)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D6DEEA"/>
                </a:solidFill>
                <a:latin typeface="Consolas"/>
              </a:rPr>
              <a:t>}</a:t>
            </a:r>
            <a:r>
              <a:rPr sz="7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50">
                <a:solidFill>
                  <a:srgbClr val="F07178"/>
                </a:solidFill>
                <a:latin typeface="Consolas"/>
              </a:rPr>
              <a:t>#endif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802130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inherits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and adds a special 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159508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It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overrides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with its own message.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516886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It is initialised with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100 HP / 50 energy / 20 damage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2874264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Its ctor and dtor print their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own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messages.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8591" y="3231642"/>
            <a:ext cx="510586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Reading the class declaration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3589020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→ the inherited public methods stay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public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3946398"/>
            <a:ext cx="4831543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becomes a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virtual base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; this is what makes the diamond of ex03 possible.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4551426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#include "ClapTrap.hpp"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→ every header is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self-contained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92040"/>
            <a:ext cx="4893118" cy="96012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92040"/>
            <a:ext cx="50292" cy="96012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5010912"/>
            <a:ext cx="449078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Why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1" sz="1150" i="0">
                <a:solidFill>
                  <a:srgbClr val="E8871A"/>
                </a:solidFill>
                <a:latin typeface="Segoe UI Semibold"/>
              </a:rPr>
              <a:t> already in ex01?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Nothing forces it here — the behaviour is identical. But adding it now means ex03 only has to write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class DiamondTrap : public FragTrap, public ScavTrap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with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no change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to the existing classes.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Constructor chaining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2803144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src/ScavTrap.cpp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2236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82AAFF"/>
                </a:solidFill>
                <a:latin typeface="Consolas"/>
              </a:rPr>
              <a:t>ScavTrap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82AAFF"/>
                </a:solidFill>
                <a:latin typeface="Consolas"/>
              </a:rPr>
              <a:t>ScavTrap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C792EA"/>
                </a:solidFill>
                <a:latin typeface="Consolas"/>
              </a:rPr>
              <a:t>string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const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name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ClapTrap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name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D6DEEA"/>
                </a:solidFill>
                <a:latin typeface="Consolas"/>
              </a:rPr>
              <a:t>setHitPoints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F78C6C"/>
                </a:solidFill>
                <a:latin typeface="Consolas"/>
              </a:rPr>
              <a:t>100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F78C6C"/>
                </a:solidFill>
                <a:latin typeface="Consolas"/>
              </a:rPr>
              <a:t>50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F78C6C"/>
                </a:solidFill>
                <a:latin typeface="Consolas"/>
              </a:rPr>
              <a:t>20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cout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ECC48D"/>
                </a:solidFill>
                <a:latin typeface="Consolas"/>
              </a:rPr>
              <a:t>"ScavTrap: "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getName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		 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ECC48D"/>
                </a:solidFill>
                <a:latin typeface="Consolas"/>
              </a:rPr>
              <a:t>" is ready to fight!"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endl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82AAFF"/>
                </a:solidFill>
                <a:latin typeface="Consolas"/>
              </a:rPr>
              <a:t>ScavTrap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82AAFF"/>
                </a:solidFill>
                <a:latin typeface="Consolas"/>
              </a:rPr>
              <a:t>ScavTrap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82AAFF"/>
                </a:solidFill>
                <a:latin typeface="Consolas"/>
              </a:rPr>
              <a:t>ScavTrap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const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other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ClapTrap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other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cout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ECC48D"/>
                </a:solidFill>
                <a:latin typeface="Consolas"/>
              </a:rPr>
              <a:t>"ScavTrap: a copy of "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getName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		 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ECC48D"/>
                </a:solidFill>
                <a:latin typeface="Consolas"/>
              </a:rPr>
              <a:t>" is ready to fight!"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&lt;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endl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81632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: ClapTrap(name)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is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initializer list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it calls the base constructor *before* the body of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's constructor runs.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2356637"/>
            <a:ext cx="472517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C++ has no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super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the base is called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by name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9283" y="2693517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base is built first, so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getName()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already returns the right value inside the derived constructor.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4963" y="3268522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order is guaranteed by the language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9283" y="3605402"/>
            <a:ext cx="472517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Construction: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base → derived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3942282"/>
            <a:ext cx="472517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Destruction: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derived → base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(the exact reverse).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526280"/>
            <a:ext cx="10637215" cy="96012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526280"/>
            <a:ext cx="50292" cy="96012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4645152"/>
            <a:ext cx="10234879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Proof taken from the output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Construction:  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ClapTrap: Scavvy has been created.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→ 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ScavTrap: Scavvy is ready to fight!</a:t>
            </a:r>
            <a:br/>
            <a:r>
              <a:rPr b="0" sz="1150" i="0">
                <a:solidFill>
                  <a:srgbClr val="1C2738"/>
                </a:solidFill>
                <a:latin typeface="Segoe UI"/>
              </a:rPr>
              <a:t>Destruction:  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ScavTrap: Scavvy has been destroyed.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→ 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ClapTrap: Scavvy has been destroyed.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Overriding attack(), adding guardGate()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637723" cy="4116920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637723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38169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src/ScavTrap.cpp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363403" cy="3549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635" i="1">
                <a:solidFill>
                  <a:srgbClr val="62738A"/>
                </a:solidFill>
                <a:latin typeface="Consolas"/>
              </a:rPr>
              <a:t>//  in the header - same signature as the base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C792EA"/>
                </a:solidFill>
                <a:latin typeface="Consolas"/>
              </a:rPr>
              <a:t>virtual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void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attack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C792EA"/>
                </a:solidFill>
                <a:latin typeface="Consolas"/>
              </a:rPr>
              <a:t>string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const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&amp;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target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35" i="1">
                <a:solidFill>
                  <a:srgbClr val="62738A"/>
                </a:solidFill>
                <a:latin typeface="Consolas"/>
              </a:rPr>
              <a:t>//  in the .cpp - the override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C792EA"/>
                </a:solidFill>
                <a:latin typeface="Consolas"/>
              </a:rPr>
              <a:t>void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82AAFF"/>
                </a:solidFill>
                <a:latin typeface="Consolas"/>
              </a:rPr>
              <a:t>ScavTrap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attack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C792EA"/>
                </a:solidFill>
                <a:latin typeface="Consolas"/>
              </a:rPr>
              <a:t>string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const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&amp;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target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C792EA"/>
                </a:solidFill>
                <a:latin typeface="Consolas"/>
              </a:rPr>
              <a:t>if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!</a:t>
            </a:r>
            <a:r>
              <a:rPr sz="635">
                <a:solidFill>
                  <a:srgbClr val="D6DEEA"/>
                </a:solidFill>
                <a:latin typeface="Consolas"/>
              </a:rPr>
              <a:t>hasHitPoints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cout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"ScavTrap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getName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 is out of hit points and cannot attack."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endl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</a:t>
            </a:r>
            <a:r>
              <a:rPr sz="635">
                <a:solidFill>
                  <a:srgbClr val="C792EA"/>
                </a:solidFill>
                <a:latin typeface="Consolas"/>
              </a:rPr>
              <a:t>return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C792EA"/>
                </a:solidFill>
                <a:latin typeface="Consolas"/>
              </a:rPr>
              <a:t>if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!</a:t>
            </a:r>
            <a:r>
              <a:rPr sz="635">
                <a:solidFill>
                  <a:srgbClr val="D6DEEA"/>
                </a:solidFill>
                <a:latin typeface="Consolas"/>
              </a:rPr>
              <a:t>hasEnergy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cout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"ScavTrap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getName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 is out of energy and cannot attack."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endl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</a:t>
            </a:r>
            <a:r>
              <a:rPr sz="635">
                <a:solidFill>
                  <a:srgbClr val="C792EA"/>
                </a:solidFill>
                <a:latin typeface="Consolas"/>
              </a:rPr>
              <a:t>return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D6DEEA"/>
                </a:solidFill>
                <a:latin typeface="Consolas"/>
              </a:rPr>
              <a:t>consumeEnergy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cout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"ScavTrap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getName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 attacks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target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", causing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getAttackDamage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 points of damage!"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endl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C792EA"/>
                </a:solidFill>
                <a:latin typeface="Consolas"/>
              </a:rPr>
              <a:t>void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82AAFF"/>
                </a:solidFill>
                <a:latin typeface="Consolas"/>
              </a:rPr>
              <a:t>ScavTrap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guardGate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cout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"ScavTrap 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getName</a:t>
            </a:r>
            <a:r>
              <a:rPr sz="635">
                <a:solidFill>
                  <a:srgbClr val="D6DEEA"/>
                </a:solidFill>
                <a:latin typeface="Consolas"/>
              </a:rPr>
              <a:t>(</a:t>
            </a:r>
            <a:r>
              <a:rPr sz="635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			 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ECC48D"/>
                </a:solidFill>
                <a:latin typeface="Consolas"/>
              </a:rPr>
              <a:t>" is now in Gate keeper mode!"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&lt;</a:t>
            </a:r>
            <a:r>
              <a:rPr sz="635">
                <a:solidFill>
                  <a:srgbClr val="D6DEEA"/>
                </a:solidFill>
                <a:latin typeface="Consolas"/>
              </a:rPr>
              <a:t> </a:t>
            </a:r>
            <a:r>
              <a:rPr sz="635">
                <a:solidFill>
                  <a:srgbClr val="C792EA"/>
                </a:solidFill>
                <a:latin typeface="Consolas"/>
              </a:rPr>
              <a:t>std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:</a:t>
            </a:r>
            <a:r>
              <a:rPr sz="635">
                <a:solidFill>
                  <a:srgbClr val="D6DEEA"/>
                </a:solidFill>
                <a:latin typeface="Consolas"/>
              </a:rPr>
              <a:t>endl</a:t>
            </a:r>
            <a:r>
              <a:rPr sz="63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635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4080" y="1444752"/>
            <a:ext cx="46803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an override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8400" y="1762963"/>
            <a:ext cx="440605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derived class declares a method with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exact same signature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as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base method.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8400" y="2309774"/>
            <a:ext cx="440605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method must be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otherwise the base version always runs.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8400" y="2856585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override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replaces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the behaviour, it does not add to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4080" y="3174796"/>
            <a:ext cx="46803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three rules of an override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8400" y="3493007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Same name, same parameters, same return type.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8400" y="3811218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method is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08400" y="4129429"/>
            <a:ext cx="440605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access level may differ — mine stays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public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080" y="4447640"/>
            <a:ext cx="468037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And a brand-new method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8400" y="4765851"/>
            <a:ext cx="440605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guardGate()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simply does not exist in the base — a derived class can add new abilities too.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Polymorphism through a base pointer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999491" cy="1766189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src/main.cpp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25171" cy="11992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C792EA"/>
                </a:solidFill>
                <a:latin typeface="Consolas"/>
              </a:rPr>
              <a:t>static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void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testPolymorphism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82AAFF"/>
                </a:solidFill>
                <a:latin typeface="Consolas"/>
              </a:rPr>
              <a:t>ClapTrap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*</a:t>
            </a:r>
            <a:r>
              <a:rPr sz="950">
                <a:solidFill>
                  <a:srgbClr val="D6DEEA"/>
                </a:solidFill>
                <a:latin typeface="Consolas"/>
              </a:rPr>
              <a:t>robot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=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C792EA"/>
                </a:solidFill>
                <a:latin typeface="Consolas"/>
              </a:rPr>
              <a:t>new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82AAFF"/>
                </a:solidFill>
                <a:latin typeface="Consolas"/>
              </a:rPr>
              <a:t>ScavTrap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ECC48D"/>
                </a:solidFill>
                <a:latin typeface="Consolas"/>
              </a:rPr>
              <a:t>"Polymorph"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D6DEEA"/>
                </a:solidFill>
                <a:latin typeface="Consolas"/>
              </a:rPr>
              <a:t>robot</a:t>
            </a:r>
            <a:r>
              <a:rPr sz="950">
                <a:solidFill>
                  <a:srgbClr val="D6DEEA"/>
                </a:solidFill>
                <a:latin typeface="Consolas"/>
              </a:rPr>
              <a:t>-</a:t>
            </a:r>
            <a:r>
              <a:rPr sz="950">
                <a:solidFill>
                  <a:srgbClr val="D6DEEA"/>
                </a:solidFill>
                <a:latin typeface="Consolas"/>
              </a:rPr>
              <a:t>&gt;</a:t>
            </a:r>
            <a:r>
              <a:rPr sz="950">
                <a:solidFill>
                  <a:srgbClr val="D6DEEA"/>
                </a:solidFill>
                <a:latin typeface="Consolas"/>
              </a:rPr>
              <a:t>attack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ECC48D"/>
                </a:solidFill>
                <a:latin typeface="Consolas"/>
              </a:rPr>
              <a:t>"a target"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D6DEEA"/>
                </a:solidFill>
                <a:latin typeface="Consolas"/>
              </a:rPr>
              <a:t>robot</a:t>
            </a:r>
            <a:r>
              <a:rPr sz="950">
                <a:solidFill>
                  <a:srgbClr val="D6DEEA"/>
                </a:solidFill>
                <a:latin typeface="Consolas"/>
              </a:rPr>
              <a:t>-</a:t>
            </a:r>
            <a:r>
              <a:rPr sz="950">
                <a:solidFill>
                  <a:srgbClr val="D6DEEA"/>
                </a:solidFill>
                <a:latin typeface="Consolas"/>
              </a:rPr>
              <a:t>&gt;</a:t>
            </a:r>
            <a:r>
              <a:rPr sz="950">
                <a:solidFill>
                  <a:srgbClr val="D6DEEA"/>
                </a:solidFill>
                <a:latin typeface="Consolas"/>
              </a:rPr>
              <a:t>takeDamage</a:t>
            </a:r>
            <a:r>
              <a:rPr sz="950">
                <a:solidFill>
                  <a:srgbClr val="D6DEEA"/>
                </a:solidFill>
                <a:latin typeface="Consolas"/>
              </a:rPr>
              <a:t>(</a:t>
            </a:r>
            <a:r>
              <a:rPr sz="950">
                <a:solidFill>
                  <a:srgbClr val="F78C6C"/>
                </a:solidFill>
                <a:latin typeface="Consolas"/>
              </a:rPr>
              <a:t>10</a:t>
            </a:r>
            <a:r>
              <a:rPr sz="950">
                <a:solidFill>
                  <a:srgbClr val="D6DEEA"/>
                </a:solidFill>
                <a:latin typeface="Consolas"/>
              </a:rPr>
              <a:t>)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	</a:t>
            </a:r>
            <a:r>
              <a:rPr sz="950">
                <a:solidFill>
                  <a:srgbClr val="C792EA"/>
                </a:solidFill>
                <a:latin typeface="Consolas"/>
              </a:rPr>
              <a:t>delete</a:t>
            </a:r>
            <a:r>
              <a:rPr sz="950">
                <a:solidFill>
                  <a:srgbClr val="D6DEEA"/>
                </a:solidFill>
                <a:latin typeface="Consolas"/>
              </a:rPr>
              <a:t> </a:t>
            </a:r>
            <a:r>
              <a:rPr sz="950">
                <a:solidFill>
                  <a:srgbClr val="D6DEEA"/>
                </a:solidFill>
                <a:latin typeface="Consolas"/>
              </a:rPr>
              <a:t>robot</a:t>
            </a:r>
            <a:r>
              <a:rPr sz="9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5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095847" y="1444752"/>
          <a:ext cx="5318606" cy="28346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19602"/>
                <a:gridCol w="1823522"/>
                <a:gridCol w="1975482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Call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Without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With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</a:t>
                      </a: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 (my code)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robot-&gt;attack(...)</a:t>
                      </a:r>
                      <a:br/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(robot is a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ClapTrap*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ClapTrap::attack()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runs</a:t>
                      </a:r>
                      <a:br/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— the *static* type decides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ScavTrap::attack()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runs</a:t>
                      </a:r>
                      <a:br/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— the *real* type decides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robot-&gt;takeDamage(10)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same behaviour (not overridden)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same behaviour (not overridden)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delete robot;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UB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— the base destructor is not virtual,</a:t>
                      </a:r>
                      <a:br/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so the derived part is leaked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safe —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~ClapTrap()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guarantees</a:t>
                      </a:r>
                      <a:br/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the whole object is destroyed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77240" y="3429000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two bindings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776853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Static binding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the compiler picks the function from the *type of the expression* (here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62831"/>
            <a:ext cx="4725171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Dynamic binding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with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a hidden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vtable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pointer is added to the object and the *real* type decides at run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6934"/>
            <a:ext cx="499949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0" sz="1250" i="0">
                <a:solidFill>
                  <a:srgbClr val="1C2738"/>
                </a:solidFill>
                <a:latin typeface="Segoe UI"/>
              </a:rPr>
              <a:t>One interface, many behaviours — that is the whole point of the module.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7" y="4434840"/>
            <a:ext cx="5318607" cy="150876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5847" y="4434840"/>
            <a:ext cx="50292" cy="15087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5303" y="4553712"/>
            <a:ext cx="4916271" cy="1307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Why the destructor must be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When we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through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the compiler must know whether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hides behind it. Without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only 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part is destroyed → memory leak. I declared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 ~ClapTrap();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in ex00 precisely for that reason.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EX01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ex01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364888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797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Module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03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ex01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Serena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my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love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testConstructionChaining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Scavvy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created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Scavvy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ready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to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fight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Scavvy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100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50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energy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and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20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attack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damage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Scavvy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destroyed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Scavvy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destroyed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testSpecialAbility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Gatekeeper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now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Gate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keeper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mode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Gatekeeper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attacks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target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causing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20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damage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Gatekeeper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takes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30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damage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70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left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Gatekeeper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repaired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20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90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testPolymorphism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created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ready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to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fight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attacks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target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causing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20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damage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  <a:r>
              <a:rPr sz="810">
                <a:solidFill>
                  <a:srgbClr val="D6DEEA"/>
                </a:solidFill>
                <a:latin typeface="Consolas"/>
              </a:rPr>
              <a:t>  </a:t>
            </a:r>
            <a:r>
              <a:rPr sz="810">
                <a:solidFill>
                  <a:srgbClr val="D6DEEA"/>
                </a:solidFill>
                <a:latin typeface="Consolas"/>
              </a:rPr>
              <a:t>&lt;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C792EA"/>
                </a:solidFill>
                <a:latin typeface="Consolas"/>
              </a:rPr>
              <a:t>override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takes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10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damage</a:t>
            </a:r>
            <a:r>
              <a:rPr sz="810">
                <a:solidFill>
                  <a:srgbClr val="D6DEEA"/>
                </a:solidFill>
                <a:latin typeface="Consolas"/>
              </a:rPr>
              <a:t>,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90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left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destroyed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Polymorph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destroyed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testCopy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  <a:r>
              <a:rPr sz="81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copy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Original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created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copy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of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Original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is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ready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to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fight</a:t>
            </a:r>
            <a:r>
              <a:rPr sz="81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the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copy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F78C6C"/>
                </a:solidFill>
                <a:latin typeface="Consolas"/>
              </a:rPr>
              <a:t>90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hit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points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Original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assigned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from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another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ClapTrap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: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Original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has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been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assigned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from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another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82AAFF"/>
                </a:solidFill>
                <a:latin typeface="Consolas"/>
              </a:rPr>
              <a:t>ScavTrap</a:t>
            </a:r>
            <a:r>
              <a:rPr sz="81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ex01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done</a:t>
            </a:r>
            <a:r>
              <a:rPr sz="810">
                <a:solidFill>
                  <a:srgbClr val="D6DEEA"/>
                </a:solidFill>
                <a:latin typeface="Consolas"/>
              </a:rPr>
              <a:t> 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  <a:r>
              <a:rPr sz="810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Construction order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first, then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122170"/>
            <a:ext cx="414012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Destruction order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the exact reverse.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2460879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Values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100 HP / 50 energy / 20 damage —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setters worked.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037713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Override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through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the message says *“ScavTrap … 20 points of damage”* → the dynamic binding works.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4330" y="3852672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Copy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the base and the derived both print, and the hit points are preserved (90).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4330" y="4429506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Inherited behaviour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takeDamage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still prints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message — it was not overridden.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PART 3 · EX02 · THE SECOND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Repetitive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893118" cy="3082671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89311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6370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include/FragTrap.hpp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618798" cy="25157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F07178"/>
                </a:solidFill>
                <a:latin typeface="Consolas"/>
              </a:rPr>
              <a:t>#ifndef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FRAGTRAP_HPP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F07178"/>
                </a:solidFill>
                <a:latin typeface="Consolas"/>
              </a:rPr>
              <a:t>#define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FRAGTRAP_HPP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F07178"/>
                </a:solidFill>
                <a:latin typeface="Consolas"/>
              </a:rPr>
              <a:t>#include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ECC48D"/>
                </a:solidFill>
                <a:latin typeface="Consolas"/>
              </a:rPr>
              <a:t>"ClapTrap.hpp"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C792EA"/>
                </a:solidFill>
                <a:latin typeface="Consolas"/>
              </a:rPr>
              <a:t>class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public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virtual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C792EA"/>
                </a:solidFill>
                <a:latin typeface="Consolas"/>
              </a:rPr>
              <a:t>public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C792EA"/>
                </a:solidFill>
                <a:latin typeface="Consolas"/>
              </a:rPr>
              <a:t>std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D6DEEA"/>
                </a:solidFill>
                <a:latin typeface="Consolas"/>
              </a:rPr>
              <a:t>:</a:t>
            </a:r>
            <a:r>
              <a:rPr sz="775">
                <a:solidFill>
                  <a:srgbClr val="C792EA"/>
                </a:solidFill>
                <a:latin typeface="Consolas"/>
              </a:rPr>
              <a:t>string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const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name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const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other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operator</a:t>
            </a:r>
            <a:r>
              <a:rPr sz="775">
                <a:solidFill>
                  <a:srgbClr val="D6DEEA"/>
                </a:solidFill>
                <a:latin typeface="Consolas"/>
              </a:rPr>
              <a:t>=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C792EA"/>
                </a:solidFill>
                <a:latin typeface="Consolas"/>
              </a:rPr>
              <a:t>const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&amp;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other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C792EA"/>
                </a:solidFill>
                <a:latin typeface="Consolas"/>
              </a:rPr>
              <a:t>virtual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~</a:t>
            </a:r>
            <a:r>
              <a:rPr sz="775">
                <a:solidFill>
                  <a:srgbClr val="82AAFF"/>
                </a:solidFill>
                <a:latin typeface="Consolas"/>
              </a:rPr>
              <a:t>FragTrap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	</a:t>
            </a:r>
            <a:r>
              <a:rPr sz="775">
                <a:solidFill>
                  <a:srgbClr val="C792EA"/>
                </a:solidFill>
                <a:latin typeface="Consolas"/>
              </a:rPr>
              <a:t>void</a:t>
            </a:r>
            <a:r>
              <a:rPr sz="775">
                <a:solidFill>
                  <a:srgbClr val="D6DEEA"/>
                </a:solidFill>
                <a:latin typeface="Consolas"/>
              </a:rPr>
              <a:t> </a:t>
            </a:r>
            <a:r>
              <a:rPr sz="775">
                <a:solidFill>
                  <a:srgbClr val="D6DEEA"/>
                </a:solidFill>
                <a:latin typeface="Consolas"/>
              </a:rPr>
              <a:t>highFivesGuys</a:t>
            </a:r>
            <a:r>
              <a:rPr sz="775">
                <a:solidFill>
                  <a:srgbClr val="D6DEEA"/>
                </a:solidFill>
                <a:latin typeface="Consolas"/>
              </a:rPr>
              <a:t>(</a:t>
            </a:r>
            <a:r>
              <a:rPr sz="775">
                <a:solidFill>
                  <a:srgbClr val="D6DEEA"/>
                </a:solidFill>
                <a:latin typeface="Consolas"/>
              </a:rPr>
              <a:t>)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D6DEEA"/>
                </a:solidFill>
                <a:latin typeface="Consolas"/>
              </a:rPr>
              <a:t>}</a:t>
            </a:r>
            <a:r>
              <a:rPr sz="775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75">
                <a:solidFill>
                  <a:srgbClr val="F07178"/>
                </a:solidFill>
                <a:latin typeface="Consolas"/>
              </a:rPr>
              <a:t>#endif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219" y="1444752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539" y="178163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also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inherits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a *sibling* of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539" y="211851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It adds the special ability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highFivesGuys()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539" y="245539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Initialised with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100 HP / 100 energy / 30 damage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539" y="279227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Its ctor / dtor messages differ from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's.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02219" y="3129152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same pattern as ex01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539" y="346603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: ClapTrap(name)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 the initializer list.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539" y="3802912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setHitPoints(100); setEnergyPoints(100); setAttackDamage(30);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 the body.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539" y="437791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on the base is already there from ex01 —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nothing to change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846320"/>
            <a:ext cx="4893118" cy="91440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846320"/>
            <a:ext cx="50292" cy="9144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965192"/>
            <a:ext cx="4490782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The point of ex02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It creates the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second branch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of the hierarchy. After ex02 we have two classes inheriting the same base — which is exactly the shape of a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diamond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EX02 · 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A deliberate decision: no override of attack()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893118" cy="2839211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89311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63708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include/FragTrap.hpp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618798" cy="22722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class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public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virtual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C792EA"/>
                </a:solidFill>
                <a:latin typeface="Consolas"/>
              </a:rPr>
              <a:t>public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C792EA"/>
                </a:solidFill>
                <a:latin typeface="Consolas"/>
              </a:rPr>
              <a:t>string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const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name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const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other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operator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const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other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virtual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~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 i="1">
                <a:solidFill>
                  <a:srgbClr val="62738A"/>
                </a:solidFill>
                <a:latin typeface="Consolas"/>
              </a:rPr>
              <a:t>//  no "virtual void attack(...)" here !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	</a:t>
            </a:r>
            <a:r>
              <a:rPr sz="1050">
                <a:solidFill>
                  <a:srgbClr val="C792EA"/>
                </a:solidFill>
                <a:latin typeface="Consolas"/>
              </a:rPr>
              <a:t>void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highFivesGuys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}</a:t>
            </a:r>
            <a:r>
              <a:rPr sz="1050">
                <a:solidFill>
                  <a:srgbClr val="D6DEEA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2219" y="1444752"/>
            <a:ext cx="521223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The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6539" y="1742465"/>
            <a:ext cx="493791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subject does not forbid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from overriding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 Should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2219" y="2259253"/>
            <a:ext cx="521223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My answer: no — and here is why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539" y="2556966"/>
            <a:ext cx="493791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In ex03,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inherits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both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539" y="2854679"/>
            <a:ext cx="4937915" cy="657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If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both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declared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the call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diamond.attack(...)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would have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two equally valid candidates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→ the compiler refuses with *“request for member ‘attack’ is ambiguous”*.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6539" y="3590542"/>
            <a:ext cx="493791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If only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overrides it, there is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exactly one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candidate → no ambiguity.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539" y="4107330"/>
            <a:ext cx="4937915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subject of ex03 does not ask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for its own attack, so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not overriding it is both simpler and required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2219" y="4624118"/>
            <a:ext cx="521223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Consequence in ex03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539" y="4921831"/>
            <a:ext cx="4937915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DiamondTrap::attack()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resolves to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`ScavTrap::attack()`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709160"/>
            <a:ext cx="4893118" cy="100584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709160"/>
            <a:ext cx="50292" cy="100584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" y="4828032"/>
            <a:ext cx="4490782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The general rule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In a diamond, a method overridden in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every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branch becomes ambiguous. The standard fixes are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using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declaration in the derived class, or overriding the method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in the derived class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itself.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EX02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ex02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445139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8782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Module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03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ex02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Repetitive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work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testConstructionChaining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Fraggy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created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Fraggy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jumped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into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the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battle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100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,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100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energy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and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30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attack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damage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Fraggy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destroyed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Fraggy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destroyed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testSpecialAbility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Cheerful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asks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everybody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C792EA"/>
                </a:solidFill>
                <a:latin typeface="Consolas"/>
              </a:rPr>
              <a:t>for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high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five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Let</a:t>
            </a:r>
            <a:r>
              <a:rPr sz="935">
                <a:solidFill>
                  <a:srgbClr val="D6DEEA"/>
                </a:solidFill>
                <a:latin typeface="Consolas"/>
              </a:rPr>
              <a:t>'</a:t>
            </a:r>
            <a:r>
              <a:rPr sz="935">
                <a:solidFill>
                  <a:srgbClr val="D6DEEA"/>
                </a:solidFill>
                <a:latin typeface="Consolas"/>
              </a:rPr>
              <a:t>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go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Cheerful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attacks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target</a:t>
            </a:r>
            <a:r>
              <a:rPr sz="935">
                <a:solidFill>
                  <a:srgbClr val="D6DEEA"/>
                </a:solidFill>
                <a:latin typeface="Consolas"/>
              </a:rPr>
              <a:t>,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causing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30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of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damage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  <a:r>
              <a:rPr sz="935">
                <a:solidFill>
                  <a:srgbClr val="D6DEEA"/>
                </a:solidFill>
                <a:latin typeface="Consolas"/>
              </a:rPr>
              <a:t>  </a:t>
            </a:r>
            <a:r>
              <a:rPr sz="935">
                <a:solidFill>
                  <a:srgbClr val="D6DEEA"/>
                </a:solidFill>
                <a:latin typeface="Consolas"/>
              </a:rPr>
              <a:t>&lt;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inherited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Cheerful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takes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30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of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damage</a:t>
            </a:r>
            <a:r>
              <a:rPr sz="935">
                <a:solidFill>
                  <a:srgbClr val="D6DEEA"/>
                </a:solidFill>
                <a:latin typeface="Consolas"/>
              </a:rPr>
              <a:t>,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70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left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Cheerful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repaired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20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,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90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testPolymorphism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Polymorph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created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Polymorph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jumped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into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the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battle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Polymorph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attacks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target</a:t>
            </a:r>
            <a:r>
              <a:rPr sz="935">
                <a:solidFill>
                  <a:srgbClr val="D6DEEA"/>
                </a:solidFill>
                <a:latin typeface="Consolas"/>
              </a:rPr>
              <a:t>,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causing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30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of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damage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testCopy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  <a:r>
              <a:rPr sz="935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copy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of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Original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created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copy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of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Original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jumped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into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the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battle</a:t>
            </a:r>
            <a:r>
              <a:rPr sz="935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the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copy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F78C6C"/>
                </a:solidFill>
                <a:latin typeface="Consolas"/>
              </a:rPr>
              <a:t>90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hit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points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Original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assigned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from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another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ClapTrap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: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Original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has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been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assigned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from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another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82AAFF"/>
                </a:solidFill>
                <a:latin typeface="Consolas"/>
              </a:rPr>
              <a:t>FragTrap</a:t>
            </a:r>
            <a:r>
              <a:rPr sz="935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ex02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done</a:t>
            </a:r>
            <a:r>
              <a:rPr sz="935">
                <a:solidFill>
                  <a:srgbClr val="D6DEEA"/>
                </a:solidFill>
                <a:latin typeface="Consolas"/>
              </a:rPr>
              <a:t> 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  <a:r>
              <a:rPr sz="935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Different values than ex01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100 HP /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100 energy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/ 30 damage — each class configures itself through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setters.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598420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Different messages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*“has jumped into the battle!”* vs. *“is ready to fight!”*.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175254"/>
            <a:ext cx="4140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`attack()` is inherited, not overridden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the message says *“ClapTrap Cheerful attacks … 30 points of damage”*: the base implementation runs, but with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derived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damage value (30, not 0).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4228338"/>
            <a:ext cx="414012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Same construction / destruction order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as ex01.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4330" y="4567047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Through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the base message is used — correct, because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did not override it.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PART 3 · EX03 · THE DIAMOND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Now it's weird!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999491" cy="3621887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include/DiamondTrap.hpp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25171" cy="3054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F07178"/>
                </a:solidFill>
                <a:latin typeface="Consolas"/>
              </a:rPr>
              <a:t>#ifndef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DIAMONDTRAP_HPP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F07178"/>
                </a:solidFill>
                <a:latin typeface="Consolas"/>
              </a:rPr>
              <a:t>#define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DIAMONDTRAP_HPP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F07178"/>
                </a:solidFill>
                <a:latin typeface="Consolas"/>
              </a:rPr>
              <a:t>#include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ECC48D"/>
                </a:solidFill>
                <a:latin typeface="Consolas"/>
              </a:rPr>
              <a:t>"FragTrap.hpp"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F07178"/>
                </a:solidFill>
                <a:latin typeface="Consolas"/>
              </a:rPr>
              <a:t>#include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ECC48D"/>
                </a:solidFill>
                <a:latin typeface="Consolas"/>
              </a:rPr>
              <a:t>"ScavTrap.hpp"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C792EA"/>
                </a:solidFill>
                <a:latin typeface="Consolas"/>
              </a:rPr>
              <a:t>class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public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82AAFF"/>
                </a:solidFill>
                <a:latin typeface="Consolas"/>
              </a:rPr>
              <a:t>FragTrap</a:t>
            </a:r>
            <a:r>
              <a:rPr sz="769">
                <a:solidFill>
                  <a:srgbClr val="D6DEEA"/>
                </a:solidFill>
                <a:latin typeface="Consolas"/>
              </a:rPr>
              <a:t>,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public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82AAFF"/>
                </a:solidFill>
                <a:latin typeface="Consolas"/>
              </a:rPr>
              <a:t>ScavTrap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C792EA"/>
                </a:solidFill>
                <a:latin typeface="Consolas"/>
              </a:rPr>
              <a:t>public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C792EA"/>
                </a:solidFill>
                <a:latin typeface="Consolas"/>
              </a:rPr>
              <a:t>std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  <a:r>
              <a:rPr sz="769">
                <a:solidFill>
                  <a:srgbClr val="C792EA"/>
                </a:solidFill>
                <a:latin typeface="Consolas"/>
              </a:rPr>
              <a:t>string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const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&amp;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name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const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&amp;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other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&amp;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operator</a:t>
            </a:r>
            <a:r>
              <a:rPr sz="769">
                <a:solidFill>
                  <a:srgbClr val="D6DEEA"/>
                </a:solidFill>
                <a:latin typeface="Consolas"/>
              </a:rPr>
              <a:t>=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C792EA"/>
                </a:solidFill>
                <a:latin typeface="Consolas"/>
              </a:rPr>
              <a:t>const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&amp;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other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C792EA"/>
                </a:solidFill>
                <a:latin typeface="Consolas"/>
              </a:rPr>
              <a:t>virtual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~</a:t>
            </a:r>
            <a:r>
              <a:rPr sz="769">
                <a:solidFill>
                  <a:srgbClr val="82AAFF"/>
                </a:solidFill>
                <a:latin typeface="Consolas"/>
              </a:rPr>
              <a:t>DiamondTrap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C792EA"/>
                </a:solidFill>
                <a:latin typeface="Consolas"/>
              </a:rPr>
              <a:t>void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whoAmI</a:t>
            </a:r>
            <a:r>
              <a:rPr sz="769">
                <a:solidFill>
                  <a:srgbClr val="D6DEEA"/>
                </a:solidFill>
                <a:latin typeface="Consolas"/>
              </a:rPr>
              <a:t>(</a:t>
            </a:r>
            <a:r>
              <a:rPr sz="769">
                <a:solidFill>
                  <a:srgbClr val="D6DEEA"/>
                </a:solidFill>
                <a:latin typeface="Consolas"/>
              </a:rPr>
              <a:t>)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C792EA"/>
                </a:solidFill>
                <a:latin typeface="Consolas"/>
              </a:rPr>
              <a:t>private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	</a:t>
            </a:r>
            <a:r>
              <a:rPr sz="769">
                <a:solidFill>
                  <a:srgbClr val="C792EA"/>
                </a:solidFill>
                <a:latin typeface="Consolas"/>
              </a:rPr>
              <a:t>std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  <a:r>
              <a:rPr sz="769">
                <a:solidFill>
                  <a:srgbClr val="D6DEEA"/>
                </a:solidFill>
                <a:latin typeface="Consolas"/>
              </a:rPr>
              <a:t>:</a:t>
            </a:r>
            <a:r>
              <a:rPr sz="769">
                <a:solidFill>
                  <a:srgbClr val="C792EA"/>
                </a:solidFill>
                <a:latin typeface="Consolas"/>
              </a:rPr>
              <a:t>string</a:t>
            </a:r>
            <a:r>
              <a:rPr sz="769">
                <a:solidFill>
                  <a:srgbClr val="D6DEEA"/>
                </a:solidFill>
                <a:latin typeface="Consolas"/>
              </a:rPr>
              <a:t> </a:t>
            </a:r>
            <a:r>
              <a:rPr sz="769">
                <a:solidFill>
                  <a:srgbClr val="D6DEEA"/>
                </a:solidFill>
                <a:latin typeface="Consolas"/>
              </a:rPr>
              <a:t>name_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D6DEEA"/>
                </a:solidFill>
                <a:latin typeface="Consolas"/>
              </a:rPr>
              <a:t>}</a:t>
            </a:r>
            <a:r>
              <a:rPr sz="769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69">
                <a:solidFill>
                  <a:srgbClr val="F07178"/>
                </a:solidFill>
                <a:latin typeface="Consolas"/>
              </a:rPr>
              <a:t>#endif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The 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802130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inherits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both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and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2911" y="2159508"/>
            <a:ext cx="4831543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It must print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two different names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: its own, and its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base's.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764536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base must exist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only once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2911" y="3121914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300" i="0">
                <a:solidFill>
                  <a:srgbClr val="5E6E84"/>
                </a:solidFill>
                <a:latin typeface="Segoe UI"/>
              </a:rPr>
              <a:t>Its ctor and dtor print their own messages.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8591" y="3479292"/>
            <a:ext cx="510586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The inherited abilities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2911" y="3836670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guardGate()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comes from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4194048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highFivesGuys()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comes from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2911" y="4551426"/>
            <a:ext cx="4831543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comes from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(the only one that overrides it).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2911" y="5156454"/>
            <a:ext cx="4831543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takeDamage()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beRepaired()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come from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EX03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The Diamond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554480"/>
            <a:ext cx="22860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1554480"/>
            <a:ext cx="2286000" cy="365760"/>
          </a:xfrm>
          <a:prstGeom prst="roundRect">
            <a:avLst>
              <a:gd name="adj" fmla="val 30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4600" y="1737360"/>
            <a:ext cx="2286000" cy="18288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1554480"/>
            <a:ext cx="45720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9192" y="163677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ClapTrap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9192" y="2011680"/>
            <a:ext cx="201168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00" i="0">
                <a:solidFill>
                  <a:srgbClr val="1C2738"/>
                </a:solidFill>
                <a:latin typeface="Consolas"/>
              </a:rPr>
              <a:t>name_, hitPoints_, energyPoints_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089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91840"/>
            <a:ext cx="2011680" cy="1828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45720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912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FragTrap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661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00" i="0">
                <a:solidFill>
                  <a:srgbClr val="1C2738"/>
                </a:solidFill>
                <a:latin typeface="Consolas"/>
              </a:rPr>
              <a:t>highFivesGuys()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310896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114800" y="310896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3291840"/>
            <a:ext cx="2011680" cy="1828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0" y="3108960"/>
            <a:ext cx="45720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319125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ScavTrap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79392" y="356616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00" i="0">
                <a:solidFill>
                  <a:srgbClr val="1C2738"/>
                </a:solidFill>
                <a:latin typeface="Consolas"/>
              </a:rPr>
              <a:t>guardGate()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94560" y="4572000"/>
            <a:ext cx="201168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194560" y="4572000"/>
            <a:ext cx="2011680" cy="365760"/>
          </a:xfrm>
          <a:prstGeom prst="roundRect">
            <a:avLst>
              <a:gd name="adj" fmla="val 30000"/>
            </a:avLst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4560" y="4754880"/>
            <a:ext cx="2011680" cy="182880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94560" y="4572000"/>
            <a:ext cx="45720" cy="82296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59152" y="4654296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400" i="0">
                <a:solidFill>
                  <a:srgbClr val="FFFFFF"/>
                </a:solidFill>
                <a:latin typeface="Segoe UI Semibold"/>
              </a:rPr>
              <a:t>DiamondTrap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5029200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4000"/>
              </a:lnSpc>
            </a:pPr>
            <a:r>
              <a:rPr b="0" sz="900" i="0">
                <a:solidFill>
                  <a:srgbClr val="1C2738"/>
                </a:solidFill>
                <a:latin typeface="Consolas"/>
              </a:rPr>
              <a:t>whoAmI()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554480" y="2423160"/>
            <a:ext cx="1463040" cy="68580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3893110">
            <a:off x="2843284" y="2370530"/>
            <a:ext cx="182880" cy="182880"/>
          </a:xfrm>
          <a:prstGeom prst="triangle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3657600" y="2423160"/>
            <a:ext cx="1463040" cy="68580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17706890">
            <a:off x="3648955" y="2370530"/>
            <a:ext cx="182880" cy="182880"/>
          </a:xfrm>
          <a:prstGeom prst="triangle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H="1" flipV="1">
            <a:off x="2011680" y="3931920"/>
            <a:ext cx="457200" cy="6400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9467739">
            <a:off x="1973388" y="3914887"/>
            <a:ext cx="182880" cy="182880"/>
          </a:xfrm>
          <a:prstGeom prst="triangle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3931920" y="3931920"/>
            <a:ext cx="457200" cy="64008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2132261">
            <a:off x="4244531" y="3914887"/>
            <a:ext cx="182880" cy="182880"/>
          </a:xfrm>
          <a:prstGeom prst="triangle">
            <a:avLst/>
          </a:prstGeom>
          <a:noFill/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40680"/>
            <a:ext cx="5760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Two paths from DiamondTrap to the same ClapTrap  =  a diamond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7708" y="1444752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Problem 1 — the base is built twice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2028" y="1742465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Without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holds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two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sub-objects and the base constructor runs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twice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7708" y="2259253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Problem 2 — the member call is ambiguous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2028" y="2556966"/>
            <a:ext cx="451242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diamond.attack(...)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has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two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candidates → the compiler refuses.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7708" y="2854679"/>
            <a:ext cx="4786746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Problem 3 — the state is duplicated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02028" y="3152392"/>
            <a:ext cx="4512426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hit points of the two copies are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different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; repairing one does not repair the other.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27708" y="4160520"/>
            <a:ext cx="4786746" cy="1432560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627708" y="4160520"/>
            <a:ext cx="4786746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55724" y="4201668"/>
            <a:ext cx="453071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real compiler output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4868" y="4590288"/>
            <a:ext cx="4512426" cy="865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error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request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C792EA"/>
                </a:solidFill>
                <a:latin typeface="Consolas"/>
              </a:rPr>
              <a:t>for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member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ECC48D"/>
                </a:solidFill>
                <a:latin typeface="Consolas"/>
              </a:rPr>
              <a:t>'f'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is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ambiguous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   </a:t>
            </a:r>
            <a:r>
              <a:rPr sz="960">
                <a:solidFill>
                  <a:srgbClr val="F78C6C"/>
                </a:solidFill>
                <a:latin typeface="Consolas"/>
              </a:rPr>
              <a:t>17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|</a:t>
            </a:r>
            <a:r>
              <a:rPr sz="960">
                <a:solidFill>
                  <a:srgbClr val="D6DEEA"/>
                </a:solidFill>
                <a:latin typeface="Consolas"/>
              </a:rPr>
              <a:t>         </a:t>
            </a:r>
            <a:r>
              <a:rPr sz="960">
                <a:solidFill>
                  <a:srgbClr val="D6DEEA"/>
                </a:solidFill>
                <a:latin typeface="Consolas"/>
              </a:rPr>
              <a:t>d</a:t>
            </a:r>
            <a:r>
              <a:rPr sz="960">
                <a:solidFill>
                  <a:srgbClr val="D6DEEA"/>
                </a:solidFill>
                <a:latin typeface="Consolas"/>
              </a:rPr>
              <a:t>.</a:t>
            </a:r>
            <a:r>
              <a:rPr sz="960">
                <a:solidFill>
                  <a:srgbClr val="D6DEEA"/>
                </a:solidFill>
                <a:latin typeface="Consolas"/>
              </a:rPr>
              <a:t>f</a:t>
            </a:r>
            <a:r>
              <a:rPr sz="960">
                <a:solidFill>
                  <a:srgbClr val="D6DEEA"/>
                </a:solidFill>
                <a:latin typeface="Consolas"/>
              </a:rPr>
              <a:t>(</a:t>
            </a:r>
            <a:r>
              <a:rPr sz="960">
                <a:solidFill>
                  <a:srgbClr val="D6DEEA"/>
                </a:solidFill>
                <a:latin typeface="Consolas"/>
              </a:rPr>
              <a:t>)</a:t>
            </a:r>
            <a:r>
              <a:rPr sz="96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      </a:t>
            </a:r>
            <a:r>
              <a:rPr sz="960">
                <a:solidFill>
                  <a:srgbClr val="D6DEEA"/>
                </a:solidFill>
                <a:latin typeface="Consolas"/>
              </a:rPr>
              <a:t>|</a:t>
            </a:r>
            <a:r>
              <a:rPr sz="960">
                <a:solidFill>
                  <a:srgbClr val="D6DEEA"/>
                </a:solidFill>
                <a:latin typeface="Consolas"/>
              </a:rPr>
              <a:t>           </a:t>
            </a:r>
            <a:r>
              <a:rPr sz="960">
                <a:solidFill>
                  <a:srgbClr val="D6DEEA"/>
                </a:solidFill>
                <a:latin typeface="Consolas"/>
              </a:rPr>
              <a:t>^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note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candidates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are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ECC48D"/>
                </a:solidFill>
                <a:latin typeface="Consolas"/>
              </a:rPr>
              <a:t>'virtual void Base::f()'</a:t>
            </a:r>
          </a:p>
          <a:p>
            <a:pPr>
              <a:lnSpc>
                <a:spcPct val="118000"/>
              </a:lnSpc>
              <a:buNone/>
            </a:pPr>
            <a:r>
              <a:rPr sz="960">
                <a:solidFill>
                  <a:srgbClr val="D6DEEA"/>
                </a:solidFill>
                <a:latin typeface="Consolas"/>
              </a:rPr>
              <a:t>note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candidates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D6DEEA"/>
                </a:solidFill>
                <a:latin typeface="Consolas"/>
              </a:rPr>
              <a:t>are</a:t>
            </a:r>
            <a:r>
              <a:rPr sz="960">
                <a:solidFill>
                  <a:srgbClr val="D6DEEA"/>
                </a:solidFill>
                <a:latin typeface="Consolas"/>
              </a:rPr>
              <a:t>:</a:t>
            </a:r>
            <a:r>
              <a:rPr sz="960">
                <a:solidFill>
                  <a:srgbClr val="D6DEEA"/>
                </a:solidFill>
                <a:latin typeface="Consolas"/>
              </a:rPr>
              <a:t> </a:t>
            </a:r>
            <a:r>
              <a:rPr sz="960">
                <a:solidFill>
                  <a:srgbClr val="ECC48D"/>
                </a:solidFill>
                <a:latin typeface="Consolas"/>
              </a:rPr>
              <a:t>'virtual void Base::f()'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The fix: virtual inheritance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850468" cy="4007815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85046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5944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diff and the constructor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576148" cy="344088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794" i="1">
                <a:solidFill>
                  <a:srgbClr val="62738A"/>
                </a:solidFill>
                <a:latin typeface="Consolas"/>
              </a:rPr>
              <a:t>//  ex01 - ScavTrap.hpp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-</a:t>
            </a:r>
            <a:r>
              <a:rPr sz="794">
                <a:solidFill>
                  <a:srgbClr val="C792EA"/>
                </a:solidFill>
                <a:latin typeface="Consolas"/>
              </a:rPr>
              <a:t>class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ScavTrap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+</a:t>
            </a:r>
            <a:r>
              <a:rPr sz="794">
                <a:solidFill>
                  <a:srgbClr val="C792EA"/>
                </a:solidFill>
                <a:latin typeface="Consolas"/>
              </a:rPr>
              <a:t>class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ScavTrap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virtual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94" i="1">
                <a:solidFill>
                  <a:srgbClr val="62738A"/>
                </a:solidFill>
                <a:latin typeface="Consolas"/>
              </a:rPr>
              <a:t>//  ex02 - FragTrap.hpp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-</a:t>
            </a:r>
            <a:r>
              <a:rPr sz="794">
                <a:solidFill>
                  <a:srgbClr val="C792EA"/>
                </a:solidFill>
                <a:latin typeface="Consolas"/>
              </a:rPr>
              <a:t>class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FragTrap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+</a:t>
            </a:r>
            <a:r>
              <a:rPr sz="794">
                <a:solidFill>
                  <a:srgbClr val="C792EA"/>
                </a:solidFill>
                <a:latin typeface="Consolas"/>
              </a:rPr>
              <a:t>class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FragTrap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virtual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94" i="1">
                <a:solidFill>
                  <a:srgbClr val="62738A"/>
                </a:solidFill>
                <a:latin typeface="Consolas"/>
              </a:rPr>
              <a:t>//  ex03 - DiamondTrap.hpp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class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DiamondTrap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FragTrap</a:t>
            </a:r>
            <a:r>
              <a:rPr sz="794">
                <a:solidFill>
                  <a:srgbClr val="D6DEEA"/>
                </a:solidFill>
                <a:latin typeface="Consolas"/>
              </a:rPr>
              <a:t>,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public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ScavTrap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{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.</a:t>
            </a:r>
            <a:r>
              <a:rPr sz="794">
                <a:solidFill>
                  <a:srgbClr val="D6DEEA"/>
                </a:solidFill>
                <a:latin typeface="Consolas"/>
              </a:rPr>
              <a:t>.</a:t>
            </a:r>
            <a:r>
              <a:rPr sz="794">
                <a:solidFill>
                  <a:srgbClr val="D6DEEA"/>
                </a:solidFill>
                <a:latin typeface="Consolas"/>
              </a:rPr>
              <a:t>.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}</a:t>
            </a:r>
            <a:r>
              <a:rPr sz="79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794" i="1">
                <a:solidFill>
                  <a:srgbClr val="62738A"/>
                </a:solidFill>
                <a:latin typeface="Consolas"/>
              </a:rPr>
              <a:t>//  ex03 - DiamondTrap.cpp</a:t>
            </a:r>
          </a:p>
          <a:p>
            <a:pPr>
              <a:lnSpc>
                <a:spcPct val="118000"/>
              </a:lnSpc>
              <a:buNone/>
            </a:pPr>
            <a:r>
              <a:rPr sz="794" i="1">
                <a:solidFill>
                  <a:srgbClr val="62738A"/>
                </a:solidFill>
                <a:latin typeface="Consolas"/>
              </a:rPr>
              <a:t>//  the most derived class owns the shared base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DiamondTrap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82AAFF"/>
                </a:solidFill>
                <a:latin typeface="Consolas"/>
              </a:rPr>
              <a:t>DiamondTrap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C792EA"/>
                </a:solidFill>
                <a:latin typeface="Consolas"/>
              </a:rPr>
              <a:t>std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C792EA"/>
                </a:solidFill>
                <a:latin typeface="Consolas"/>
              </a:rPr>
              <a:t>string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C792EA"/>
                </a:solidFill>
                <a:latin typeface="Consolas"/>
              </a:rPr>
              <a:t>const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&amp;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name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</a:t>
            </a:r>
            <a:r>
              <a:rPr sz="794">
                <a:solidFill>
                  <a:srgbClr val="D6DEEA"/>
                </a:solidFill>
                <a:latin typeface="Consolas"/>
              </a:rPr>
              <a:t>: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82AAFF"/>
                </a:solidFill>
                <a:latin typeface="Consolas"/>
              </a:rPr>
              <a:t>ClapTrap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D6DEEA"/>
                </a:solidFill>
                <a:latin typeface="Consolas"/>
              </a:rPr>
              <a:t>name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+</a:t>
            </a: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ECC48D"/>
                </a:solidFill>
                <a:latin typeface="Consolas"/>
              </a:rPr>
              <a:t>"_clap_name"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  </a:t>
            </a:r>
            <a:r>
              <a:rPr sz="794">
                <a:solidFill>
                  <a:srgbClr val="82AAFF"/>
                </a:solidFill>
                <a:latin typeface="Consolas"/>
              </a:rPr>
              <a:t>FragTrap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D6DEEA"/>
                </a:solidFill>
                <a:latin typeface="Consolas"/>
              </a:rPr>
              <a:t>name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  </a:t>
            </a:r>
            <a:r>
              <a:rPr sz="794">
                <a:solidFill>
                  <a:srgbClr val="82AAFF"/>
                </a:solidFill>
                <a:latin typeface="Consolas"/>
              </a:rPr>
              <a:t>ScavTrap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D6DEEA"/>
                </a:solidFill>
                <a:latin typeface="Consolas"/>
              </a:rPr>
              <a:t>name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,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  </a:t>
            </a:r>
            <a:r>
              <a:rPr sz="794">
                <a:solidFill>
                  <a:srgbClr val="D6DEEA"/>
                </a:solidFill>
                <a:latin typeface="Consolas"/>
              </a:rPr>
              <a:t>name_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D6DEEA"/>
                </a:solidFill>
                <a:latin typeface="Consolas"/>
              </a:rPr>
              <a:t>name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</a:t>
            </a:r>
            <a:r>
              <a:rPr sz="794">
                <a:solidFill>
                  <a:srgbClr val="D6DEEA"/>
                </a:solidFill>
                <a:latin typeface="Consolas"/>
              </a:rPr>
              <a:t>setHitPoints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F78C6C"/>
                </a:solidFill>
                <a:latin typeface="Consolas"/>
              </a:rPr>
              <a:t>100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</a:t>
            </a:r>
            <a:r>
              <a:rPr sz="794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F78C6C"/>
                </a:solidFill>
                <a:latin typeface="Consolas"/>
              </a:rPr>
              <a:t>50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	</a:t>
            </a:r>
            <a:r>
              <a:rPr sz="794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794">
                <a:solidFill>
                  <a:srgbClr val="D6DEEA"/>
                </a:solidFill>
                <a:latin typeface="Consolas"/>
              </a:rPr>
              <a:t>(</a:t>
            </a:r>
            <a:r>
              <a:rPr sz="794">
                <a:solidFill>
                  <a:srgbClr val="F78C6C"/>
                </a:solidFill>
                <a:latin typeface="Consolas"/>
              </a:rPr>
              <a:t>30</a:t>
            </a:r>
            <a:r>
              <a:rPr sz="794">
                <a:solidFill>
                  <a:srgbClr val="D6DEEA"/>
                </a:solidFill>
                <a:latin typeface="Consolas"/>
              </a:rPr>
              <a:t>)</a:t>
            </a:r>
            <a:r>
              <a:rPr sz="79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794">
                <a:solidFill>
                  <a:srgbClr val="D6DEEA"/>
                </a:solidFill>
                <a:latin typeface="Consolas"/>
              </a:rPr>
              <a:t> </a:t>
            </a:r>
            <a:r>
              <a:rPr sz="794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824" y="1444752"/>
            <a:ext cx="446763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`virtual` changes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1144" y="1764792"/>
            <a:ext cx="41933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becomes a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virtual base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only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one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shared sub-object, owned by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most derived class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1144" y="2313432"/>
            <a:ext cx="419331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base constructor runs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once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1144" y="2633472"/>
            <a:ext cx="419331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member calls are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unambiguous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again.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144" y="2953512"/>
            <a:ext cx="419331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two branches now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share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the same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6824" y="3273552"/>
            <a:ext cx="446763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Who initialises the virtual base?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1144" y="3593592"/>
            <a:ext cx="419331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Only the most derived class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here: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1144" y="3913632"/>
            <a:ext cx="41933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ClapTrap(name)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in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's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's initializer lists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ignored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when a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built.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1144" y="4462272"/>
            <a:ext cx="41933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That is why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must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initialise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itself — and it does, with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name + "_clap_name"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6824" y="5010912"/>
            <a:ext cx="446763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1144" y="5330952"/>
            <a:ext cx="419331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One extra pointer per level of virtual inheritance, and a slightly slower access to the base members.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DiamondTrap implementation and whoAmI()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744096" cy="392485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744096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4880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src/DiamondTrap.cpp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469776" cy="335793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C792EA"/>
                </a:solidFill>
                <a:latin typeface="Consolas"/>
              </a:rPr>
              <a:t>void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82AAFF"/>
                </a:solidFill>
                <a:latin typeface="Consolas"/>
              </a:rPr>
              <a:t>DiamondTrap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whoAmI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C792EA"/>
                </a:solidFill>
                <a:latin typeface="Consolas"/>
              </a:rPr>
              <a:t>std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cout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ECC48D"/>
                </a:solidFill>
                <a:latin typeface="Consolas"/>
              </a:rPr>
              <a:t>"My name is "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		 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ECC48D"/>
                </a:solidFill>
                <a:latin typeface="Consolas"/>
              </a:rPr>
              <a:t>" and my ClapTrap name is "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getName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		 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C792EA"/>
                </a:solidFill>
                <a:latin typeface="Consolas"/>
              </a:rPr>
              <a:t>std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endl</a:t>
            </a:r>
            <a:r>
              <a:rPr sz="9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}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82AAFF"/>
                </a:solidFill>
                <a:latin typeface="Consolas"/>
              </a:rPr>
              <a:t>DiamondTrap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82AAFF"/>
                </a:solidFill>
                <a:latin typeface="Consolas"/>
              </a:rPr>
              <a:t>DiamondTrap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C792EA"/>
                </a:solidFill>
                <a:latin typeface="Consolas"/>
              </a:rPr>
              <a:t>std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C792EA"/>
                </a:solidFill>
                <a:latin typeface="Consolas"/>
              </a:rPr>
              <a:t>string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C792EA"/>
                </a:solidFill>
                <a:latin typeface="Consolas"/>
              </a:rPr>
              <a:t>const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&amp;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name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82AAFF"/>
                </a:solidFill>
                <a:latin typeface="Consolas"/>
              </a:rPr>
              <a:t>ClapTrap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name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+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ECC48D"/>
                </a:solidFill>
                <a:latin typeface="Consolas"/>
              </a:rPr>
              <a:t>"_clap_name"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,</a:t>
            </a:r>
            <a:r>
              <a:rPr sz="980">
                <a:solidFill>
                  <a:srgbClr val="D6DEEA"/>
                </a:solidFill>
                <a:latin typeface="Consolas"/>
              </a:rPr>
              <a:t>   </a:t>
            </a:r>
            <a:r>
              <a:rPr sz="980" i="1">
                <a:solidFill>
                  <a:srgbClr val="62738A"/>
                </a:solidFill>
                <a:latin typeface="Consolas"/>
              </a:rPr>
              <a:t>// the virtual base, owned by us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  </a:t>
            </a:r>
            <a:r>
              <a:rPr sz="980">
                <a:solidFill>
                  <a:srgbClr val="82AAFF"/>
                </a:solidFill>
                <a:latin typeface="Consolas"/>
              </a:rPr>
              <a:t>FragTrap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name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,</a:t>
            </a:r>
            <a:r>
              <a:rPr sz="980">
                <a:solidFill>
                  <a:srgbClr val="D6DEEA"/>
                </a:solidFill>
                <a:latin typeface="Consolas"/>
              </a:rPr>
              <a:t>                   </a:t>
            </a:r>
            <a:r>
              <a:rPr sz="980" i="1">
                <a:solidFill>
                  <a:srgbClr val="62738A"/>
                </a:solidFill>
                <a:latin typeface="Consolas"/>
              </a:rPr>
              <a:t>// ignored for the virtual base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  </a:t>
            </a:r>
            <a:r>
              <a:rPr sz="980">
                <a:solidFill>
                  <a:srgbClr val="82AAFF"/>
                </a:solidFill>
                <a:latin typeface="Consolas"/>
              </a:rPr>
              <a:t>ScavTrap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name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,</a:t>
            </a:r>
            <a:r>
              <a:rPr sz="980">
                <a:solidFill>
                  <a:srgbClr val="D6DEEA"/>
                </a:solidFill>
                <a:latin typeface="Consolas"/>
              </a:rPr>
              <a:t>                   </a:t>
            </a:r>
            <a:r>
              <a:rPr sz="980" i="1">
                <a:solidFill>
                  <a:srgbClr val="62738A"/>
                </a:solidFill>
                <a:latin typeface="Consolas"/>
              </a:rPr>
              <a:t>// ignored for the virtual base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  </a:t>
            </a:r>
            <a:r>
              <a:rPr sz="980">
                <a:solidFill>
                  <a:srgbClr val="D6DEEA"/>
                </a:solidFill>
                <a:latin typeface="Consolas"/>
              </a:rPr>
              <a:t>name_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D6DEEA"/>
                </a:solidFill>
                <a:latin typeface="Consolas"/>
              </a:rPr>
              <a:t>name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                       </a:t>
            </a:r>
            <a:r>
              <a:rPr sz="980" i="1">
                <a:solidFill>
                  <a:srgbClr val="62738A"/>
                </a:solidFill>
                <a:latin typeface="Consolas"/>
              </a:rPr>
              <a:t>// our own attribute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D6DEEA"/>
                </a:solidFill>
                <a:latin typeface="Consolas"/>
              </a:rPr>
              <a:t>setHitPoints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F78C6C"/>
                </a:solidFill>
                <a:latin typeface="Consolas"/>
              </a:rPr>
              <a:t>100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D6DEEA"/>
                </a:solidFill>
                <a:latin typeface="Consolas"/>
              </a:rPr>
              <a:t>setEnergyPoints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F78C6C"/>
                </a:solidFill>
                <a:latin typeface="Consolas"/>
              </a:rPr>
              <a:t>50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D6DEEA"/>
                </a:solidFill>
                <a:latin typeface="Consolas"/>
              </a:rPr>
              <a:t>setAttackDamage</a:t>
            </a:r>
            <a:r>
              <a:rPr sz="980">
                <a:solidFill>
                  <a:srgbClr val="D6DEEA"/>
                </a:solidFill>
                <a:latin typeface="Consolas"/>
              </a:rPr>
              <a:t>(</a:t>
            </a:r>
            <a:r>
              <a:rPr sz="980">
                <a:solidFill>
                  <a:srgbClr val="F78C6C"/>
                </a:solidFill>
                <a:latin typeface="Consolas"/>
              </a:rPr>
              <a:t>30</a:t>
            </a:r>
            <a:r>
              <a:rPr sz="980">
                <a:solidFill>
                  <a:srgbClr val="D6DEEA"/>
                </a:solidFill>
                <a:latin typeface="Consolas"/>
              </a:rPr>
              <a:t>)</a:t>
            </a:r>
            <a:r>
              <a:rPr sz="9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</a:t>
            </a:r>
            <a:r>
              <a:rPr sz="980">
                <a:solidFill>
                  <a:srgbClr val="C792EA"/>
                </a:solidFill>
                <a:latin typeface="Consolas"/>
              </a:rPr>
              <a:t>std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cout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ECC48D"/>
                </a:solidFill>
                <a:latin typeface="Consolas"/>
              </a:rPr>
              <a:t>"DiamondTrap: "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name_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			 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ECC48D"/>
                </a:solidFill>
                <a:latin typeface="Consolas"/>
              </a:rPr>
              <a:t>" has been created!"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&lt;</a:t>
            </a:r>
            <a:r>
              <a:rPr sz="980">
                <a:solidFill>
                  <a:srgbClr val="D6DEEA"/>
                </a:solidFill>
                <a:latin typeface="Consolas"/>
              </a:rPr>
              <a:t> </a:t>
            </a:r>
            <a:r>
              <a:rPr sz="980">
                <a:solidFill>
                  <a:srgbClr val="C792EA"/>
                </a:solidFill>
                <a:latin typeface="Consolas"/>
              </a:rPr>
              <a:t>std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:</a:t>
            </a:r>
            <a:r>
              <a:rPr sz="980">
                <a:solidFill>
                  <a:srgbClr val="D6DEEA"/>
                </a:solidFill>
                <a:latin typeface="Consolas"/>
              </a:rPr>
              <a:t>endl</a:t>
            </a:r>
            <a:r>
              <a:rPr sz="980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980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452" y="1444752"/>
            <a:ext cx="4574002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Two names, one object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772" y="1783461"/>
            <a:ext cx="4299682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's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own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private attribute = *“Diamo”*.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772" y="2360295"/>
            <a:ext cx="4299682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getName()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the inherited getter of the shared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base = *“Diamo_clap_name”*.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14772" y="2937129"/>
            <a:ext cx="4299682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whoAmI()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both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— exactly what the subject asks.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0452" y="3275838"/>
            <a:ext cx="4574002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values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772" y="3614547"/>
            <a:ext cx="4299682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100 HP and 30 damage come from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configuration.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772" y="4191381"/>
            <a:ext cx="4299682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50 energy comes from the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configuration.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772" y="4530090"/>
            <a:ext cx="4299682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I set them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explicitly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 the body of the constructor, because the sub-classes' settings are not applied to the shared base.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EX03 · A SUBTLE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The name shadowing trick, explained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850468" cy="282658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850468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5944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two attributes with the same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576148" cy="22596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94" i="1">
                <a:solidFill>
                  <a:srgbClr val="62738A"/>
                </a:solidFill>
                <a:latin typeface="Consolas"/>
              </a:rPr>
              <a:t>//  ClapTrap  (the virtual base)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C792EA"/>
                </a:solidFill>
                <a:latin typeface="Consolas"/>
              </a:rPr>
              <a:t>private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	</a:t>
            </a:r>
            <a:r>
              <a:rPr sz="894">
                <a:solidFill>
                  <a:srgbClr val="C792EA"/>
                </a:solidFill>
                <a:latin typeface="Consolas"/>
              </a:rPr>
              <a:t>std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C792EA"/>
                </a:solidFill>
                <a:latin typeface="Consolas"/>
              </a:rPr>
              <a:t>string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name_</a:t>
            </a:r>
            <a:r>
              <a:rPr sz="894">
                <a:solidFill>
                  <a:srgbClr val="D6DEEA"/>
                </a:solidFill>
                <a:latin typeface="Consolas"/>
              </a:rPr>
              <a:t>;</a:t>
            </a:r>
            <a:r>
              <a:rPr sz="894">
                <a:solidFill>
                  <a:srgbClr val="D6DEEA"/>
                </a:solidFill>
                <a:latin typeface="Consolas"/>
              </a:rPr>
              <a:t>      </a:t>
            </a:r>
            <a:r>
              <a:rPr sz="894" i="1">
                <a:solidFill>
                  <a:srgbClr val="62738A"/>
                </a:solidFill>
                <a:latin typeface="Consolas"/>
              </a:rPr>
              <a:t>//  "Diamo_clap_name"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94" i="1">
                <a:solidFill>
                  <a:srgbClr val="62738A"/>
                </a:solidFill>
                <a:latin typeface="Consolas"/>
              </a:rPr>
              <a:t>//  DiamondTrap  (the most derived class)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C792EA"/>
                </a:solidFill>
                <a:latin typeface="Consolas"/>
              </a:rPr>
              <a:t>private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	</a:t>
            </a:r>
            <a:r>
              <a:rPr sz="894">
                <a:solidFill>
                  <a:srgbClr val="C792EA"/>
                </a:solidFill>
                <a:latin typeface="Consolas"/>
              </a:rPr>
              <a:t>std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C792EA"/>
                </a:solidFill>
                <a:latin typeface="Consolas"/>
              </a:rPr>
              <a:t>string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name_</a:t>
            </a:r>
            <a:r>
              <a:rPr sz="894">
                <a:solidFill>
                  <a:srgbClr val="D6DEEA"/>
                </a:solidFill>
                <a:latin typeface="Consolas"/>
              </a:rPr>
              <a:t>;</a:t>
            </a:r>
            <a:r>
              <a:rPr sz="894">
                <a:solidFill>
                  <a:srgbClr val="D6DEEA"/>
                </a:solidFill>
                <a:latin typeface="Consolas"/>
              </a:rPr>
              <a:t>      </a:t>
            </a:r>
            <a:r>
              <a:rPr sz="894" i="1">
                <a:solidFill>
                  <a:srgbClr val="62738A"/>
                </a:solidFill>
                <a:latin typeface="Consolas"/>
              </a:rPr>
              <a:t>//  "Diamo"  &lt;- shadows the base attribute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C792EA"/>
                </a:solidFill>
                <a:latin typeface="Consolas"/>
              </a:rPr>
              <a:t>void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82AAFF"/>
                </a:solidFill>
                <a:latin typeface="Consolas"/>
              </a:rPr>
              <a:t>DiamondTrap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whoAmI</a:t>
            </a:r>
            <a:r>
              <a:rPr sz="894">
                <a:solidFill>
                  <a:srgbClr val="D6DEEA"/>
                </a:solidFill>
                <a:latin typeface="Consolas"/>
              </a:rPr>
              <a:t>(</a:t>
            </a:r>
            <a:r>
              <a:rPr sz="894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{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	</a:t>
            </a:r>
            <a:r>
              <a:rPr sz="894">
                <a:solidFill>
                  <a:srgbClr val="C792EA"/>
                </a:solidFill>
                <a:latin typeface="Consolas"/>
              </a:rPr>
              <a:t>std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cout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ECC48D"/>
                </a:solidFill>
                <a:latin typeface="Consolas"/>
              </a:rPr>
              <a:t>"My name is "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name_</a:t>
            </a:r>
            <a:r>
              <a:rPr sz="894">
                <a:solidFill>
                  <a:srgbClr val="D6DEEA"/>
                </a:solidFill>
                <a:latin typeface="Consolas"/>
              </a:rPr>
              <a:t>                </a:t>
            </a:r>
            <a:r>
              <a:rPr sz="894" i="1">
                <a:solidFill>
                  <a:srgbClr val="62738A"/>
                </a:solidFill>
                <a:latin typeface="Consolas"/>
              </a:rPr>
              <a:t>// -&gt; "Diamo"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			  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ECC48D"/>
                </a:solidFill>
                <a:latin typeface="Consolas"/>
              </a:rPr>
              <a:t>" and my ClapTrap name is "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D6DEEA"/>
                </a:solidFill>
                <a:latin typeface="Consolas"/>
              </a:rPr>
              <a:t>getName</a:t>
            </a:r>
            <a:r>
              <a:rPr sz="894">
                <a:solidFill>
                  <a:srgbClr val="D6DEEA"/>
                </a:solidFill>
                <a:latin typeface="Consolas"/>
              </a:rPr>
              <a:t>(</a:t>
            </a:r>
            <a:r>
              <a:rPr sz="894">
                <a:solidFill>
                  <a:srgbClr val="D6DEEA"/>
                </a:solidFill>
                <a:latin typeface="Consolas"/>
              </a:rPr>
              <a:t>)</a:t>
            </a:r>
            <a:r>
              <a:rPr sz="894">
                <a:solidFill>
                  <a:srgbClr val="D6DEEA"/>
                </a:solidFill>
                <a:latin typeface="Consolas"/>
              </a:rPr>
              <a:t>  </a:t>
            </a:r>
            <a:r>
              <a:rPr sz="894" i="1">
                <a:solidFill>
                  <a:srgbClr val="62738A"/>
                </a:solidFill>
                <a:latin typeface="Consolas"/>
              </a:rPr>
              <a:t>// -&gt; "Diamo_clap_name"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			  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&lt;</a:t>
            </a:r>
            <a:r>
              <a:rPr sz="894">
                <a:solidFill>
                  <a:srgbClr val="D6DEEA"/>
                </a:solidFill>
                <a:latin typeface="Consolas"/>
              </a:rPr>
              <a:t> </a:t>
            </a:r>
            <a:r>
              <a:rPr sz="894">
                <a:solidFill>
                  <a:srgbClr val="C792EA"/>
                </a:solidFill>
                <a:latin typeface="Consolas"/>
              </a:rPr>
              <a:t>std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:</a:t>
            </a:r>
            <a:r>
              <a:rPr sz="894">
                <a:solidFill>
                  <a:srgbClr val="D6DEEA"/>
                </a:solidFill>
                <a:latin typeface="Consolas"/>
              </a:rPr>
              <a:t>endl</a:t>
            </a:r>
            <a:r>
              <a:rPr sz="894">
                <a:solidFill>
                  <a:srgbClr val="D6DEEA"/>
                </a:solidFill>
                <a:latin typeface="Consolas"/>
              </a:rPr>
              <a:t>;</a:t>
            </a:r>
          </a:p>
          <a:p>
            <a:pPr>
              <a:lnSpc>
                <a:spcPct val="118000"/>
              </a:lnSpc>
              <a:buNone/>
            </a:pPr>
            <a:r>
              <a:rPr sz="894">
                <a:solidFill>
                  <a:srgbClr val="D6DEEA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824" y="1444752"/>
            <a:ext cx="44676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does it compile?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1144" y="1708785"/>
            <a:ext cx="419331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Name lookup starts in the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most derived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class: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found in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and the search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stops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1144" y="2172843"/>
            <a:ext cx="419331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There is no ambiguity because the base's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is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private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: it was never a candidate in that scope.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824" y="2636901"/>
            <a:ext cx="44676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Why is it legitimate?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1144" y="2900934"/>
            <a:ext cx="419331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base's attribute is only reachable through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getName()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so the two values never interfere.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1144" y="3364992"/>
            <a:ext cx="419331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Verified: the code compiles 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-Wall -Wextra -Werror -Wshadow -pedantic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 — </a:t>
            </a:r>
            <a:r>
              <a:rPr b="1" sz="1050" i="0">
                <a:solidFill>
                  <a:srgbClr val="5E6E84"/>
                </a:solidFill>
                <a:latin typeface="Segoe UI"/>
              </a:rPr>
              <a:t>no shadow warning is raised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6824" y="3829050"/>
            <a:ext cx="446763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050" i="0">
                <a:solidFill>
                  <a:srgbClr val="1C2738"/>
                </a:solidFill>
                <a:latin typeface="Segoe UI"/>
              </a:rPr>
              <a:t>How I made it explicit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1144" y="4093083"/>
            <a:ext cx="419331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50" i="0">
                <a:solidFill>
                  <a:srgbClr val="5E6E84"/>
                </a:solidFill>
                <a:latin typeface="Segoe UI"/>
              </a:rPr>
              <a:t>The base is initialised with </a:t>
            </a:r>
            <a:r>
              <a:rPr b="0" sz="986" i="0">
                <a:solidFill>
                  <a:srgbClr val="1F8A7A"/>
                </a:solidFill>
                <a:latin typeface="Consolas"/>
              </a:rPr>
              <a:t>name + "_clap_name"</a:t>
            </a:r>
            <a:r>
              <a:rPr b="0" sz="1050" i="0">
                <a:solidFill>
                  <a:srgbClr val="5E6E84"/>
                </a:solidFill>
                <a:latin typeface="Segoe UI"/>
              </a:rPr>
              <a:t>, so the two names are visibly different in the output.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526280"/>
            <a:ext cx="5850468" cy="10515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526280"/>
            <a:ext cx="50292" cy="10515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645152"/>
            <a:ext cx="5448132" cy="8503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Honesty note — an alternative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I could have renamed the derived attribute (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myName_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) and avoided the shadowing altogether. I kept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name_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because the subject mentions a *name attribute* for 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base, and the shadowing is harmless here — but I can justify either choice.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ORDER OF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Construction and destruction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6595071" cy="34198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58630"/>
                <a:gridCol w="969863"/>
                <a:gridCol w="1487124"/>
                <a:gridCol w="3879454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#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Event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Who runs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Message printed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Construction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(virtual base)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ClapTrap: Diamo_clap_name has been created.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Construction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FragTrap: Diamo_clap_name has jumped into the battle!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Construction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ScavTrap: Diamo_clap_name is ready to fight!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Construction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DiamondTrap: Diamo has been created!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DiamondTrap: Diamo has been destroyed!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ScavTrap: Diamo_clap_name has been destroyed.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FragTrap: Diamo_clap_name has been destroyed.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Destruction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ClapTrap: Diamo_clap_name has been destroyed.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638243" y="1444752"/>
            <a:ext cx="37762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The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2563" y="1764792"/>
            <a:ext cx="35018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virtual base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constructed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first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2563" y="2084832"/>
            <a:ext cx="35018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Then the direct bases,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left to right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as declared: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then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12563" y="2633472"/>
            <a:ext cx="35018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Then the most derived class itself.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2563" y="2953512"/>
            <a:ext cx="350189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Destruction is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exact reverse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8243" y="3273552"/>
            <a:ext cx="377621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Notice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12563" y="3593592"/>
            <a:ext cx="3501891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both print *“Diamo_clap_name”* — they read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shared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base through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getName()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2563" y="4370832"/>
            <a:ext cx="350189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Only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one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ClapTrap: … created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line → the virtual base was built once. </a:t>
            </a:r>
            <a:r>
              <a:rPr b="0" sz="120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6595073" cy="91440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074920"/>
            <a:ext cx="50292" cy="9144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" y="5193792"/>
            <a:ext cx="6192737" cy="713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Why is the base built first?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A base class must exist before the derived class can use it. The standard orders the initialisation as: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virtual bases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→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direct bases (left to right)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→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members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→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the constructor body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RESOLVING THE 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Where do the values come from?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4" cy="33101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69425"/>
                <a:gridCol w="2877279"/>
                <a:gridCol w="1830996"/>
                <a:gridCol w="4359514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Member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Inherited from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Value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Why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getName()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(the single shared virtual base)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"Diamo_clap_name"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base is initialised with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name + "_clap_name"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name_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(own)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"Diamo"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Its own private attribute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getHitPoints()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shared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base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Set explicitly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's constructor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getEnergyPoints()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shared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base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50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Set explicitly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's constructor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getAttackDamage()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shared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base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30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Set explicitly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's constructor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attack()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version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</a:t>
                      </a: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only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branch that overrides it → no ambiguity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guardGate()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Only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declares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highFivesGuys()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Only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declares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whoAmI()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Declared only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DiamondTrap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21208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212080"/>
            <a:ext cx="50292" cy="86868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330952"/>
            <a:ext cx="1023487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Why set the values explicitly in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1" sz="1150" i="0">
                <a:solidFill>
                  <a:srgbClr val="1F8A7A"/>
                </a:solidFill>
                <a:latin typeface="Segoe UI Semibold"/>
              </a:rPr>
              <a:t>?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sub-classes set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their own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configuration on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their own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instance (a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alone gets 100/100/30). When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is built there is only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one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shared base — so the most derived class decides the final values. I chose 100 HP / 50 energy / 30 damage, which combines 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HP and damage with 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energy.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EX03 ·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ex03 — Runtime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956840" cy="4465878"/>
          </a:xfrm>
          <a:prstGeom prst="roundRect">
            <a:avLst>
              <a:gd name="adj" fmla="val 3000"/>
            </a:avLst>
          </a:prstGeom>
          <a:solidFill>
            <a:srgbClr val="0B12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956840" cy="292608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700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terminal  ·  ./ex03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682520" cy="3898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Module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03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ex03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Now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it</a:t>
            </a:r>
            <a:r>
              <a:rPr sz="940">
                <a:solidFill>
                  <a:srgbClr val="D6DEEA"/>
                </a:solidFill>
                <a:latin typeface="Consolas"/>
              </a:rPr>
              <a:t>'</a:t>
            </a:r>
            <a:r>
              <a:rPr sz="940">
                <a:solidFill>
                  <a:srgbClr val="D6DEEA"/>
                </a:solidFill>
                <a:latin typeface="Consolas"/>
              </a:rPr>
              <a:t>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weird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testConstructionChaining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ClapTrap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  <a:r>
              <a:rPr sz="940">
                <a:solidFill>
                  <a:srgbClr val="D6DEEA"/>
                </a:solidFill>
                <a:latin typeface="Consolas"/>
              </a:rPr>
              <a:t>      </a:t>
            </a:r>
            <a:r>
              <a:rPr sz="940">
                <a:solidFill>
                  <a:srgbClr val="D6DEEA"/>
                </a:solidFill>
                <a:latin typeface="Consolas"/>
              </a:rPr>
              <a:t>&lt;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ONE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single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base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FragTrap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jumped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into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the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battle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ScavTrap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ready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fight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DiamondTrap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Diamo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100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hit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points</a:t>
            </a:r>
            <a:r>
              <a:rPr sz="940">
                <a:solidFill>
                  <a:srgbClr val="D6DEEA"/>
                </a:solidFill>
                <a:latin typeface="Consolas"/>
              </a:rPr>
              <a:t>,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50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energy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points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30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attack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damage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DiamondTrap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ScavTrap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FragTrap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ClapTrap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destroyed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testWhoAmI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My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ClapTrap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testInheritedAbilities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ScavTrap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now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Gate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keeper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mode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FragTrap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asks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everybody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C792EA"/>
                </a:solidFill>
                <a:latin typeface="Consolas"/>
              </a:rPr>
              <a:t>for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high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five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Let</a:t>
            </a:r>
            <a:r>
              <a:rPr sz="940">
                <a:solidFill>
                  <a:srgbClr val="D6DEEA"/>
                </a:solidFill>
                <a:latin typeface="Consolas"/>
              </a:rPr>
              <a:t>'</a:t>
            </a:r>
            <a:r>
              <a:rPr sz="940">
                <a:solidFill>
                  <a:srgbClr val="D6DEEA"/>
                </a:solidFill>
                <a:latin typeface="Consolas"/>
              </a:rPr>
              <a:t>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go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ScavTrap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Diamo_clap_name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attacks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target</a:t>
            </a:r>
            <a:r>
              <a:rPr sz="940">
                <a:solidFill>
                  <a:srgbClr val="D6DEEA"/>
                </a:solidFill>
                <a:latin typeface="Consolas"/>
              </a:rPr>
              <a:t>,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causing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30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points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damage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testPolymorphism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ClapTrap</a:t>
            </a:r>
            <a:r>
              <a:rPr sz="940">
                <a:solidFill>
                  <a:srgbClr val="D6DEEA"/>
                </a:solidFill>
                <a:latin typeface="Consolas"/>
              </a:rPr>
              <a:t>: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Polymorph_clap_name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has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been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created</a:t>
            </a:r>
            <a:r>
              <a:rPr sz="940">
                <a:solidFill>
                  <a:srgbClr val="D6DEEA"/>
                </a:solidFill>
                <a:latin typeface="Consolas"/>
              </a:rPr>
              <a:t>.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ScavTrap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Polymorph_clap_name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attacks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target</a:t>
            </a:r>
            <a:r>
              <a:rPr sz="940">
                <a:solidFill>
                  <a:srgbClr val="D6DEEA"/>
                </a:solidFill>
                <a:latin typeface="Consolas"/>
              </a:rPr>
              <a:t>,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causing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F78C6C"/>
                </a:solidFill>
                <a:latin typeface="Consolas"/>
              </a:rPr>
              <a:t>30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points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of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damage</a:t>
            </a:r>
            <a:r>
              <a:rPr sz="940">
                <a:solidFill>
                  <a:srgbClr val="D6DEEA"/>
                </a:solidFill>
                <a:latin typeface="Consolas"/>
              </a:rPr>
              <a:t>!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testCopy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  <a:r>
              <a:rPr sz="940">
                <a:solidFill>
                  <a:srgbClr val="D6DEEA"/>
                </a:solidFill>
                <a:latin typeface="Consolas"/>
              </a:rPr>
              <a:t>-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82AAFF"/>
                </a:solidFill>
                <a:latin typeface="Consolas"/>
              </a:rPr>
              <a:t>My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Original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and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my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ClapTrap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name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is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82AAFF"/>
                </a:solidFill>
                <a:latin typeface="Consolas"/>
              </a:rPr>
              <a:t>Original_clap_name</a:t>
            </a:r>
          </a:p>
          <a:p>
            <a:pPr>
              <a:lnSpc>
                <a:spcPct val="118000"/>
              </a:lnSpc>
              <a:buNone/>
            </a:pP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ex03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done</a:t>
            </a:r>
            <a:r>
              <a:rPr sz="940">
                <a:solidFill>
                  <a:srgbClr val="D6DEEA"/>
                </a:solidFill>
                <a:latin typeface="Consolas"/>
              </a:rPr>
              <a:t> 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  <a:r>
              <a:rPr sz="940">
                <a:solidFill>
                  <a:srgbClr val="D6DEEA"/>
                </a:solidFill>
                <a:latin typeface="Consolas"/>
              </a:rPr>
              <a:t>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10" y="1444752"/>
            <a:ext cx="441444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What the output proves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4330" y="1783461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50" i="0">
                <a:solidFill>
                  <a:srgbClr val="5E6E84"/>
                </a:solidFill>
                <a:latin typeface="Segoe UI"/>
              </a:rPr>
              <a:t>One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ClapTrap: … created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line → the virtual base was built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once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4330" y="2360295"/>
            <a:ext cx="4140124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Construction order: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ClapTrap → FragTrap → ScavTrap → DiamondTrap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; destruction is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exact reverse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74330" y="3175254"/>
            <a:ext cx="414012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whoAmI()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prints the two different names.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4330" y="3513963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Both inherited abilities work: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guardGate()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highFivesGuys()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4330" y="4090797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resolves to 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`ScavTrap`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version (30 damage) — unambiguous.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4330" y="4667631"/>
            <a:ext cx="4140124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Through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ClapTrap*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the dynamic binding still works. </a:t>
            </a:r>
            <a:r>
              <a:rPr b="0" sz="1250" i="0">
                <a:solidFill>
                  <a:srgbClr val="5E6E84"/>
                </a:solidFill>
                <a:latin typeface="Segoe UI Symbol"/>
              </a:rPr>
              <a:t>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253D60"/>
                </a:solidFill>
                <a:latin typeface="Segoe UI Semibold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complete design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467630" cy="2649854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467630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21159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hierarchy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193310" cy="20829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     </a:t>
            </a:r>
            <a:r>
              <a:rPr sz="1050">
                <a:solidFill>
                  <a:srgbClr val="82AAFF"/>
                </a:solidFill>
                <a:latin typeface="Consolas"/>
              </a:rPr>
              <a:t>ClapTrap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C792EA"/>
                </a:solidFill>
                <a:latin typeface="Consolas"/>
              </a:rPr>
              <a:t>private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data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public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82AAFF"/>
                </a:solidFill>
                <a:latin typeface="Consolas"/>
              </a:rPr>
              <a:t>API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</a:t>
            </a:r>
            <a:r>
              <a:rPr sz="1050">
                <a:solidFill>
                  <a:srgbClr val="C792EA"/>
                </a:solidFill>
                <a:latin typeface="Consolas"/>
              </a:rPr>
              <a:t>virtual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  <a:r>
              <a:rPr sz="1050">
                <a:solidFill>
                  <a:srgbClr val="C792EA"/>
                </a:solidFill>
                <a:latin typeface="Consolas"/>
              </a:rPr>
              <a:t>virtual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</a:t>
            </a:r>
            <a:r>
              <a:rPr sz="1050">
                <a:solidFill>
                  <a:srgbClr val="82AAFF"/>
                </a:solidFill>
                <a:latin typeface="Consolas"/>
              </a:rPr>
              <a:t>ScavTrap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     </a:t>
            </a:r>
            <a:r>
              <a:rPr sz="1050">
                <a:solidFill>
                  <a:srgbClr val="82AAFF"/>
                </a:solidFill>
                <a:latin typeface="Consolas"/>
              </a:rPr>
              <a:t>FragTrap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</a:t>
            </a:r>
            <a:r>
              <a:rPr sz="1050">
                <a:solidFill>
                  <a:srgbClr val="D6DEEA"/>
                </a:solidFill>
                <a:latin typeface="Consolas"/>
              </a:rPr>
              <a:t>attack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[</a:t>
            </a:r>
            <a:r>
              <a:rPr sz="1050">
                <a:solidFill>
                  <a:srgbClr val="C792EA"/>
                </a:solidFill>
                <a:latin typeface="Consolas"/>
              </a:rPr>
              <a:t>override</a:t>
            </a:r>
            <a:r>
              <a:rPr sz="1050">
                <a:solidFill>
                  <a:srgbClr val="D6DEEA"/>
                </a:solidFill>
                <a:latin typeface="Consolas"/>
              </a:rPr>
              <a:t>]</a:t>
            </a:r>
            <a:r>
              <a:rPr sz="1050">
                <a:solidFill>
                  <a:srgbClr val="D6DEEA"/>
                </a:solidFill>
                <a:latin typeface="Consolas"/>
              </a:rPr>
              <a:t>     </a:t>
            </a:r>
            <a:r>
              <a:rPr sz="1050">
                <a:solidFill>
                  <a:srgbClr val="D6DEEA"/>
                </a:solidFill>
                <a:latin typeface="Consolas"/>
              </a:rPr>
              <a:t>highFivesGuys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  <a:r>
              <a:rPr sz="1050">
                <a:solidFill>
                  <a:srgbClr val="D6DEEA"/>
                </a:solidFill>
                <a:latin typeface="Consolas"/>
              </a:rPr>
              <a:t>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  </a:t>
            </a:r>
            <a:r>
              <a:rPr sz="1050">
                <a:solidFill>
                  <a:srgbClr val="82AAFF"/>
                </a:solidFill>
                <a:latin typeface="Consolas"/>
              </a:rPr>
              <a:t>DiamondTrap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              </a:t>
            </a:r>
            <a:r>
              <a:rPr sz="1050">
                <a:solidFill>
                  <a:srgbClr val="D6DEEA"/>
                </a:solidFill>
                <a:latin typeface="Consolas"/>
              </a:rPr>
              <a:t>whoAmI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name_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0358" y="1444752"/>
            <a:ext cx="574409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Who owns what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4678" y="1802130"/>
            <a:ext cx="5469776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data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and the shared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behaviour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takeDamage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beRepaired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, the getters/setters).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4678" y="2407158"/>
            <a:ext cx="546977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guard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ability and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overridden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</a:t>
            </a:r>
            <a:r>
              <a:rPr b="0" sz="1222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4678" y="2764536"/>
            <a:ext cx="546977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cheer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4678" y="3121914"/>
            <a:ext cx="5469776" cy="495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22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owns the </a:t>
            </a:r>
            <a:r>
              <a:rPr b="1" sz="1300" i="0">
                <a:solidFill>
                  <a:srgbClr val="5E6E84"/>
                </a:solidFill>
                <a:latin typeface="Segoe UI"/>
              </a:rPr>
              <a:t>second name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, the final values, and the construction of the shared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70358" y="3726942"/>
            <a:ext cx="574409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300" i="0">
                <a:solidFill>
                  <a:srgbClr val="1C2738"/>
                </a:solidFill>
                <a:latin typeface="Segoe UI"/>
              </a:rPr>
              <a:t>The three techniques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4678" y="4084320"/>
            <a:ext cx="546977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300" i="0">
                <a:solidFill>
                  <a:srgbClr val="5E6E84"/>
                </a:solidFill>
                <a:latin typeface="Segoe UI"/>
              </a:rPr>
              <a:t>Inheritance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to reuse the data and the behaviour.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4678" y="4441698"/>
            <a:ext cx="546977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300" i="0">
                <a:solidFill>
                  <a:srgbClr val="5E6E84"/>
                </a:solidFill>
                <a:latin typeface="Segoe UI"/>
              </a:rPr>
              <a:t>`virtual`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to make the behaviour depend on the real type.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4678" y="4799076"/>
            <a:ext cx="5469776" cy="2476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300" i="0">
                <a:solidFill>
                  <a:srgbClr val="5E6E84"/>
                </a:solidFill>
                <a:latin typeface="Segoe UI"/>
              </a:rPr>
              <a:t>`virtual` inheritance</a:t>
            </a:r>
            <a:r>
              <a:rPr b="0" sz="1300" i="0">
                <a:solidFill>
                  <a:srgbClr val="5E6E84"/>
                </a:solidFill>
                <a:latin typeface="Segoe UI"/>
              </a:rPr>
              <a:t> to share a single base between two branches.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Cheat sheet — the C++ knowledge this module needs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2" cy="4069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6938"/>
                <a:gridCol w="2304729"/>
                <a:gridCol w="4786746"/>
                <a:gridCol w="2038799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Concept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The syntax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What it really does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100" i="0">
                          <a:solidFill>
                            <a:srgbClr val="FFFFFF"/>
                          </a:solidFill>
                          <a:latin typeface="Segoe UI Semibold"/>
                        </a:rPr>
                        <a:t>Where I used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Inheritance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class D : public B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D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reuses and extends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B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; it gets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B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's public and protected members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ex01, ex02, ex03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Constructor chaining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: B(args)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in the init list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Calls the base constructor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before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the derived body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every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Virtual function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void f();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Allows a derived class to replace the behaviour (dynamic binding)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ClapTrap::attack()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Override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same name &amp; parameters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Replaces the base implementation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ScavTrap::attack()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Virtual destructor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~D();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Makes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delete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through a base pointer safe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~ClapTrap()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Virtual inheritance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class D : public virtual B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One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shared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base instead of two copies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ex01, ex02, ex03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protected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protected: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section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Visible to the class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and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its derived classes only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the setters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Pure virtual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virtual void f() = 0;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Makes the class </a:t>
                      </a:r>
                      <a:r>
                        <a:rPr b="1" sz="1100" i="0">
                          <a:solidFill>
                            <a:srgbClr val="1C2738"/>
                          </a:solidFill>
                          <a:latin typeface="Segoe UI"/>
                        </a:rPr>
                        <a:t>abstract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— an interface that cannot be instantiated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not required by the subject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Rule of Three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copy ctor + </a:t>
                      </a:r>
                      <a:r>
                        <a:rPr b="0" sz="1034" i="0">
                          <a:solidFill>
                            <a:srgbClr val="1F8A7A"/>
                          </a:solidFill>
                          <a:latin typeface="Consolas"/>
                        </a:rPr>
                        <a:t>operator=</a:t>
                      </a: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 + dtor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Correctly manages the resources of a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100" i="0">
                          <a:solidFill>
                            <a:srgbClr val="1C2738"/>
                          </a:solidFill>
                          <a:latin typeface="Segoe UI"/>
                        </a:rPr>
                        <a:t>every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7240" y="5486400"/>
            <a:ext cx="10637215" cy="73152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5486400"/>
            <a:ext cx="50292" cy="73152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5605272"/>
            <a:ext cx="1023487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1F8A7A"/>
                </a:solidFill>
                <a:latin typeface="Segoe UI Semibold"/>
              </a:rPr>
              <a:t>If you remember only three things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1" sz="1100" i="0">
                <a:solidFill>
                  <a:srgbClr val="1C2738"/>
                </a:solidFill>
                <a:latin typeface="Segoe UI"/>
              </a:rPr>
              <a:t>1.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method is what makes the *real* type of the object decide at run time (polymorphism).  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2.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virtual base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is what makes two branches share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one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base (the diamond).  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3.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destructor is what makes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delete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through a base pointer safe.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C0392B"/>
                </a:solidFill>
                <a:latin typeface="Segoe UI Semibold"/>
              </a:rPr>
              <a:t>SUMMARY ·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Common pitfalls — and how I avoided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" y="1444752"/>
          <a:ext cx="10637214" cy="40690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59303"/>
                <a:gridCol w="3723025"/>
                <a:gridCol w="4254886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Pitfall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What goes wrong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1" sz="1050" i="0">
                          <a:solidFill>
                            <a:srgbClr val="FFFFFF"/>
                          </a:solidFill>
                          <a:latin typeface="Segoe UI Semibold"/>
                        </a:rPr>
                        <a:t>How my code avoids it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0E1B2E"/>
                      </a:solidFill>
                      <a:prstDash val="solid"/>
                    </a:lnL>
                    <a:lnR w="9525" cap="flat" cmpd="sng" algn="ctr">
                      <a:solidFill>
                        <a:srgbClr val="0E1B2E"/>
                      </a:solidFill>
                      <a:prstDash val="solid"/>
                    </a:lnR>
                    <a:lnT w="9525" cap="flat" cmpd="sng" algn="ctr">
                      <a:solidFill>
                        <a:srgbClr val="0E1B2E"/>
                      </a:solidFill>
                      <a:prstDash val="solid"/>
                    </a:lnT>
                    <a:lnB w="9525" cap="flat" cmpd="sng" algn="ctr">
                      <a:solidFill>
                        <a:srgbClr val="0E1B2E"/>
                      </a:solidFill>
                      <a:prstDash val="solid"/>
                    </a:lnB>
                    <a:solidFill>
                      <a:srgbClr val="0E1B2E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Non-virtual destructor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delete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through a base pointer → leak, undefined behaviour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virtual ~ClapTrap();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declared already in ex00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Forgetting to call the base 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base members are left uninitialised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: ClapTrap(name)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in every initializer list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Initialising members in the wrong order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-Wreorder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→ with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-Werror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the build fails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init lists follow the declaration order exactly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Copying a class without a copy ctor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Shallow copy → double free / leak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Explicit copy ctor +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operator=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with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if (this != &amp;other)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Forgetting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ClapTrap::operator=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in a derived class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base part is not copied → inconsistent object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derived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operator=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calls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ClapTrap::operator=(other);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Two overrides in a diamond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*“request for member ‘attack’ is ambiguous”*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deliberately does </a:t>
                      </a:r>
                      <a:r>
                        <a:rPr b="1" sz="1050" i="0">
                          <a:solidFill>
                            <a:srgbClr val="1C2738"/>
                          </a:solidFill>
                          <a:latin typeface="Segoe UI"/>
                        </a:rPr>
                        <a:t>not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override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attack()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Two copies of the base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base is built twice, the state diverges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public virtual ClapTrap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in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ScavTrap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and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FragTrap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Accessing a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private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base member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Compile error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The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protected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 setters (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setHitPoints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…)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0F3F8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Using C++11 features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Does not compile with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-std=c++98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nullptr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override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auto</a:t>
                      </a:r>
                      <a:r>
                        <a:rPr b="0" sz="1050" i="0">
                          <a:solidFill>
                            <a:srgbClr val="1C2738"/>
                          </a:solidFill>
                          <a:latin typeface="Segoe UI"/>
                        </a:rPr>
                        <a:t>, no range-</a:t>
                      </a:r>
                      <a:r>
                        <a:rPr b="0" sz="986" i="0">
                          <a:solidFill>
                            <a:srgbClr val="1F8A7A"/>
                          </a:solidFill>
                          <a:latin typeface="Consolas"/>
                        </a:rPr>
                        <a:t>for</a:t>
                      </a:r>
                    </a:p>
                  </a:txBody>
                  <a:tcPr marL="100584" marR="82296" marT="36576" marB="36576" anchor="ctr">
                    <a:lnL w="9525" cap="flat" cmpd="sng" algn="ctr">
                      <a:solidFill>
                        <a:srgbClr val="D9DFEA"/>
                      </a:solidFill>
                      <a:prstDash val="solid"/>
                    </a:lnL>
                    <a:lnR w="9525" cap="flat" cmpd="sng" algn="ctr">
                      <a:solidFill>
                        <a:srgbClr val="D9DFEA"/>
                      </a:solidFill>
                      <a:prstDash val="solid"/>
                    </a:lnR>
                    <a:lnT w="9525" cap="flat" cmpd="sng" algn="ctr">
                      <a:solidFill>
                        <a:srgbClr val="D9DFEA"/>
                      </a:solidFill>
                      <a:prstDash val="solid"/>
                    </a:lnT>
                    <a:lnB w="9525" cap="flat" cmpd="sng" algn="ctr">
                      <a:solidFill>
                        <a:srgbClr val="D9DF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NORMS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42 Norms — the rules I respected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52122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Compilation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3819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28" i="0">
                <a:solidFill>
                  <a:srgbClr val="1F8A7A"/>
                </a:solidFill>
                <a:latin typeface="Consolas"/>
              </a:rPr>
              <a:t>-Wall -Wextra -Werror -std=c++98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zero warnings, zero errors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62886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Also verified with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-Wshadow -pedantic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(no warning).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71953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Each exercise builds with its own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Makefile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(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 clean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make re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81020"/>
            <a:ext cx="521223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Coding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990087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using namespace std;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every call is fully qualified.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299154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friend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printf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no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malloc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/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free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608221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No STL containers and no algorithm (modules 08 / 09 only).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17288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Include guards on every header, and each header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self-contained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26355"/>
            <a:ext cx="493791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All the implementation lives in the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files, not in the headers.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2219" y="1444752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Object oriented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6539" y="177431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Encapsulation: the data stays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access goes through getters and setters.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6539" y="234200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Orthodox Canonical Form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on every class: default ctor, copy ctor,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operator=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destructor.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6539" y="290969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No memory leak — verified with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(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0 errors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2219" y="3477387"/>
            <a:ext cx="521223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Project hygiene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6539" y="3806952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One directory per exercise, each one self-contained.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6539" y="4136517"/>
            <a:ext cx="493791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README.md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documenting the module, the design notes and the rules followed.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539" y="4704207"/>
            <a:ext cx="4937915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Only the standard library is used — no external dependency.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349240"/>
            <a:ext cx="10637215" cy="868680"/>
          </a:xfrm>
          <a:prstGeom prst="roundRect">
            <a:avLst>
              <a:gd name="adj" fmla="val 6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349240"/>
            <a:ext cx="50292" cy="86868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" y="5468112"/>
            <a:ext cx="10234879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150" i="0">
                <a:solidFill>
                  <a:srgbClr val="E8871A"/>
                </a:solidFill>
                <a:latin typeface="Segoe UI Semibold"/>
              </a:rPr>
              <a:t>One bug found and fixed during this presentation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00" i="0">
                <a:solidFill>
                  <a:srgbClr val="1C2738"/>
                </a:solidFill>
                <a:latin typeface="Segoe UI"/>
              </a:rPr>
              <a:t>The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Makefile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of </a:t>
            </a:r>
            <a:r>
              <a:rPr b="1" sz="1100" i="0">
                <a:solidFill>
                  <a:srgbClr val="1C2738"/>
                </a:solidFill>
                <a:latin typeface="Segoe UI"/>
              </a:rPr>
              <a:t>ex03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was a copy of the one of ex02: it still built a binary named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ex02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and did not list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src/DiamondTrap.cpp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in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SRCS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, so the link failed with *“undefined reference to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DiamondTrap::~DiamondTrap()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”*. I corrected </a:t>
            </a:r>
            <a:r>
              <a:rPr b="0" sz="1034" i="0">
                <a:solidFill>
                  <a:srgbClr val="1F8A7A"/>
                </a:solidFill>
                <a:latin typeface="Consolas"/>
              </a:rPr>
              <a:t>NAME := ex03</a:t>
            </a:r>
            <a:r>
              <a:rPr b="0" sz="1100" i="0">
                <a:solidFill>
                  <a:srgbClr val="1C2738"/>
                </a:solidFill>
                <a:latin typeface="Segoe UI"/>
              </a:rPr>
              <a:t> and added the missing source file — ex03 now builds and runs.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Testing &amp; quality assurance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4999491" cy="3028568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4999491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47434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the commands I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4725171" cy="24616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build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run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every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exercise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ex00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ex00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ex01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ex01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ex02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ex02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cd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ex03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make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ex03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strict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warnings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(</a:t>
            </a:r>
            <a:r>
              <a:rPr sz="1050">
                <a:solidFill>
                  <a:srgbClr val="D6DEEA"/>
                </a:solidFill>
                <a:latin typeface="Consolas"/>
              </a:rPr>
              <a:t>must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stay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silent</a:t>
            </a:r>
            <a:r>
              <a:rPr sz="105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g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Wall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Wextra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Werror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Wshadow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pedantic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c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F78C6C"/>
                </a:solidFill>
                <a:latin typeface="Consolas"/>
              </a:rPr>
              <a:t>98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include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src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*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cpp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o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F07178"/>
                </a:solidFill>
                <a:latin typeface="Consolas"/>
              </a:rPr>
              <a:t>#  sanitizers</a:t>
            </a:r>
            <a:r>
              <a:rPr sz="1050">
                <a:solidFill>
                  <a:srgbClr val="D6DEEA"/>
                </a:solidFill>
                <a:latin typeface="Consolas"/>
              </a:rPr>
              <a:t>: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memory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undefined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behaviour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g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fsanitize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address</a:t>
            </a:r>
            <a:r>
              <a:rPr sz="1050">
                <a:solidFill>
                  <a:srgbClr val="D6DEEA"/>
                </a:solidFill>
                <a:latin typeface="Consolas"/>
              </a:rPr>
              <a:t>,</a:t>
            </a:r>
            <a:r>
              <a:rPr sz="1050">
                <a:solidFill>
                  <a:srgbClr val="D6DEEA"/>
                </a:solidFill>
                <a:latin typeface="Consolas"/>
              </a:rPr>
              <a:t>undefined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C792EA"/>
                </a:solidFill>
                <a:latin typeface="Consolas"/>
              </a:rPr>
              <a:t>std</a:t>
            </a:r>
            <a:r>
              <a:rPr sz="1050">
                <a:solidFill>
                  <a:srgbClr val="D6DEEA"/>
                </a:solidFill>
                <a:latin typeface="Consolas"/>
              </a:rPr>
              <a:t>=</a:t>
            </a:r>
            <a:r>
              <a:rPr sz="1050">
                <a:solidFill>
                  <a:srgbClr val="D6DEEA"/>
                </a:solidFill>
                <a:latin typeface="Consolas"/>
              </a:rPr>
              <a:t>c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D6DEEA"/>
                </a:solidFill>
                <a:latin typeface="Consolas"/>
              </a:rPr>
              <a:t>+</a:t>
            </a:r>
            <a:r>
              <a:rPr sz="1050">
                <a:solidFill>
                  <a:srgbClr val="F78C6C"/>
                </a:solidFill>
                <a:latin typeface="Consolas"/>
              </a:rPr>
              <a:t>98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1050">
                <a:solidFill>
                  <a:srgbClr val="D6DEEA"/>
                </a:solidFill>
                <a:latin typeface="Consolas"/>
              </a:rPr>
              <a:t>   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82AAFF"/>
                </a:solidFill>
                <a:latin typeface="Consolas"/>
              </a:rPr>
              <a:t>I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C792EA"/>
                </a:solidFill>
                <a:latin typeface="Consolas"/>
              </a:rPr>
              <a:t>include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src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*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cpp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-</a:t>
            </a:r>
            <a:r>
              <a:rPr sz="1050">
                <a:solidFill>
                  <a:srgbClr val="D6DEEA"/>
                </a:solidFill>
                <a:latin typeface="Consolas"/>
              </a:rPr>
              <a:t>o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&amp;</a:t>
            </a:r>
            <a:r>
              <a:rPr sz="1050">
                <a:solidFill>
                  <a:srgbClr val="D6DEEA"/>
                </a:solidFill>
                <a:latin typeface="Consolas"/>
              </a:rPr>
              <a:t> </a:t>
            </a:r>
            <a:r>
              <a:rPr sz="1050">
                <a:solidFill>
                  <a:srgbClr val="D6DEEA"/>
                </a:solidFill>
                <a:latin typeface="Consolas"/>
              </a:rPr>
              <a:t>.</a:t>
            </a:r>
            <a:r>
              <a:rPr sz="1050">
                <a:solidFill>
                  <a:srgbClr val="D6DEEA"/>
                </a:solidFill>
                <a:latin typeface="Consolas"/>
              </a:rPr>
              <a:t>/</a:t>
            </a:r>
            <a:r>
              <a:rPr sz="1050">
                <a:solidFill>
                  <a:srgbClr val="D6DEEA"/>
                </a:solidFill>
                <a:latin typeface="Consolas"/>
              </a:rP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8591" y="1444752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1 — Functional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2911" y="1742465"/>
            <a:ext cx="4831543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4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static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test functions per exercise, each in its own scope, covering the nominal case and the edge cases (0 HP, 0 energy, copy, assignment).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8591" y="2259253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2 — Strict compilation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2911" y="2556966"/>
            <a:ext cx="4831543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-Wall -Wextra -Werror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catches almost everything; </a:t>
            </a:r>
            <a:r>
              <a:rPr b="0" sz="1080" i="0">
                <a:solidFill>
                  <a:srgbClr val="1F8A7A"/>
                </a:solidFill>
                <a:latin typeface="Consolas"/>
              </a:rPr>
              <a:t>-Wshadow -pedantic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confirms the code is clean beyond the required flags.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8591" y="3073754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3 — Sanitizers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911" y="3371467"/>
            <a:ext cx="483154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080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→ </a:t>
            </a:r>
            <a:r>
              <a:rPr b="1" sz="1150" i="0">
                <a:solidFill>
                  <a:srgbClr val="5E6E84"/>
                </a:solidFill>
                <a:latin typeface="Segoe UI"/>
              </a:rPr>
              <a:t>no leak, no UB</a:t>
            </a:r>
            <a:r>
              <a:rPr b="0" sz="1150" i="0">
                <a:solidFill>
                  <a:srgbClr val="5E6E84"/>
                </a:solidFill>
                <a:latin typeface="Segoe UI"/>
              </a:rPr>
              <a:t> on any exercise.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8591" y="3669180"/>
            <a:ext cx="5105863" cy="219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150" i="0">
                <a:solidFill>
                  <a:srgbClr val="1C2738"/>
                </a:solidFill>
                <a:latin typeface="Segoe UI"/>
              </a:rPr>
              <a:t>4 — Manual inspection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2911" y="3966893"/>
            <a:ext cx="4831543" cy="4381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50" i="0">
                <a:solidFill>
                  <a:srgbClr val="5E6E84"/>
                </a:solidFill>
                <a:latin typeface="Segoe UI"/>
              </a:rPr>
              <a:t>The printed output is compared with what the subject asks for, message by message.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800600"/>
            <a:ext cx="4999491" cy="822960"/>
          </a:xfrm>
          <a:prstGeom prst="roundRect">
            <a:avLst>
              <a:gd name="adj" fmla="val 6000"/>
            </a:avLst>
          </a:prstGeom>
          <a:solidFill>
            <a:srgbClr val="E3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800600"/>
            <a:ext cx="50292" cy="822960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" y="4919472"/>
            <a:ext cx="4597155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b="1" sz="1200" i="0">
                <a:solidFill>
                  <a:srgbClr val="1F8A7A"/>
                </a:solidFill>
                <a:latin typeface="Segoe UI Semibold"/>
              </a:rPr>
              <a:t>Result</a:t>
            </a:r>
          </a:p>
          <a:p>
            <a:pPr>
              <a:lnSpc>
                <a:spcPct val="112000"/>
              </a:lnSpc>
              <a:spcBef>
                <a:spcPts val="300"/>
              </a:spcBef>
            </a:pPr>
            <a:r>
              <a:rPr b="0" sz="1150" i="0">
                <a:solidFill>
                  <a:srgbClr val="1C2738"/>
                </a:solidFill>
                <a:latin typeface="Segoe UI"/>
              </a:rPr>
              <a:t>ex00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ex01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ex02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 ex03 </a:t>
            </a:r>
            <a:r>
              <a:rPr b="0" sz="1150" i="0">
                <a:solidFill>
                  <a:srgbClr val="1C2738"/>
                </a:solidFill>
                <a:latin typeface="Segoe UI Symbol"/>
              </a:rPr>
              <a:t>✔</a:t>
            </a:r>
            <a:r>
              <a:rPr b="0" sz="1150" i="0">
                <a:solidFill>
                  <a:srgbClr val="1C2738"/>
                </a:solidFill>
                <a:latin typeface="Segoe UI"/>
              </a:rPr>
              <a:t>  — all four build without a single warning and produce the expected output.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1F8A7A"/>
                </a:solidFill>
                <a:latin typeface="Segoe UI Semibold"/>
              </a:rPr>
              <a:t>SUMMARY · MAKEFILE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The build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1F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444752"/>
            <a:ext cx="5318607" cy="4058310"/>
          </a:xfrm>
          <a:prstGeom prst="roundRect">
            <a:avLst>
              <a:gd name="adj" fmla="val 3000"/>
            </a:avLst>
          </a:prstGeom>
          <a:solidFill>
            <a:srgbClr val="141B27"/>
          </a:solidFill>
          <a:ln w="9525">
            <a:solidFill>
              <a:srgbClr val="D9DF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444752"/>
            <a:ext cx="5318607" cy="292608"/>
          </a:xfrm>
          <a:prstGeom prst="rect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485900"/>
            <a:ext cx="506257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950" i="0">
                <a:solidFill>
                  <a:srgbClr val="A8BCD6"/>
                </a:solidFill>
                <a:latin typeface="Consolas"/>
              </a:rPr>
              <a:t>ex03/Makefile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44287" cy="349138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NAME</a:t>
            </a:r>
            <a:r>
              <a:rPr sz="880">
                <a:solidFill>
                  <a:srgbClr val="D6DEEA"/>
                </a:solidFill>
                <a:latin typeface="Consolas"/>
              </a:rPr>
              <a:t>      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ex03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CXX</a:t>
            </a:r>
            <a:r>
              <a:rPr sz="880">
                <a:solidFill>
                  <a:srgbClr val="D6DEEA"/>
                </a:solidFill>
                <a:latin typeface="Consolas"/>
              </a:rPr>
              <a:t>       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c</a:t>
            </a:r>
            <a:r>
              <a:rPr sz="880">
                <a:solidFill>
                  <a:srgbClr val="D6DEEA"/>
                </a:solidFill>
                <a:latin typeface="Consolas"/>
              </a:rPr>
              <a:t>+</a:t>
            </a:r>
            <a:r>
              <a:rPr sz="880">
                <a:solidFill>
                  <a:srgbClr val="D6DEEA"/>
                </a:solidFill>
                <a:latin typeface="Consolas"/>
              </a:rPr>
              <a:t>+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CXXFLAGS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82AAFF"/>
                </a:solidFill>
                <a:latin typeface="Consolas"/>
              </a:rPr>
              <a:t>Wall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82AAFF"/>
                </a:solidFill>
                <a:latin typeface="Consolas"/>
              </a:rPr>
              <a:t>Wextra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82AAFF"/>
                </a:solidFill>
                <a:latin typeface="Consolas"/>
              </a:rPr>
              <a:t>Werror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C792EA"/>
                </a:solidFill>
                <a:latin typeface="Consolas"/>
              </a:rPr>
              <a:t>std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c</a:t>
            </a:r>
            <a:r>
              <a:rPr sz="880">
                <a:solidFill>
                  <a:srgbClr val="D6DEEA"/>
                </a:solidFill>
                <a:latin typeface="Consolas"/>
              </a:rPr>
              <a:t>+</a:t>
            </a:r>
            <a:r>
              <a:rPr sz="880">
                <a:solidFill>
                  <a:srgbClr val="D6DEEA"/>
                </a:solidFill>
                <a:latin typeface="Consolas"/>
              </a:rPr>
              <a:t>+</a:t>
            </a:r>
            <a:r>
              <a:rPr sz="880">
                <a:solidFill>
                  <a:srgbClr val="F78C6C"/>
                </a:solidFill>
                <a:latin typeface="Consolas"/>
              </a:rPr>
              <a:t>98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SRCS</a:t>
            </a:r>
            <a:r>
              <a:rPr sz="880">
                <a:solidFill>
                  <a:srgbClr val="D6DEEA"/>
                </a:solidFill>
                <a:latin typeface="Consolas"/>
              </a:rPr>
              <a:t>      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src</a:t>
            </a:r>
            <a:r>
              <a:rPr sz="880">
                <a:solidFill>
                  <a:srgbClr val="D6DEEA"/>
                </a:solidFill>
                <a:latin typeface="Consolas"/>
              </a:rPr>
              <a:t>/</a:t>
            </a:r>
            <a:r>
              <a:rPr sz="880">
                <a:solidFill>
                  <a:srgbClr val="82AAFF"/>
                </a:solidFill>
                <a:latin typeface="Consolas"/>
              </a:rPr>
              <a:t>ClapTrap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src</a:t>
            </a:r>
            <a:r>
              <a:rPr sz="880">
                <a:solidFill>
                  <a:srgbClr val="D6DEEA"/>
                </a:solidFill>
                <a:latin typeface="Consolas"/>
              </a:rPr>
              <a:t>/</a:t>
            </a:r>
            <a:r>
              <a:rPr sz="880">
                <a:solidFill>
                  <a:srgbClr val="D6DEEA"/>
                </a:solidFill>
                <a:latin typeface="Consolas"/>
              </a:rPr>
              <a:t>main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             </a:t>
            </a:r>
            <a:r>
              <a:rPr sz="880">
                <a:solidFill>
                  <a:srgbClr val="D6DEEA"/>
                </a:solidFill>
                <a:latin typeface="Consolas"/>
              </a:rPr>
              <a:t>src</a:t>
            </a:r>
            <a:r>
              <a:rPr sz="880">
                <a:solidFill>
                  <a:srgbClr val="D6DEEA"/>
                </a:solidFill>
                <a:latin typeface="Consolas"/>
              </a:rPr>
              <a:t>/</a:t>
            </a:r>
            <a:r>
              <a:rPr sz="880">
                <a:solidFill>
                  <a:srgbClr val="82AAFF"/>
                </a:solidFill>
                <a:latin typeface="Consolas"/>
              </a:rPr>
              <a:t>ScavTrap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src</a:t>
            </a:r>
            <a:r>
              <a:rPr sz="880">
                <a:solidFill>
                  <a:srgbClr val="D6DEEA"/>
                </a:solidFill>
                <a:latin typeface="Consolas"/>
              </a:rPr>
              <a:t>/</a:t>
            </a:r>
            <a:r>
              <a:rPr sz="880">
                <a:solidFill>
                  <a:srgbClr val="82AAFF"/>
                </a:solidFill>
                <a:latin typeface="Consolas"/>
              </a:rPr>
              <a:t>FragTrap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\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             </a:t>
            </a:r>
            <a:r>
              <a:rPr sz="880">
                <a:solidFill>
                  <a:srgbClr val="D6DEEA"/>
                </a:solidFill>
                <a:latin typeface="Consolas"/>
              </a:rPr>
              <a:t>src</a:t>
            </a:r>
            <a:r>
              <a:rPr sz="880">
                <a:solidFill>
                  <a:srgbClr val="D6DEEA"/>
                </a:solidFill>
                <a:latin typeface="Consolas"/>
              </a:rPr>
              <a:t>/</a:t>
            </a:r>
            <a:r>
              <a:rPr sz="880">
                <a:solidFill>
                  <a:srgbClr val="82AAFF"/>
                </a:solidFill>
                <a:latin typeface="Consolas"/>
              </a:rPr>
              <a:t>DiamondTrap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82AAFF"/>
                </a:solidFill>
                <a:latin typeface="Consolas"/>
              </a:rPr>
              <a:t>OBJS</a:t>
            </a:r>
            <a:r>
              <a:rPr sz="880">
                <a:solidFill>
                  <a:srgbClr val="D6DEEA"/>
                </a:solidFill>
                <a:latin typeface="Consolas"/>
              </a:rPr>
              <a:t>      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SRCS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  <a:r>
              <a:rPr sz="880">
                <a:solidFill>
                  <a:srgbClr val="D6DEEA"/>
                </a:solidFill>
                <a:latin typeface="Consolas"/>
              </a:rPr>
              <a:t>=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o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all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NAME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NAME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OBJS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CXX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CXXFLAGS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OBJS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o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NAME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%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o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%</a:t>
            </a: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D6DEEA"/>
                </a:solidFill>
                <a:latin typeface="Consolas"/>
              </a:rPr>
              <a:t>cpp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CXX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CXXFLAGS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82AAFF"/>
                </a:solidFill>
                <a:latin typeface="Consolas"/>
              </a:rPr>
              <a:t>I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C792EA"/>
                </a:solidFill>
                <a:latin typeface="Consolas"/>
              </a:rPr>
              <a:t>include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c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&lt;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o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@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clean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	</a:t>
            </a:r>
            <a:r>
              <a:rPr sz="880">
                <a:solidFill>
                  <a:srgbClr val="D6DEEA"/>
                </a:solidFill>
                <a:latin typeface="Consolas"/>
              </a:rPr>
              <a:t>rm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-</a:t>
            </a:r>
            <a:r>
              <a:rPr sz="880">
                <a:solidFill>
                  <a:srgbClr val="D6DEEA"/>
                </a:solidFill>
                <a:latin typeface="Consolas"/>
              </a:rPr>
              <a:t>f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OBJS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$</a:t>
            </a:r>
            <a:r>
              <a:rPr sz="880">
                <a:solidFill>
                  <a:srgbClr val="D6DEEA"/>
                </a:solidFill>
                <a:latin typeface="Consolas"/>
              </a:rPr>
              <a:t>(</a:t>
            </a:r>
            <a:r>
              <a:rPr sz="880">
                <a:solidFill>
                  <a:srgbClr val="82AAFF"/>
                </a:solidFill>
                <a:latin typeface="Consolas"/>
              </a:rPr>
              <a:t>NAME</a:t>
            </a:r>
            <a:r>
              <a:rPr sz="880">
                <a:solidFill>
                  <a:srgbClr val="D6DEEA"/>
                </a:solidFill>
                <a:latin typeface="Consolas"/>
              </a:rPr>
              <a:t>)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re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clean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all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latin typeface="Consolas"/>
              </a:rPr>
              <a:t> </a:t>
            </a:r>
          </a:p>
          <a:p>
            <a:pPr>
              <a:lnSpc>
                <a:spcPct val="118000"/>
              </a:lnSpc>
              <a:buNone/>
            </a:pPr>
            <a:r>
              <a:rPr sz="880">
                <a:solidFill>
                  <a:srgbClr val="D6DEEA"/>
                </a:solidFill>
                <a:latin typeface="Consolas"/>
              </a:rPr>
              <a:t>.</a:t>
            </a:r>
            <a:r>
              <a:rPr sz="880">
                <a:solidFill>
                  <a:srgbClr val="82AAFF"/>
                </a:solidFill>
                <a:latin typeface="Consolas"/>
              </a:rPr>
              <a:t>PHONY</a:t>
            </a:r>
            <a:r>
              <a:rPr sz="880">
                <a:solidFill>
                  <a:srgbClr val="D6DEEA"/>
                </a:solidFill>
                <a:latin typeface="Consolas"/>
              </a:rPr>
              <a:t>: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all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clean</a:t>
            </a:r>
            <a:r>
              <a:rPr sz="880">
                <a:solidFill>
                  <a:srgbClr val="D6DEEA"/>
                </a:solidFill>
                <a:latin typeface="Consolas"/>
              </a:rPr>
              <a:t> </a:t>
            </a:r>
            <a:r>
              <a:rPr sz="880">
                <a:solidFill>
                  <a:srgbClr val="D6DEEA"/>
                </a:solidFill>
                <a:latin typeface="Consolas"/>
              </a:rPr>
              <a:t>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4963" y="1444752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How the Makefile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9283" y="1783461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%.o: %.cpp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is a </a:t>
            </a:r>
            <a:r>
              <a:rPr b="1" sz="1250" i="0">
                <a:solidFill>
                  <a:srgbClr val="5E6E84"/>
                </a:solidFill>
                <a:latin typeface="Segoe UI"/>
              </a:rPr>
              <a:t>pattern rule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: any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.cpp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becomes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.o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in the same folder.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9283" y="2360295"/>
            <a:ext cx="472517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-I include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tells the compiler where the headers 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9283" y="2699004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$(SRCS:.cpp=.o)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derives the objects from the sources — no duplication.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89283" y="3275838"/>
            <a:ext cx="472517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.PHONY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tells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that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all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clean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re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are not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963" y="3614547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The targets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9283" y="3953256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175" i="0">
                <a:solidFill>
                  <a:srgbClr val="1F8A7A"/>
                </a:solidFill>
                <a:latin typeface="Consolas"/>
              </a:rPr>
              <a:t>make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builds everything.  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 clean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removes the objects and the binary.  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 re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→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clean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+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all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963" y="4530090"/>
            <a:ext cx="4999491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50" i="0">
                <a:solidFill>
                  <a:srgbClr val="1C2738"/>
                </a:solidFill>
                <a:latin typeface="Segoe UI"/>
              </a:rPr>
              <a:t>Why a Makefile?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89283" y="4868799"/>
            <a:ext cx="4725171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50" i="0">
                <a:solidFill>
                  <a:srgbClr val="5E6E84"/>
                </a:solidFill>
                <a:latin typeface="Segoe UI"/>
              </a:rPr>
              <a:t>The 42 Norms ask for a </a:t>
            </a:r>
            <a:r>
              <a:rPr b="0" sz="1175" i="0">
                <a:solidFill>
                  <a:srgbClr val="1F8A7A"/>
                </a:solidFill>
                <a:latin typeface="Consolas"/>
              </a:rPr>
              <a:t>Makefile</a:t>
            </a:r>
            <a:r>
              <a:rPr b="0" sz="1250" i="0">
                <a:solidFill>
                  <a:srgbClr val="5E6E84"/>
                </a:solidFill>
                <a:latin typeface="Segoe UI"/>
              </a:rPr>
              <a:t> that compiles with the right flags and cleans up after itself.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02336"/>
            <a:ext cx="1063721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2700" i="0">
                <a:solidFill>
                  <a:srgbClr val="0E1B2E"/>
                </a:solidFill>
                <a:latin typeface="Segoe UI Semibold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78992"/>
            <a:ext cx="749808" cy="50292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6291072"/>
            <a:ext cx="10637215" cy="9525"/>
          </a:xfrm>
          <a:prstGeom prst="rect">
            <a:avLst/>
          </a:prstGeom>
          <a:solidFill>
            <a:srgbClr val="D9D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400800"/>
            <a:ext cx="797791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950" i="0">
                <a:solidFill>
                  <a:srgbClr val="9AA8BA"/>
                </a:solidFill>
                <a:latin typeface="Segoe UI"/>
              </a:rPr>
              <a:t>CPP Module 03  ·  Inheritance, Interfaces &amp; Polymorphism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b="1" sz="950" i="0">
                <a:solidFill>
                  <a:srgbClr val="9AA8BA"/>
                </a:solidFill>
                <a:latin typeface="Segoe U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44752"/>
            <a:ext cx="638232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the module taught 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59305"/>
            <a:ext cx="61080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Inheritance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lets me reuse a class instead of copying it: the data and the behaviour of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ClapTrap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are written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once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shared by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ScavTrap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DiamondTrap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302458"/>
            <a:ext cx="610800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`virtual`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turns a base class into a real interface: the same call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robot-&gt;attack("a target")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produces a different behaviour depending on the real object — that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polymorphism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74211"/>
            <a:ext cx="61080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`virtual` inheritance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solves the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Diamond problem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: one shared base, one construction, no ambiguity.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617364"/>
            <a:ext cx="61080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1" sz="1200" i="0">
                <a:solidFill>
                  <a:srgbClr val="5E6E84"/>
                </a:solidFill>
                <a:latin typeface="Segoe UI"/>
              </a:rPr>
              <a:t>Encapsulation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stays intact: the data is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private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, the derived classes update it through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protected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setters, exactly as the subject 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17"/>
            <a:ext cx="638232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744" indent="-237744">
              <a:lnSpc>
                <a:spcPct val="112000"/>
              </a:lnSpc>
              <a:buClr>
                <a:srgbClr val="E8871A"/>
              </a:buClr>
              <a:buFont typeface="Arial"/>
              <a:buChar char="▪"/>
            </a:pPr>
            <a:r>
              <a:rPr b="1" sz="1200" i="0">
                <a:solidFill>
                  <a:srgbClr val="1C2738"/>
                </a:solidFill>
                <a:latin typeface="Segoe UI"/>
              </a:rPr>
              <a:t>What I am proud 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475070"/>
            <a:ext cx="61080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Four exercises that compile with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zero warnings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under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-Wall -Wextra -Werror -std=c++98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and run clean under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-fsanitize=address,undefined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18223"/>
            <a:ext cx="610800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19456" indent="-219456">
              <a:lnSpc>
                <a:spcPct val="112000"/>
              </a:lnSpc>
              <a:buClr>
                <a:srgbClr val="5E6E84"/>
              </a:buClr>
              <a:buFont typeface="Arial"/>
              <a:buChar char="–"/>
            </a:pPr>
            <a:r>
              <a:rPr b="0" sz="1200" i="0">
                <a:solidFill>
                  <a:srgbClr val="5E6E84"/>
                </a:solidFill>
                <a:latin typeface="Segoe UI"/>
              </a:rPr>
              <a:t>Each design decision is </a:t>
            </a:r>
            <a:r>
              <a:rPr b="1" sz="1200" i="0">
                <a:solidFill>
                  <a:srgbClr val="5E6E84"/>
                </a:solidFill>
                <a:latin typeface="Segoe UI"/>
              </a:rPr>
              <a:t>explained and justified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— especially the two subtle ones: why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attack()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is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virtual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from ex00, and why </a:t>
            </a:r>
            <a:r>
              <a:rPr b="0" sz="1128" i="0">
                <a:solidFill>
                  <a:srgbClr val="1F8A7A"/>
                </a:solidFill>
                <a:latin typeface="Consolas"/>
              </a:rPr>
              <a:t>FragTrap</a:t>
            </a:r>
            <a:r>
              <a:rPr b="0" sz="1200" i="0">
                <a:solidFill>
                  <a:srgbClr val="5E6E84"/>
                </a:solidFill>
                <a:latin typeface="Segoe UI"/>
              </a:rPr>
              <a:t> does not override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5057" y="1444752"/>
            <a:ext cx="3829397" cy="4114800"/>
          </a:xfrm>
          <a:prstGeom prst="roundRect">
            <a:avLst>
              <a:gd name="adj" fmla="val 3000"/>
            </a:avLst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7665" y="1737360"/>
            <a:ext cx="324418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1050" i="0">
                <a:solidFill>
                  <a:srgbClr val="E8871A"/>
                </a:solidFill>
                <a:latin typeface="Segoe UI Semibold"/>
              </a:rPr>
              <a:t>THE MODULE IN ONE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7665" y="2221992"/>
            <a:ext cx="3244181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b="1" sz="2000" i="0">
                <a:solidFill>
                  <a:srgbClr val="FFFFFF"/>
                </a:solidFill>
                <a:latin typeface="Segoe UI Semibold"/>
              </a:rPr>
              <a:t>One class,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many behaviours —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and one shared base,</a:t>
            </a:r>
            <a:br/>
            <a:r>
              <a:rPr b="1" sz="2000" i="0">
                <a:solidFill>
                  <a:srgbClr val="FFFFFF"/>
                </a:solidFill>
                <a:latin typeface="Segoe UI Semibold"/>
              </a:rPr>
              <a:t>however many branches need it.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82735" y="0"/>
            <a:ext cx="3108960" cy="6858000"/>
          </a:xfrm>
          <a:prstGeom prst="rect">
            <a:avLst/>
          </a:prstGeom>
          <a:solidFill>
            <a:srgbClr val="182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94215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14839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5463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56087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76711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7335" y="1920240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94215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14839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335463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56087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176711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97335" y="2340864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94215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14839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5463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56087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176711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597335" y="2761488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94215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14839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335463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756087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176711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597335" y="3182112"/>
            <a:ext cx="91440" cy="91440"/>
          </a:xfrm>
          <a:prstGeom prst="ellipse">
            <a:avLst/>
          </a:prstGeom>
          <a:solidFill>
            <a:srgbClr val="25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214884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1" sz="5400" i="0">
                <a:solidFill>
                  <a:srgbClr val="FFFFFF"/>
                </a:solidFill>
                <a:latin typeface="Segoe UI Semibold"/>
              </a:rPr>
              <a:t>Thank you!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3273552"/>
            <a:ext cx="1188720" cy="54864"/>
          </a:xfrm>
          <a:prstGeom prst="rect">
            <a:avLst/>
          </a:prstGeom>
          <a:solidFill>
            <a:srgbClr val="E88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3547872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b="0" sz="1500" i="0">
                <a:solidFill>
                  <a:srgbClr val="9FB3CC"/>
                </a:solidFill>
                <a:latin typeface="Segoe UI"/>
              </a:rPr>
              <a:t>Questions &amp; discussion</a:t>
            </a:r>
            <a:br/>
            <a:r>
              <a:rPr b="0" sz="1500" i="0">
                <a:solidFill>
                  <a:srgbClr val="9FB3CC"/>
                </a:solidFill>
                <a:latin typeface="Segoe UI"/>
              </a:rPr>
              <a:t>CPP Module 03 — Inheritance, Interfaces &amp; Polymorphism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983480"/>
            <a:ext cx="6858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sz="1400" i="0">
                <a:solidFill>
                  <a:srgbClr val="5E738C"/>
                </a:solidFill>
                <a:latin typeface="Consolas"/>
              </a:rPr>
              <a:t>ClapTrap  →  ScavTrap  →  FragTrap  →  DiamondTrap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